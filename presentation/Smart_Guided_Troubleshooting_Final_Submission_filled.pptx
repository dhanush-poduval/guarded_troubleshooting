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8B72"/>
    <a:srgbClr val="DED1FA"/>
    <a:srgbClr val="F2E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0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Verified from the repository: Theme 2 appears in web/index.html. Project name appears in README.md and app/api/main.py. Member names and emails come from Git commit metadata. Team name and college are stated on this slide as supplied by the team. Repository URL comes from git remote origin.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data/official/siis_responses.json contains 20 complaints and SIIS responses. data/official/deeplinks.json declares and contains 578 entries. The two Gemini stages are implemented in app/pipeline/enrichment and app/pipeline/extraction. The contract strip is transcribed from app/contract/schema.py; the two fallback constants are FALLBACK_NO_SIIS_CONTEXT and FALLBACK_NO_MATCH in that file.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metrics.md sections 4 and 5. Dense-only agreement with the shipped hybrid is 30%. BM25-only agreement is 25%. README.md records the 0.6909 canonical similarity and 0.8200 stored-paraphrase similarity example. Agreement is not a correctness score. Strip figures: the 34-of-190 pair count and the 0.1258 smallest exact-query margin are recorded in tests/test_cache.py; the 0.6909 to 0.8200 multi-phrasing example is in 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app/service.py, app/pipeline/real/pipeline.py, app/pipeline/enrichment/enricher.py, app/pipeline/extraction/extractor.py, app/retrieval/resolver.py, app/cache/store.py and app/validation/rules.py.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screenshot was captured from the running local web client on 2026-09-30. The selected official complaint produced one validated Edge Panel action with an actionable deeplink and a validation deeplink copied from the official catalog. The live run took the cold path because the cache rejected an ambiguous match; the slide does not claim a latency result from this single request.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requirements.txt, requirements-dev.txt, docker-compose.yaml, app/config.py, app/api/main.py, app/retrieval/resolver.py, app/embeddings/encoder.py and web/. The repository has no production deployment configuration. Every value in the configuration strip is a default in app/config.py; the thread cap carries its measured justification in the comment above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metrics.md. The 90% cache-hit result uses 20 team-authored paraphrases, not an official evaluation set. Paraphrase cache-hit P50 was 318.2 ms. Cold-path P50 was 10,185.8 ms. The project does not yet provide reliable real-model cost accounting, so no cost saving figure is shown. The cost strip reflects app/service.py, where a cache hit returns before the pipeline is reached and records cost_usd 0.0, and re-validates the stored plan before serving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metrics.md generated 2026-09-30. Cache-hit P95 values are exact-query 1234.8 ms and paraphrase-hit 537.0 ms. Cold-path P95 is 10,721.2 ms. Schema, rule and catalog checks are reported at 100%; auto actions with valid actionable deeplinks are 62.5%; the team-authored paraphrase hit rate is 18/20. The same report says the Phase 0-2 path was a mock in its cost section even though current production wiring uses RealPipeline, so cost and full-LLM baseline claims are excluded. 136 tests are collected, but this deck does not claim all 136 currently pass. Test figures: 136 is the pytest collection count; 90 is the pass count for the modules that make no Gemini calls; the 134-of-136 full run failed only where the free-tier daily request quota was exhausted, which the run log records as HTTP 429.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metrics.md section 3 and section 6; app/pipeline/real/pipeline.py; app/pipeline/port.py. These are future improvements and are not presented as implemented features. The open-defect strip records behaviour observed against the running service: the server log reports an ambiguous lookup with best 1.0000 against runner-up 1.0000, and the affected wording is indexed under three separate plan rows in plan_cache_vector.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app/pipeline/extraction/extractor.py, app/pipeline/real/pipeline.py, app/retrieval/resolver.py, app/cache/store.py and app/validation/rules.py. Threshold and margin defaults are in app/config.py. Constants strip: the threshold, margin and embedding dimension are defaults in app/config.py; the title bound is enforced in app/validation/rules.py.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Verified on 2026-09-30: the GitHub repository is publicly accessible. git branch status shows fix/restore-validation-and-benchmark at the local HEAD and aligned with its origin branch, two commits ahead of origin/master. No demo video link appears in the repository or supplied files.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and contacts are verified from repository content and Git commit metadata. Team name and college were not found in the supplied materials and remain confirmation items. The confirmation caveat has been removed: the team name and college are stated on slide 1. The at-a-glance card repeats figures already sourced on slides 2, 6, 8 and 10: catalog size and complaint count from the participant kit, threshold and margin from app/config.py, and the test count from pytest collection.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idx="10"/>
          </p:nvPr>
        </p:nvSpPr>
        <p:spPr/>
        <p:txBody>
          <a:bodyPr/>
          <a:lstStyle/>
          <a:p>
            <a:fld id="{2AF27EEE-1B67-445E-AA5D-351EC91D1DEB}" type="datetimeFigureOut">
              <a:t>9/30/2026</a:t>
            </a:fld>
            <a:endParaRPr/>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idx="10"/>
          </p:nvPr>
        </p:nvSpPr>
        <p:spPr/>
        <p:txBody>
          <a:bodyPr/>
          <a:lstStyle/>
          <a:p>
            <a:fld id="{2AF27EEE-1B67-445E-AA5D-351EC91D1DEB}" type="datetimeFigureOut">
              <a:t>9/30/2026</a:t>
            </a:fld>
            <a:endParaRPr/>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idx="10"/>
          </p:nvPr>
        </p:nvSpPr>
        <p:spPr/>
        <p:txBody>
          <a:bodyPr/>
          <a:lstStyle/>
          <a:p>
            <a:fld id="{2AF27EEE-1B67-445E-AA5D-351EC91D1DEB}" type="datetimeFigureOut">
              <a:t>9/30/2026</a:t>
            </a:fld>
            <a:endParaRPr/>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idx="10"/>
          </p:nvPr>
        </p:nvSpPr>
        <p:spPr/>
        <p:txBody>
          <a:bodyPr/>
          <a:lstStyle/>
          <a:p>
            <a:fld id="{2AF27EEE-1B67-445E-AA5D-351EC91D1DEB}" type="datetimeFigureOut">
              <a:t>9/30/2026</a:t>
            </a:fld>
            <a:endParaRPr/>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idx="10"/>
          </p:nvPr>
        </p:nvSpPr>
        <p:spPr/>
        <p:txBody>
          <a:bodyPr/>
          <a:lstStyle/>
          <a:p>
            <a:fld id="{2AF27EEE-1B67-445E-AA5D-351EC91D1DEB}" type="datetimeFigureOut">
              <a:t>9/30/2026</a:t>
            </a:fld>
            <a:endParaRPr/>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idx="10"/>
          </p:nvPr>
        </p:nvSpPr>
        <p:spPr/>
        <p:txBody>
          <a:bodyPr/>
          <a:lstStyle/>
          <a:p>
            <a:fld id="{2AF27EEE-1B67-445E-AA5D-351EC91D1DEB}" type="datetimeFigureOut">
              <a:t>9/30/2026</a:t>
            </a:fld>
            <a:endParaRPr/>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idx="10"/>
          </p:nvPr>
        </p:nvSpPr>
        <p:spPr/>
        <p:txBody>
          <a:bodyPr/>
          <a:lstStyle/>
          <a:p>
            <a:fld id="{2AF27EEE-1B67-445E-AA5D-351EC91D1DEB}" type="datetimeFigureOut">
              <a:t>9/30/2026</a:t>
            </a:fld>
            <a:endParaRPr/>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idx="10"/>
          </p:nvPr>
        </p:nvSpPr>
        <p:spPr/>
        <p:txBody>
          <a:bodyPr/>
          <a:lstStyle/>
          <a:p>
            <a:fld id="{2AF27EEE-1B67-445E-AA5D-351EC91D1DEB}" type="datetimeFigureOut">
              <a:t>9/30/2026</a:t>
            </a:fld>
            <a:endParaRPr/>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idx="10"/>
          </p:nvPr>
        </p:nvSpPr>
        <p:spPr/>
        <p:txBody>
          <a:bodyPr/>
          <a:lstStyle/>
          <a:p>
            <a:fld id="{2AF27EEE-1B67-445E-AA5D-351EC91D1DEB}" type="datetimeFigureOut">
              <a:t>9/30/2026</a:t>
            </a:fld>
            <a:endParaRPr/>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idx="10"/>
          </p:nvPr>
        </p:nvSpPr>
        <p:spPr/>
        <p:txBody>
          <a:bodyPr/>
          <a:lstStyle/>
          <a:p>
            <a:fld id="{2AF27EEE-1B67-445E-AA5D-351EC91D1DEB}" type="datetimeFigureOut">
              <a:t>9/30/2026</a:t>
            </a:fld>
            <a:endParaRPr/>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idx="10"/>
          </p:nvPr>
        </p:nvSpPr>
        <p:spPr/>
        <p:txBody>
          <a:bodyPr/>
          <a:lstStyle/>
          <a:p>
            <a:fld id="{2AF27EEE-1B67-445E-AA5D-351EC91D1DEB}" type="datetimeFigureOut">
              <a:t>9/30/2026</a:t>
            </a:fld>
            <a:endParaRPr/>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2AF27EEE-1B67-445E-AA5D-351EC91D1DEB}" type="datetimeFigureOut">
              <a:t>9/30/2026</a:t>
            </a:fld>
            <a:endParaRPr/>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BF5B04A4-2082-4D7E-8466-9BA22C990A78}"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FE0D643-FD37-4FFE-A17B-4EC406181449}"/>
              </a:ext>
            </a:extLst>
          </p:cNvPr>
          <p:cNvSpPr>
            <a:spLocks noGrp="1"/>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lstStyle/>
          <a:p>
            <a:endParaRPr/>
          </a:p>
        </p:txBody>
      </p:sp>
      <p:sp>
        <p:nvSpPr>
          <p:cNvPr id="3" name="Text 1">
            <a:extLst>
              <a:ext uri="{FF2B5EF4-FFF2-40B4-BE49-F238E27FC236}">
                <a16:creationId xmlns:a16="http://schemas.microsoft.com/office/drawing/2014/main" id="{BC52114A-3A90-46DD-8711-7375A9F6FADC}"/>
              </a:ext>
            </a:extLst>
          </p:cNvPr>
          <p:cNvSpPr>
            <a:spLocks noGrp="1"/>
          </p:cNvSpPr>
          <p:nvPr/>
        </p:nvSpPr>
        <p:spPr>
          <a:xfrm>
            <a:off x="777240" y="676656"/>
            <a:ext cx="2423160" cy="347472"/>
          </a:xfrm>
          <a:prstGeom prst="rect">
            <a:avLst/>
          </a:prstGeom>
          <a:noFill/>
        </p:spPr>
        <p:txBody>
          <a:bodyPr wrap="square" lIns="0" tIns="0" rIns="0" bIns="0" anchor="ctr"/>
          <a:lstStyle/>
          <a:p>
            <a:pPr marL="0" indent="0" algn="ctr">
              <a:buNone/>
            </a:pPr>
            <a:r>
              <a:rPr sz="1100" b="1" spc="110">
                <a:solidFill>
                  <a:srgbClr val="6D28D9"/>
                </a:solidFill>
                <a:latin typeface="Arial"/>
                <a:ea typeface="Arial"/>
                <a:cs typeface="Arial"/>
              </a:rPr>
              <a:t>SAMSUNG PRISM</a:t>
            </a:r>
            <a:endParaRPr sz="1100"/>
          </a:p>
        </p:txBody>
      </p:sp>
      <p:sp>
        <p:nvSpPr>
          <p:cNvPr id="4" name="Text 2">
            <a:extLst>
              <a:ext uri="{FF2B5EF4-FFF2-40B4-BE49-F238E27FC236}">
                <a16:creationId xmlns:a16="http://schemas.microsoft.com/office/drawing/2014/main" id="{71A58B87-11FF-48D1-8F6C-8216D4D6B0C9}"/>
              </a:ext>
            </a:extLst>
          </p:cNvPr>
          <p:cNvSpPr>
            <a:spLocks noGrp="1"/>
          </p:cNvSpPr>
          <p:nvPr/>
        </p:nvSpPr>
        <p:spPr>
          <a:xfrm>
            <a:off x="777240" y="1207008"/>
            <a:ext cx="6126480" cy="749808"/>
          </a:xfrm>
          <a:prstGeom prst="rect">
            <a:avLst/>
          </a:prstGeom>
          <a:noFill/>
        </p:spPr>
        <p:txBody>
          <a:bodyPr wrap="square" lIns="0" tIns="0" rIns="0" bIns="0" anchor="ctr"/>
          <a:lstStyle/>
          <a:p>
            <a:pPr marL="0" indent="0">
              <a:buNone/>
            </a:pPr>
            <a:r>
              <a:rPr sz="5000" b="1">
                <a:solidFill>
                  <a:srgbClr val="14142B"/>
                </a:solidFill>
                <a:latin typeface="Arial"/>
                <a:ea typeface="Arial"/>
                <a:cs typeface="Arial"/>
              </a:rPr>
              <a:t>Generative AI</a:t>
            </a:r>
            <a:endParaRPr sz="5000"/>
          </a:p>
        </p:txBody>
      </p:sp>
      <p:sp>
        <p:nvSpPr>
          <p:cNvPr id="5" name="Text 3">
            <a:extLst>
              <a:ext uri="{FF2B5EF4-FFF2-40B4-BE49-F238E27FC236}">
                <a16:creationId xmlns:a16="http://schemas.microsoft.com/office/drawing/2014/main" id="{C0DE0528-4000-46EA-89EC-DD804E8386B4}"/>
              </a:ext>
            </a:extLst>
          </p:cNvPr>
          <p:cNvSpPr>
            <a:spLocks noGrp="1"/>
          </p:cNvSpPr>
          <p:nvPr/>
        </p:nvSpPr>
        <p:spPr>
          <a:xfrm>
            <a:off x="777240" y="1901952"/>
            <a:ext cx="6126480" cy="749808"/>
          </a:xfrm>
          <a:prstGeom prst="rect">
            <a:avLst/>
          </a:prstGeom>
          <a:noFill/>
        </p:spPr>
        <p:txBody>
          <a:bodyPr wrap="square" lIns="0" tIns="0" rIns="0" bIns="0" anchor="ctr"/>
          <a:lstStyle/>
          <a:p>
            <a:pPr marL="0" indent="0">
              <a:buNone/>
            </a:pPr>
            <a:r>
              <a:rPr sz="5000" b="1">
                <a:solidFill>
                  <a:srgbClr val="6D28D9"/>
                </a:solidFill>
                <a:latin typeface="Arial"/>
                <a:ea typeface="Arial"/>
                <a:cs typeface="Arial"/>
              </a:rPr>
              <a:t>Hackathon</a:t>
            </a:r>
            <a:endParaRPr sz="5000"/>
          </a:p>
        </p:txBody>
      </p:sp>
      <p:sp>
        <p:nvSpPr>
          <p:cNvPr id="6" name="Text 4">
            <a:extLst>
              <a:ext uri="{FF2B5EF4-FFF2-40B4-BE49-F238E27FC236}">
                <a16:creationId xmlns:a16="http://schemas.microsoft.com/office/drawing/2014/main" id="{00B771B7-F920-4C30-81E1-F4C6D8DDE3DE}"/>
              </a:ext>
            </a:extLst>
          </p:cNvPr>
          <p:cNvSpPr>
            <a:spLocks noGrp="1"/>
          </p:cNvSpPr>
          <p:nvPr/>
        </p:nvSpPr>
        <p:spPr>
          <a:xfrm>
            <a:off x="777240" y="2724912"/>
            <a:ext cx="6126480" cy="457200"/>
          </a:xfrm>
          <a:prstGeom prst="rect">
            <a:avLst/>
          </a:prstGeom>
          <a:noFill/>
        </p:spPr>
        <p:txBody>
          <a:bodyPr wrap="square" lIns="0" tIns="0" rIns="0" bIns="0" anchor="ctr"/>
          <a:lstStyle/>
          <a:p>
            <a:pPr marL="0" indent="0">
              <a:buNone/>
            </a:pPr>
            <a:r>
              <a:rPr sz="2500" b="1">
                <a:solidFill>
                  <a:srgbClr val="14142B"/>
                </a:solidFill>
                <a:latin typeface="Arial"/>
                <a:ea typeface="Arial"/>
                <a:cs typeface="Arial"/>
              </a:rPr>
              <a:t>3rd Edition</a:t>
            </a:r>
            <a:r>
              <a:rPr sz="2000">
                <a:solidFill>
                  <a:srgbClr val="63637E"/>
                </a:solidFill>
                <a:latin typeface="Calibri"/>
                <a:ea typeface="Calibri"/>
                <a:cs typeface="Calibri"/>
              </a:rPr>
              <a:t>   2026 – 27</a:t>
            </a:r>
            <a:endParaRPr sz="2500"/>
          </a:p>
        </p:txBody>
      </p:sp>
      <p:sp>
        <p:nvSpPr>
          <p:cNvPr id="7" name="Text 5">
            <a:extLst>
              <a:ext uri="{FF2B5EF4-FFF2-40B4-BE49-F238E27FC236}">
                <a16:creationId xmlns:a16="http://schemas.microsoft.com/office/drawing/2014/main" id="{3183D4D2-9791-44B9-9B74-852A48917F0C}"/>
              </a:ext>
            </a:extLst>
          </p:cNvPr>
          <p:cNvSpPr>
            <a:spLocks noGrp="1"/>
          </p:cNvSpPr>
          <p:nvPr/>
        </p:nvSpPr>
        <p:spPr>
          <a:xfrm>
            <a:off x="777240" y="3310128"/>
            <a:ext cx="5852160" cy="777240"/>
          </a:xfrm>
          <a:prstGeom prst="rect">
            <a:avLst/>
          </a:prstGeom>
          <a:noFill/>
        </p:spPr>
        <p:txBody>
          <a:bodyPr wrap="square" lIns="0" tIns="0" rIns="0" bIns="0" anchor="t"/>
          <a:lstStyle/>
          <a:p>
            <a:pPr marL="177800" indent="-177800">
              <a:spcAft>
                <a:spcPts val="500"/>
              </a:spcAft>
              <a:buSzPct val="100000"/>
              <a:buChar char="•"/>
            </a:pPr>
            <a:r>
              <a:rPr sz="1250" dirty="0">
                <a:solidFill>
                  <a:srgbClr val="63637E"/>
                </a:solidFill>
                <a:latin typeface="Calibri"/>
                <a:ea typeface="Calibri"/>
                <a:cs typeface="Calibri"/>
              </a:rPr>
              <a:t>Theme ID - 2</a:t>
            </a:r>
          </a:p>
          <a:p>
            <a:pPr marL="177800" indent="-177800">
              <a:spcAft>
                <a:spcPts val="500"/>
              </a:spcAft>
              <a:buSzPct val="100000"/>
              <a:buChar char="•"/>
            </a:pPr>
            <a:r>
              <a:rPr sz="1250" dirty="0">
                <a:solidFill>
                  <a:srgbClr val="63637E"/>
                </a:solidFill>
                <a:latin typeface="Calibri"/>
                <a:ea typeface="Calibri"/>
                <a:cs typeface="Calibri"/>
              </a:rPr>
              <a:t>Project - Smart Guided Troubleshooting Engine</a:t>
            </a:r>
          </a:p>
          <a:p>
            <a:pPr marL="177800" indent="-177800">
              <a:spcAft>
                <a:spcPts val="500"/>
              </a:spcAft>
              <a:buSzPct val="100000"/>
              <a:buChar char="•"/>
            </a:pPr>
            <a:r>
              <a:rPr sz="1250" dirty="0">
                <a:solidFill>
                  <a:srgbClr val="63637E"/>
                </a:solidFill>
                <a:latin typeface="Calibri"/>
                <a:ea typeface="Calibri"/>
                <a:cs typeface="Calibri"/>
              </a:rPr>
              <a:t>Team Name </a:t>
            </a:r>
            <a:r>
              <a:rPr lang="en-IN" sz="1250" dirty="0">
                <a:solidFill>
                  <a:srgbClr val="63637E"/>
                </a:solidFill>
                <a:latin typeface="Calibri"/>
                <a:ea typeface="Calibri"/>
                <a:cs typeface="Calibri"/>
              </a:rPr>
              <a:t>–</a:t>
            </a:r>
            <a:r>
              <a:rPr sz="1250" dirty="0">
                <a:solidFill>
                  <a:srgbClr val="63637E"/>
                </a:solidFill>
                <a:latin typeface="Calibri"/>
                <a:ea typeface="Calibri"/>
                <a:cs typeface="Calibri"/>
              </a:rPr>
              <a:t> </a:t>
            </a:r>
            <a:r>
              <a:rPr lang="en-US" sz="1250" dirty="0">
                <a:solidFill>
                  <a:srgbClr val="63637E"/>
                </a:solidFill>
                <a:latin typeface="Calibri"/>
                <a:ea typeface="Calibri"/>
                <a:cs typeface="Calibri"/>
              </a:rPr>
              <a:t>Modern Global</a:t>
            </a:r>
            <a:endParaRPr sz="1250" dirty="0">
              <a:solidFill>
                <a:srgbClr val="63637E"/>
              </a:solidFill>
              <a:latin typeface="Calibri"/>
              <a:ea typeface="Calibri"/>
              <a:cs typeface="Calibri"/>
            </a:endParaRPr>
          </a:p>
          <a:p>
            <a:pPr marL="177800" indent="-177800">
              <a:spcAft>
                <a:spcPts val="500"/>
              </a:spcAft>
              <a:buSzPct val="100000"/>
              <a:buChar char="•"/>
            </a:pPr>
            <a:r>
              <a:rPr sz="1250" dirty="0">
                <a:solidFill>
                  <a:srgbClr val="63637E"/>
                </a:solidFill>
                <a:latin typeface="Calibri"/>
                <a:ea typeface="Calibri"/>
                <a:cs typeface="Calibri"/>
              </a:rPr>
              <a:t>College Name </a:t>
            </a:r>
            <a:r>
              <a:rPr lang="en-IN" sz="1250" dirty="0">
                <a:solidFill>
                  <a:srgbClr val="63637E"/>
                </a:solidFill>
                <a:latin typeface="Calibri"/>
                <a:ea typeface="Calibri"/>
                <a:cs typeface="Calibri"/>
              </a:rPr>
              <a:t>–</a:t>
            </a:r>
            <a:r>
              <a:rPr sz="1250" dirty="0">
                <a:solidFill>
                  <a:srgbClr val="63637E"/>
                </a:solidFill>
                <a:latin typeface="Calibri"/>
                <a:ea typeface="Calibri"/>
                <a:cs typeface="Calibri"/>
              </a:rPr>
              <a:t> </a:t>
            </a:r>
            <a:r>
              <a:rPr lang="en-US" sz="1250" dirty="0">
                <a:solidFill>
                  <a:srgbClr val="63637E"/>
                </a:solidFill>
                <a:latin typeface="Calibri"/>
                <a:ea typeface="Calibri"/>
                <a:cs typeface="Calibri"/>
              </a:rPr>
              <a:t>SRM Institute of Science and Technology</a:t>
            </a:r>
            <a:endParaRPr sz="1250" dirty="0">
              <a:solidFill>
                <a:srgbClr val="63637E"/>
              </a:solidFill>
              <a:latin typeface="Calibri"/>
              <a:ea typeface="Calibri"/>
              <a:cs typeface="Calibri"/>
            </a:endParaRPr>
          </a:p>
          <a:p>
            <a:pPr marL="177800" indent="-177800">
              <a:spcAft>
                <a:spcPts val="500"/>
              </a:spcAft>
              <a:buSzPct val="100000"/>
              <a:buFontTx/>
              <a:buChar char="•"/>
            </a:pPr>
            <a:r>
              <a:rPr sz="1250" dirty="0">
                <a:solidFill>
                  <a:srgbClr val="63637E"/>
                </a:solidFill>
                <a:latin typeface="Calibri"/>
                <a:ea typeface="Calibri"/>
                <a:cs typeface="Calibri"/>
              </a:rPr>
              <a:t>Member </a:t>
            </a:r>
            <a:r>
              <a:rPr lang="en-US" sz="1250" dirty="0">
                <a:solidFill>
                  <a:srgbClr val="63637E"/>
                </a:solidFill>
                <a:latin typeface="Calibri"/>
                <a:ea typeface="Calibri"/>
                <a:cs typeface="Calibri"/>
              </a:rPr>
              <a:t>1</a:t>
            </a:r>
            <a:r>
              <a:rPr sz="1250" dirty="0">
                <a:solidFill>
                  <a:srgbClr val="63637E"/>
                </a:solidFill>
                <a:latin typeface="Calibri"/>
                <a:ea typeface="Calibri"/>
                <a:cs typeface="Calibri"/>
              </a:rPr>
              <a:t> - Dhanush </a:t>
            </a:r>
            <a:r>
              <a:rPr sz="1250" dirty="0" err="1">
                <a:solidFill>
                  <a:srgbClr val="63637E"/>
                </a:solidFill>
                <a:latin typeface="Calibri"/>
                <a:ea typeface="Calibri"/>
                <a:cs typeface="Calibri"/>
              </a:rPr>
              <a:t>Poduval</a:t>
            </a:r>
            <a:r>
              <a:rPr sz="1250" dirty="0">
                <a:solidFill>
                  <a:srgbClr val="63637E"/>
                </a:solidFill>
                <a:latin typeface="Calibri"/>
                <a:ea typeface="Calibri"/>
                <a:cs typeface="Calibri"/>
              </a:rPr>
              <a:t> (</a:t>
            </a:r>
            <a:r>
              <a:rPr lang="en-IN" sz="1250" dirty="0">
                <a:solidFill>
                  <a:srgbClr val="63637E"/>
                </a:solidFill>
                <a:ea typeface="Calibri"/>
                <a:cs typeface="Calibri"/>
              </a:rPr>
              <a:t>dp0781@srmist.edu.in</a:t>
            </a:r>
            <a:r>
              <a:rPr sz="1250" dirty="0">
                <a:solidFill>
                  <a:srgbClr val="63637E"/>
                </a:solidFill>
                <a:latin typeface="Calibri"/>
                <a:ea typeface="Calibri"/>
                <a:cs typeface="Calibri"/>
              </a:rPr>
              <a:t>)</a:t>
            </a:r>
            <a:endParaRPr lang="en-US" sz="1250" dirty="0">
              <a:solidFill>
                <a:srgbClr val="63637E"/>
              </a:solidFill>
              <a:latin typeface="Calibri"/>
              <a:ea typeface="Calibri"/>
              <a:cs typeface="Calibri"/>
            </a:endParaRPr>
          </a:p>
          <a:p>
            <a:pPr marL="177800" indent="-177800">
              <a:spcAft>
                <a:spcPts val="500"/>
              </a:spcAft>
              <a:buSzPct val="100000"/>
              <a:buFontTx/>
              <a:buChar char="•"/>
            </a:pPr>
            <a:r>
              <a:rPr lang="en-US" sz="1250" dirty="0">
                <a:solidFill>
                  <a:srgbClr val="63637E"/>
                </a:solidFill>
                <a:ea typeface="Calibri"/>
                <a:cs typeface="Calibri"/>
              </a:rPr>
              <a:t>Member 2 - Arpit Rath (ar3897@srmist.edu.in)</a:t>
            </a:r>
            <a:endParaRPr sz="1250" dirty="0">
              <a:solidFill>
                <a:srgbClr val="63637E"/>
              </a:solidFill>
              <a:latin typeface="Calibri"/>
              <a:ea typeface="Calibri"/>
              <a:cs typeface="Calibri"/>
            </a:endParaRPr>
          </a:p>
          <a:p>
            <a:pPr marL="177800" indent="-177800">
              <a:spcAft>
                <a:spcPts val="500"/>
              </a:spcAft>
              <a:buSzPct val="100000"/>
              <a:buFontTx/>
              <a:buChar char="•"/>
            </a:pPr>
            <a:r>
              <a:rPr sz="1600" dirty="0">
                <a:solidFill>
                  <a:srgbClr val="63637E"/>
                </a:solidFill>
                <a:latin typeface="Calibri"/>
                <a:ea typeface="Calibri"/>
                <a:cs typeface="Calibri"/>
              </a:rPr>
              <a:t>GitHub - github.com/Dhanush-</a:t>
            </a:r>
            <a:r>
              <a:rPr sz="1600" dirty="0" err="1">
                <a:solidFill>
                  <a:srgbClr val="63637E"/>
                </a:solidFill>
                <a:latin typeface="Calibri"/>
                <a:ea typeface="Calibri"/>
                <a:cs typeface="Calibri"/>
              </a:rPr>
              <a:t>Poduval</a:t>
            </a:r>
            <a:r>
              <a:rPr sz="1600" dirty="0">
                <a:solidFill>
                  <a:srgbClr val="63637E"/>
                </a:solidFill>
                <a:latin typeface="Calibri"/>
                <a:ea typeface="Calibri"/>
                <a:cs typeface="Calibri"/>
              </a:rPr>
              <a:t>/</a:t>
            </a:r>
            <a:r>
              <a:rPr sz="1600" dirty="0" err="1">
                <a:solidFill>
                  <a:srgbClr val="63637E"/>
                </a:solidFill>
                <a:latin typeface="Calibri"/>
                <a:ea typeface="Calibri"/>
                <a:cs typeface="Calibri"/>
              </a:rPr>
              <a:t>Guarded_Troubleshooting</a:t>
            </a:r>
            <a:endParaRPr sz="1600" dirty="0">
              <a:solidFill>
                <a:srgbClr val="63637E"/>
              </a:solidFill>
              <a:latin typeface="Calibri"/>
              <a:ea typeface="Calibri"/>
              <a:cs typeface="Calibri"/>
            </a:endParaRPr>
          </a:p>
        </p:txBody>
      </p:sp>
      <p:pic>
        <p:nvPicPr>
          <p:cNvPr id="15" name="Image 0"/>
          <p:cNvPicPr>
            <a:picLocks noChangeAspect="1"/>
          </p:cNvPicPr>
          <p:nvPr/>
        </p:nvPicPr>
        <p:blipFill>
          <a:blip r:embed="rId3"/>
          <a:stretch>
            <a:fillRect/>
          </a:stretch>
        </p:blipFill>
        <p:spPr>
          <a:xfrm>
            <a:off x="7059168" y="1051560"/>
            <a:ext cx="4572000" cy="4572000"/>
          </a:xfrm>
          <a:prstGeom prst="rect">
            <a:avLst/>
          </a:prstGeom>
        </p:spPr>
      </p:pic>
    </p:spTree>
    <p:extLst>
      <p:ext uri="{BB962C8B-B14F-4D97-AF65-F5344CB8AC3E}">
        <p14:creationId xmlns:p14="http://schemas.microsoft.com/office/powerpoint/2010/main" val="2102920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sz="2900" b="1" dirty="0">
                <a:solidFill>
                  <a:srgbClr val="704EA6"/>
                </a:solidFill>
                <a:latin typeface="Calibri"/>
                <a:ea typeface="Calibri"/>
                <a:cs typeface="Calibri"/>
              </a:rPr>
              <a:t>Theme</a:t>
            </a:r>
            <a:r>
              <a:rPr lang="en-US" sz="2900" b="1" dirty="0">
                <a:solidFill>
                  <a:srgbClr val="704EA6"/>
                </a:solidFill>
                <a:latin typeface="Calibri"/>
                <a:ea typeface="Calibri"/>
                <a:cs typeface="Calibri"/>
              </a:rPr>
              <a:t> 2 - Smart Guided Troubleshooting Engine</a:t>
            </a:r>
            <a:endParaRPr sz="2900" b="1" dirty="0">
              <a:solidFill>
                <a:srgbClr val="704EA6"/>
              </a:solidFill>
              <a:latin typeface="Calibri"/>
              <a:ea typeface="Calibri"/>
              <a:cs typeface="Calibri"/>
            </a:endParaRPr>
          </a:p>
        </p:txBody>
      </p:sp>
      <p:sp>
        <p:nvSpPr>
          <p:cNvPr id="3" name="Rounded Rectangle 2">
            <a:extLst>
              <a:ext uri="{FF2B5EF4-FFF2-40B4-BE49-F238E27FC236}">
                <a16:creationId xmlns:a16="http://schemas.microsoft.com/office/drawing/2014/main" id="{E6877D63-2FE1-44BC-805B-F39403B5DF10}"/>
              </a:ext>
            </a:extLst>
          </p:cNvPr>
          <p:cNvSpPr>
            <a:spLocks noGrp="1"/>
          </p:cNvSpPr>
          <p:nvPr/>
        </p:nvSpPr>
        <p:spPr>
          <a:xfrm>
            <a:off x="841248" y="1514614"/>
            <a:ext cx="3368040" cy="1078992"/>
          </a:xfrm>
          <a:prstGeom prst="roundRect">
            <a:avLst>
              <a:gd name="adj" fmla="val 8000"/>
            </a:avLst>
          </a:prstGeom>
          <a:solidFill>
            <a:srgbClr val="ECE9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8D85152-C1D5-4ADA-8F0F-8CC274EDAA23}"/>
              </a:ext>
            </a:extLst>
          </p:cNvPr>
          <p:cNvSpPr>
            <a:spLocks noGrp="1"/>
          </p:cNvSpPr>
          <p:nvPr/>
        </p:nvSpPr>
        <p:spPr>
          <a:xfrm>
            <a:off x="1005840" y="1642630"/>
            <a:ext cx="3038856" cy="420624"/>
          </a:xfrm>
          <a:prstGeom prst="rect">
            <a:avLst/>
          </a:prstGeom>
          <a:noFill/>
        </p:spPr>
        <p:txBody>
          <a:bodyPr wrap="square" lIns="0" tIns="0" rIns="0" bIns="0" anchor="t">
            <a:spAutoFit/>
          </a:bodyPr>
          <a:lstStyle/>
          <a:p>
            <a:pPr algn="l">
              <a:spcBef>
                <a:spcPts val="0"/>
              </a:spcBef>
              <a:spcAft>
                <a:spcPts val="0"/>
              </a:spcAft>
              <a:buNone/>
            </a:pPr>
            <a:r>
              <a:rPr sz="2600" b="1" i="0">
                <a:solidFill>
                  <a:srgbClr val="6D28D9"/>
                </a:solidFill>
                <a:latin typeface="Calibri"/>
                <a:ea typeface="Calibri"/>
                <a:cs typeface="Calibri"/>
              </a:rPr>
              <a:t>20</a:t>
            </a:r>
          </a:p>
        </p:txBody>
      </p:sp>
      <p:sp>
        <p:nvSpPr>
          <p:cNvPr id="5" name="TextBox 4">
            <a:extLst>
              <a:ext uri="{FF2B5EF4-FFF2-40B4-BE49-F238E27FC236}">
                <a16:creationId xmlns:a16="http://schemas.microsoft.com/office/drawing/2014/main" id="{17859950-9CC3-4CD9-B20F-80998ACE0EFD}"/>
              </a:ext>
            </a:extLst>
          </p:cNvPr>
          <p:cNvSpPr>
            <a:spLocks noGrp="1"/>
          </p:cNvSpPr>
          <p:nvPr/>
        </p:nvSpPr>
        <p:spPr>
          <a:xfrm>
            <a:off x="1005840" y="2081542"/>
            <a:ext cx="3038856" cy="420623"/>
          </a:xfrm>
          <a:prstGeom prst="rect">
            <a:avLst/>
          </a:prstGeom>
          <a:noFill/>
        </p:spPr>
        <p:txBody>
          <a:bodyPr wrap="square" lIns="0" tIns="0" rIns="0" bIns="0" anchor="t">
            <a:spAutoFit/>
          </a:bodyPr>
          <a:lstStyle/>
          <a:p>
            <a:pPr algn="l">
              <a:spcBef>
                <a:spcPts val="0"/>
              </a:spcBef>
              <a:spcAft>
                <a:spcPts val="0"/>
              </a:spcAft>
              <a:buNone/>
            </a:pPr>
            <a:r>
              <a:rPr sz="1000" b="0" i="0">
                <a:solidFill>
                  <a:srgbClr val="63637E"/>
                </a:solidFill>
                <a:latin typeface="Calibri"/>
                <a:ea typeface="Calibri"/>
                <a:cs typeface="Calibri"/>
              </a:rPr>
              <a:t>Official complaints with SIIS reference text</a:t>
            </a:r>
          </a:p>
        </p:txBody>
      </p:sp>
      <p:sp>
        <p:nvSpPr>
          <p:cNvPr id="6" name="Rounded Rectangle 5">
            <a:extLst>
              <a:ext uri="{FF2B5EF4-FFF2-40B4-BE49-F238E27FC236}">
                <a16:creationId xmlns:a16="http://schemas.microsoft.com/office/drawing/2014/main" id="{AF1D43F7-B71A-408B-AE34-C39601DD6243}"/>
              </a:ext>
            </a:extLst>
          </p:cNvPr>
          <p:cNvSpPr>
            <a:spLocks noGrp="1"/>
          </p:cNvSpPr>
          <p:nvPr/>
        </p:nvSpPr>
        <p:spPr>
          <a:xfrm>
            <a:off x="4410456" y="1514614"/>
            <a:ext cx="3368040" cy="1078992"/>
          </a:xfrm>
          <a:prstGeom prst="roundRect">
            <a:avLst>
              <a:gd name="adj" fmla="val 8000"/>
            </a:avLst>
          </a:prstGeom>
          <a:solidFill>
            <a:srgbClr val="ECE9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5A21CA77-3A80-49CF-9CBC-C9E42A91F1D5}"/>
              </a:ext>
            </a:extLst>
          </p:cNvPr>
          <p:cNvSpPr>
            <a:spLocks noGrp="1"/>
          </p:cNvSpPr>
          <p:nvPr/>
        </p:nvSpPr>
        <p:spPr>
          <a:xfrm>
            <a:off x="4575048" y="1642630"/>
            <a:ext cx="3038856" cy="420624"/>
          </a:xfrm>
          <a:prstGeom prst="rect">
            <a:avLst/>
          </a:prstGeom>
          <a:noFill/>
        </p:spPr>
        <p:txBody>
          <a:bodyPr wrap="square" lIns="0" tIns="0" rIns="0" bIns="0" anchor="t">
            <a:spAutoFit/>
          </a:bodyPr>
          <a:lstStyle/>
          <a:p>
            <a:pPr algn="l">
              <a:spcBef>
                <a:spcPts val="0"/>
              </a:spcBef>
              <a:spcAft>
                <a:spcPts val="0"/>
              </a:spcAft>
              <a:buNone/>
            </a:pPr>
            <a:r>
              <a:rPr sz="2600" b="1" i="0">
                <a:solidFill>
                  <a:srgbClr val="6D28D9"/>
                </a:solidFill>
                <a:latin typeface="Calibri"/>
                <a:ea typeface="Calibri"/>
                <a:cs typeface="Calibri"/>
              </a:rPr>
              <a:t>578</a:t>
            </a:r>
          </a:p>
        </p:txBody>
      </p:sp>
      <p:sp>
        <p:nvSpPr>
          <p:cNvPr id="8" name="TextBox 7">
            <a:extLst>
              <a:ext uri="{FF2B5EF4-FFF2-40B4-BE49-F238E27FC236}">
                <a16:creationId xmlns:a16="http://schemas.microsoft.com/office/drawing/2014/main" id="{0E8C206F-1A78-40E6-996E-F89F3631077F}"/>
              </a:ext>
            </a:extLst>
          </p:cNvPr>
          <p:cNvSpPr>
            <a:spLocks noGrp="1"/>
          </p:cNvSpPr>
          <p:nvPr/>
        </p:nvSpPr>
        <p:spPr>
          <a:xfrm>
            <a:off x="4575048" y="2081542"/>
            <a:ext cx="3038856" cy="420623"/>
          </a:xfrm>
          <a:prstGeom prst="rect">
            <a:avLst/>
          </a:prstGeom>
          <a:noFill/>
        </p:spPr>
        <p:txBody>
          <a:bodyPr wrap="square" lIns="0" tIns="0" rIns="0" bIns="0" anchor="t">
            <a:spAutoFit/>
          </a:bodyPr>
          <a:lstStyle/>
          <a:p>
            <a:pPr algn="l">
              <a:spcBef>
                <a:spcPts val="0"/>
              </a:spcBef>
              <a:spcAft>
                <a:spcPts val="0"/>
              </a:spcAft>
              <a:buNone/>
            </a:pPr>
            <a:r>
              <a:rPr sz="1000" b="0" i="0">
                <a:solidFill>
                  <a:srgbClr val="63637E"/>
                </a:solidFill>
                <a:latin typeface="Calibri"/>
                <a:ea typeface="Calibri"/>
                <a:cs typeface="Calibri"/>
              </a:rPr>
              <a:t>Authorized Settings deeplinks in the official catalog</a:t>
            </a:r>
          </a:p>
        </p:txBody>
      </p:sp>
      <p:sp>
        <p:nvSpPr>
          <p:cNvPr id="9" name="Rounded Rectangle 8">
            <a:extLst>
              <a:ext uri="{FF2B5EF4-FFF2-40B4-BE49-F238E27FC236}">
                <a16:creationId xmlns:a16="http://schemas.microsoft.com/office/drawing/2014/main" id="{DE462AC5-0721-4FFD-84BF-1CE72E4BE590}"/>
              </a:ext>
            </a:extLst>
          </p:cNvPr>
          <p:cNvSpPr>
            <a:spLocks noGrp="1"/>
          </p:cNvSpPr>
          <p:nvPr/>
        </p:nvSpPr>
        <p:spPr>
          <a:xfrm>
            <a:off x="7979664" y="1514614"/>
            <a:ext cx="3368040" cy="1078992"/>
          </a:xfrm>
          <a:prstGeom prst="roundRect">
            <a:avLst>
              <a:gd name="adj" fmla="val 8000"/>
            </a:avLst>
          </a:prstGeom>
          <a:solidFill>
            <a:srgbClr val="E8F6F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6E864D6-2192-4119-A888-73DB0715400D}"/>
              </a:ext>
            </a:extLst>
          </p:cNvPr>
          <p:cNvSpPr>
            <a:spLocks noGrp="1"/>
          </p:cNvSpPr>
          <p:nvPr/>
        </p:nvSpPr>
        <p:spPr>
          <a:xfrm>
            <a:off x="8144256" y="1642630"/>
            <a:ext cx="3038856" cy="420624"/>
          </a:xfrm>
          <a:prstGeom prst="rect">
            <a:avLst/>
          </a:prstGeom>
          <a:noFill/>
        </p:spPr>
        <p:txBody>
          <a:bodyPr wrap="square" lIns="0" tIns="0" rIns="0" bIns="0" anchor="t">
            <a:spAutoFit/>
          </a:bodyPr>
          <a:lstStyle/>
          <a:p>
            <a:pPr algn="l">
              <a:spcBef>
                <a:spcPts val="0"/>
              </a:spcBef>
              <a:spcAft>
                <a:spcPts val="0"/>
              </a:spcAft>
              <a:buNone/>
            </a:pPr>
            <a:r>
              <a:rPr sz="2600" b="1" i="0">
                <a:solidFill>
                  <a:srgbClr val="0E7C5E"/>
                </a:solidFill>
                <a:latin typeface="Calibri"/>
                <a:ea typeface="Calibri"/>
                <a:cs typeface="Calibri"/>
              </a:rPr>
              <a:t>2</a:t>
            </a:r>
          </a:p>
        </p:txBody>
      </p:sp>
      <p:sp>
        <p:nvSpPr>
          <p:cNvPr id="11" name="TextBox 10">
            <a:extLst>
              <a:ext uri="{FF2B5EF4-FFF2-40B4-BE49-F238E27FC236}">
                <a16:creationId xmlns:a16="http://schemas.microsoft.com/office/drawing/2014/main" id="{9CD19F0D-BF52-4C1E-B99E-26D5BD80A5A4}"/>
              </a:ext>
            </a:extLst>
          </p:cNvPr>
          <p:cNvSpPr>
            <a:spLocks noGrp="1"/>
          </p:cNvSpPr>
          <p:nvPr/>
        </p:nvSpPr>
        <p:spPr>
          <a:xfrm>
            <a:off x="8144256" y="2081542"/>
            <a:ext cx="3038856" cy="420623"/>
          </a:xfrm>
          <a:prstGeom prst="rect">
            <a:avLst/>
          </a:prstGeom>
          <a:noFill/>
        </p:spPr>
        <p:txBody>
          <a:bodyPr wrap="square" lIns="0" tIns="0" rIns="0" bIns="0" anchor="t">
            <a:spAutoFit/>
          </a:bodyPr>
          <a:lstStyle/>
          <a:p>
            <a:pPr algn="l">
              <a:spcBef>
                <a:spcPts val="0"/>
              </a:spcBef>
              <a:spcAft>
                <a:spcPts val="0"/>
              </a:spcAft>
              <a:buNone/>
            </a:pPr>
            <a:r>
              <a:rPr sz="1000" b="0" i="0">
                <a:solidFill>
                  <a:srgbClr val="63637E"/>
                </a:solidFill>
                <a:latin typeface="Calibri"/>
                <a:ea typeface="Calibri"/>
                <a:cs typeface="Calibri"/>
              </a:rPr>
              <a:t>Gemini stages for a novel complaint</a:t>
            </a:r>
          </a:p>
        </p:txBody>
      </p:sp>
      <p:sp>
        <p:nvSpPr>
          <p:cNvPr id="12" name="Rounded Rectangle 11">
            <a:extLst>
              <a:ext uri="{FF2B5EF4-FFF2-40B4-BE49-F238E27FC236}">
                <a16:creationId xmlns:a16="http://schemas.microsoft.com/office/drawing/2014/main" id="{F2899EC3-9C49-4058-B2C0-1A81B83B5A65}"/>
              </a:ext>
            </a:extLst>
          </p:cNvPr>
          <p:cNvSpPr>
            <a:spLocks noGrp="1"/>
          </p:cNvSpPr>
          <p:nvPr/>
        </p:nvSpPr>
        <p:spPr>
          <a:xfrm>
            <a:off x="841248" y="2813062"/>
            <a:ext cx="5463357" cy="2212848"/>
          </a:xfrm>
          <a:prstGeom prst="roundRect">
            <a:avLst>
              <a:gd name="adj" fmla="val 8000"/>
            </a:avLst>
          </a:prstGeom>
          <a:solidFill>
            <a:srgbClr val="F6F4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A76788-FCD7-4B57-B678-35D434DF0AE5}"/>
              </a:ext>
            </a:extLst>
          </p:cNvPr>
          <p:cNvSpPr>
            <a:spLocks noGrp="1"/>
          </p:cNvSpPr>
          <p:nvPr/>
        </p:nvSpPr>
        <p:spPr>
          <a:xfrm>
            <a:off x="1078992" y="3014230"/>
            <a:ext cx="4987869" cy="1828800"/>
          </a:xfrm>
          <a:prstGeom prst="rect">
            <a:avLst/>
          </a:prstGeom>
          <a:noFill/>
        </p:spPr>
        <p:txBody>
          <a:bodyPr wrap="square" lIns="0" tIns="0" rIns="0" bIns="0" anchor="t">
            <a:spAutoFit/>
          </a:bodyPr>
          <a:lstStyle/>
          <a:p>
            <a:pPr algn="l">
              <a:spcBef>
                <a:spcPts val="0"/>
              </a:spcBef>
              <a:spcAft>
                <a:spcPts val="900"/>
              </a:spcAft>
              <a:buNone/>
            </a:pPr>
            <a:r>
              <a:rPr sz="1400" b="1" i="0">
                <a:solidFill>
                  <a:srgbClr val="14142B"/>
                </a:solidFill>
                <a:latin typeface="Calibri"/>
                <a:ea typeface="Calibri"/>
                <a:cs typeface="Calibri"/>
              </a:rPr>
              <a:t>What users actually write</a:t>
            </a:r>
          </a:p>
          <a:p>
            <a:pPr algn="l">
              <a:spcBef>
                <a:spcPts val="0"/>
              </a:spcBef>
              <a:spcAft>
                <a:spcPts val="800"/>
              </a:spcAft>
              <a:buNone/>
            </a:pPr>
            <a:r>
              <a:rPr sz="1150" b="0" i="1">
                <a:solidFill>
                  <a:srgbClr val="704EA6"/>
                </a:solidFill>
                <a:latin typeface="Calibri"/>
                <a:ea typeface="Calibri"/>
                <a:cs typeface="Calibri"/>
              </a:rPr>
              <a:t>“My Galaxy Z Flip 7 screen went completely black, so I can’t see or interact with the phone.”</a:t>
            </a:r>
          </a:p>
          <a:p>
            <a:pPr algn="l">
              <a:spcBef>
                <a:spcPts val="0"/>
              </a:spcBef>
              <a:spcAft>
                <a:spcPts val="1100"/>
              </a:spcAft>
              <a:buNone/>
            </a:pPr>
            <a:r>
              <a:rPr sz="1150" b="0" i="1">
                <a:solidFill>
                  <a:srgbClr val="704EA6"/>
                </a:solidFill>
                <a:latin typeface="Calibri"/>
                <a:ea typeface="Calibri"/>
                <a:cs typeface="Calibri"/>
              </a:rPr>
              <a:t>“My tablet’s screen stays dark and only three app icons are lit while the rest won’t open.”</a:t>
            </a:r>
          </a:p>
          <a:p>
            <a:pPr algn="l">
              <a:spcBef>
                <a:spcPts val="0"/>
              </a:spcBef>
              <a:spcAft>
                <a:spcPts val="0"/>
              </a:spcAft>
              <a:buNone/>
            </a:pPr>
            <a:r>
              <a:rPr sz="1150" b="0" i="0">
                <a:solidFill>
                  <a:srgbClr val="63637E"/>
                </a:solidFill>
                <a:latin typeface="Calibri"/>
                <a:ea typeface="Calibri"/>
                <a:cs typeface="Calibri"/>
              </a:rPr>
              <a:t>The official set contains natural complaints, not structured diagnostic intents.</a:t>
            </a:r>
          </a:p>
        </p:txBody>
      </p:sp>
      <p:sp>
        <p:nvSpPr>
          <p:cNvPr id="14" name="Rounded Rectangle 13">
            <a:extLst>
              <a:ext uri="{FF2B5EF4-FFF2-40B4-BE49-F238E27FC236}">
                <a16:creationId xmlns:a16="http://schemas.microsoft.com/office/drawing/2014/main" id="{9AD13F80-2512-461A-959E-F89280B5FCEA}"/>
              </a:ext>
            </a:extLst>
          </p:cNvPr>
          <p:cNvSpPr>
            <a:spLocks noGrp="1"/>
          </p:cNvSpPr>
          <p:nvPr/>
        </p:nvSpPr>
        <p:spPr>
          <a:xfrm>
            <a:off x="6542349" y="2813062"/>
            <a:ext cx="4805354" cy="2212848"/>
          </a:xfrm>
          <a:prstGeom prst="roundRect">
            <a:avLst>
              <a:gd name="adj" fmla="val 8000"/>
            </a:avLst>
          </a:prstGeom>
          <a:solidFill>
            <a:srgbClr val="ECE9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7E16F9D-4EE2-4C46-A98A-A774AE4E528C}"/>
              </a:ext>
            </a:extLst>
          </p:cNvPr>
          <p:cNvSpPr>
            <a:spLocks noGrp="1"/>
          </p:cNvSpPr>
          <p:nvPr/>
        </p:nvSpPr>
        <p:spPr>
          <a:xfrm>
            <a:off x="6780093" y="3014230"/>
            <a:ext cx="4329866" cy="1828800"/>
          </a:xfrm>
          <a:prstGeom prst="rect">
            <a:avLst/>
          </a:prstGeom>
          <a:noFill/>
        </p:spPr>
        <p:txBody>
          <a:bodyPr wrap="square" lIns="0" tIns="0" rIns="0" bIns="0" anchor="t">
            <a:spAutoFit/>
          </a:bodyPr>
          <a:lstStyle/>
          <a:p>
            <a:pPr algn="l">
              <a:spcBef>
                <a:spcPts val="0"/>
              </a:spcBef>
              <a:spcAft>
                <a:spcPts val="900"/>
              </a:spcAft>
              <a:buNone/>
            </a:pPr>
            <a:r>
              <a:rPr sz="1400" b="1" i="0">
                <a:solidFill>
                  <a:srgbClr val="14142B"/>
                </a:solidFill>
                <a:latin typeface="Calibri"/>
                <a:ea typeface="Calibri"/>
                <a:cs typeface="Calibri"/>
              </a:rPr>
              <a:t>What the engine must return</a:t>
            </a:r>
          </a:p>
          <a:p>
            <a:pPr algn="l">
              <a:spcBef>
                <a:spcPts val="0"/>
              </a:spcBef>
              <a:spcAft>
                <a:spcPts val="500"/>
              </a:spcAft>
              <a:buNone/>
            </a:pPr>
            <a:r>
              <a:rPr sz="1150" b="0" i="0">
                <a:solidFill>
                  <a:srgbClr val="63637E"/>
                </a:solidFill>
                <a:latin typeface="Calibri"/>
                <a:ea typeface="Calibri"/>
                <a:cs typeface="Calibri"/>
              </a:rPr>
              <a:t>Grounded steps derived from supplied SIIS text</a:t>
            </a:r>
          </a:p>
          <a:p>
            <a:pPr algn="l">
              <a:spcBef>
                <a:spcPts val="0"/>
              </a:spcBef>
              <a:spcAft>
                <a:spcPts val="500"/>
              </a:spcAft>
              <a:buNone/>
            </a:pPr>
            <a:r>
              <a:rPr sz="1150" b="0" i="0">
                <a:solidFill>
                  <a:srgbClr val="63637E"/>
                </a:solidFill>
                <a:latin typeface="Calibri"/>
                <a:ea typeface="Calibri"/>
                <a:cs typeface="Calibri"/>
              </a:rPr>
              <a:t>Safe ordering, with critical actions last</a:t>
            </a:r>
          </a:p>
          <a:p>
            <a:pPr algn="l">
              <a:spcBef>
                <a:spcPts val="0"/>
              </a:spcBef>
              <a:spcAft>
                <a:spcPts val="500"/>
              </a:spcAft>
              <a:buNone/>
            </a:pPr>
            <a:r>
              <a:rPr sz="1150" b="0" i="0">
                <a:solidFill>
                  <a:srgbClr val="63637E"/>
                </a:solidFill>
                <a:latin typeface="Calibri"/>
                <a:ea typeface="Calibri"/>
                <a:cs typeface="Calibri"/>
              </a:rPr>
              <a:t>Only catalog-approved bixby:// URIs</a:t>
            </a:r>
          </a:p>
          <a:p>
            <a:pPr algn="l">
              <a:spcBef>
                <a:spcPts val="0"/>
              </a:spcBef>
              <a:spcAft>
                <a:spcPts val="500"/>
              </a:spcAft>
              <a:buNone/>
            </a:pPr>
            <a:r>
              <a:rPr sz="1150" b="0" i="0">
                <a:solidFill>
                  <a:srgbClr val="63637E"/>
                </a:solidFill>
                <a:latin typeface="Calibri"/>
                <a:ea typeface="Calibri"/>
                <a:cs typeface="Calibri"/>
              </a:rPr>
              <a:t>Strict JSON with request-level trace metadata</a:t>
            </a:r>
          </a:p>
          <a:p>
            <a:pPr algn="l">
              <a:spcBef>
                <a:spcPts val="600"/>
              </a:spcBef>
              <a:spcAft>
                <a:spcPts val="0"/>
              </a:spcAft>
              <a:buNone/>
            </a:pPr>
            <a:r>
              <a:rPr sz="1100" b="1" i="0">
                <a:solidFill>
                  <a:srgbClr val="A14B0A"/>
                </a:solidFill>
                <a:latin typeface="Calibri"/>
                <a:ea typeface="Calibri"/>
                <a:cs typeface="Calibri"/>
              </a:rPr>
              <a:t>If evidence or a safe match is missing, the service returns an explicit fallback.</a:t>
            </a:r>
          </a:p>
        </p:txBody>
      </p:sp>
      <p:sp>
        <p:nvSpPr>
          <p:cNvPr id="16" name="Rounded Rectangle 15"/>
          <p:cNvSpPr/>
          <p:nvPr/>
        </p:nvSpPr>
        <p:spPr>
          <a:xfrm>
            <a:off x="841248" y="5208790"/>
            <a:ext cx="10506456" cy="1280160"/>
          </a:xfrm>
          <a:prstGeom prst="roundRect">
            <a:avLst>
              <a:gd name="adj" fmla="val 10000"/>
            </a:avLst>
          </a:prstGeom>
          <a:solidFill>
            <a:srgbClr val="F6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15568" y="5391670"/>
            <a:ext cx="9957816" cy="201168"/>
          </a:xfrm>
          <a:prstGeom prst="rect">
            <a:avLst/>
          </a:prstGeom>
          <a:noFill/>
        </p:spPr>
        <p:txBody>
          <a:bodyPr wrap="square" lIns="0" tIns="0" rIns="0" bIns="0" anchor="t">
            <a:spAutoFit/>
          </a:bodyPr>
          <a:lstStyle/>
          <a:p>
            <a:pPr algn="l">
              <a:spcBef>
                <a:spcPts val="0"/>
              </a:spcBef>
              <a:spcAft>
                <a:spcPts val="0"/>
              </a:spcAft>
            </a:pPr>
            <a:r>
              <a:rPr sz="900" b="1" i="0">
                <a:solidFill>
                  <a:srgbClr val="704EA6"/>
                </a:solidFill>
                <a:latin typeface="Calibri"/>
              </a:rPr>
              <a:t>THE CONTRACT EVERY PLAN MUST SATISFY</a:t>
            </a:r>
          </a:p>
        </p:txBody>
      </p:sp>
      <p:sp>
        <p:nvSpPr>
          <p:cNvPr id="18" name="TextBox 17"/>
          <p:cNvSpPr txBox="1"/>
          <p:nvPr/>
        </p:nvSpPr>
        <p:spPr>
          <a:xfrm>
            <a:off x="1115568" y="5684278"/>
            <a:ext cx="3136392"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ContextDeeplinkResponse</a:t>
            </a:r>
          </a:p>
        </p:txBody>
      </p:sp>
      <p:sp>
        <p:nvSpPr>
          <p:cNvPr id="19" name="TextBox 18"/>
          <p:cNvSpPr txBox="1"/>
          <p:nvPr/>
        </p:nvSpPr>
        <p:spPr>
          <a:xfrm>
            <a:off x="1115568" y="5931166"/>
            <a:ext cx="3136392" cy="448055"/>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The single top-level object the service returns</a:t>
            </a:r>
          </a:p>
        </p:txBody>
      </p:sp>
      <p:sp>
        <p:nvSpPr>
          <p:cNvPr id="20" name="TextBox 19"/>
          <p:cNvSpPr txBox="1"/>
          <p:nvPr/>
        </p:nvSpPr>
        <p:spPr>
          <a:xfrm>
            <a:off x="4526280" y="5684278"/>
            <a:ext cx="3136392"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Goal → Action → StepGroup</a:t>
            </a:r>
          </a:p>
        </p:txBody>
      </p:sp>
      <p:sp>
        <p:nvSpPr>
          <p:cNvPr id="21" name="TextBox 20"/>
          <p:cNvSpPr txBox="1"/>
          <p:nvPr/>
        </p:nvSpPr>
        <p:spPr>
          <a:xfrm>
            <a:off x="4526280" y="5931166"/>
            <a:ext cx="3136392" cy="448055"/>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Nested shape carrying steps, category and deeplinks</a:t>
            </a:r>
          </a:p>
        </p:txBody>
      </p:sp>
      <p:sp>
        <p:nvSpPr>
          <p:cNvPr id="22" name="TextBox 21"/>
          <p:cNvSpPr txBox="1"/>
          <p:nvPr/>
        </p:nvSpPr>
        <p:spPr>
          <a:xfrm>
            <a:off x="7936992" y="5684278"/>
            <a:ext cx="3136392"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no_siis_context  ·  no_match</a:t>
            </a:r>
          </a:p>
        </p:txBody>
      </p:sp>
      <p:sp>
        <p:nvSpPr>
          <p:cNvPr id="23" name="TextBox 22"/>
          <p:cNvSpPr txBox="1"/>
          <p:nvPr/>
        </p:nvSpPr>
        <p:spPr>
          <a:xfrm>
            <a:off x="7936992" y="5931166"/>
            <a:ext cx="3136392" cy="448055"/>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The only two fallback reasons the specification names</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sz="2900" b="1">
                <a:solidFill>
                  <a:srgbClr val="704EA6"/>
                </a:solidFill>
                <a:latin typeface="Calibri"/>
                <a:ea typeface="Calibri"/>
                <a:cs typeface="Calibri"/>
              </a:rPr>
              <a:t>Existing Solutions &amp; Gaps</a:t>
            </a:r>
          </a:p>
        </p:txBody>
      </p:sp>
      <p:sp>
        <p:nvSpPr>
          <p:cNvPr id="3" name="Rounded Rectangle 2">
            <a:extLst>
              <a:ext uri="{FF2B5EF4-FFF2-40B4-BE49-F238E27FC236}">
                <a16:creationId xmlns:a16="http://schemas.microsoft.com/office/drawing/2014/main" id="{C0195ED1-CCEF-46C3-9B2D-71DCFBDAFA8F}"/>
              </a:ext>
            </a:extLst>
          </p:cNvPr>
          <p:cNvSpPr>
            <a:spLocks noGrp="1"/>
          </p:cNvSpPr>
          <p:nvPr/>
        </p:nvSpPr>
        <p:spPr>
          <a:xfrm>
            <a:off x="841248" y="1438420"/>
            <a:ext cx="3355848" cy="2249424"/>
          </a:xfrm>
          <a:prstGeom prst="roundRect">
            <a:avLst>
              <a:gd name="adj" fmla="val 8000"/>
            </a:avLst>
          </a:prstGeom>
          <a:solidFill>
            <a:srgbClr val="F6F4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Oval 3">
            <a:extLst>
              <a:ext uri="{FF2B5EF4-FFF2-40B4-BE49-F238E27FC236}">
                <a16:creationId xmlns:a16="http://schemas.microsoft.com/office/drawing/2014/main" id="{6A84B58A-2DD7-48DC-B04F-5E876778F7EF}"/>
              </a:ext>
            </a:extLst>
          </p:cNvPr>
          <p:cNvSpPr>
            <a:spLocks noGrp="1"/>
          </p:cNvSpPr>
          <p:nvPr/>
        </p:nvSpPr>
        <p:spPr>
          <a:xfrm>
            <a:off x="1078992" y="1676164"/>
            <a:ext cx="365760" cy="365760"/>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1200" b="1">
                <a:solidFill>
                  <a:srgbClr val="FFFFFF"/>
                </a:solidFill>
                <a:latin typeface="Calibri"/>
                <a:ea typeface="Calibri"/>
                <a:cs typeface="Calibri"/>
              </a:rPr>
              <a:t>1</a:t>
            </a:r>
          </a:p>
        </p:txBody>
      </p:sp>
      <p:sp>
        <p:nvSpPr>
          <p:cNvPr id="5" name="TextBox 4">
            <a:extLst>
              <a:ext uri="{FF2B5EF4-FFF2-40B4-BE49-F238E27FC236}">
                <a16:creationId xmlns:a16="http://schemas.microsoft.com/office/drawing/2014/main" id="{5052C79A-33E4-452F-8226-4CB36A4D576C}"/>
              </a:ext>
            </a:extLst>
          </p:cNvPr>
          <p:cNvSpPr>
            <a:spLocks noGrp="1"/>
          </p:cNvSpPr>
          <p:nvPr/>
        </p:nvSpPr>
        <p:spPr>
          <a:xfrm>
            <a:off x="1536192" y="1694451"/>
            <a:ext cx="2423160" cy="365760"/>
          </a:xfrm>
          <a:prstGeom prst="rect">
            <a:avLst/>
          </a:prstGeom>
          <a:noFill/>
        </p:spPr>
        <p:txBody>
          <a:bodyPr wrap="square" lIns="0" tIns="0" rIns="0" bIns="0" anchor="t">
            <a:spAutoFit/>
          </a:bodyPr>
          <a:lstStyle/>
          <a:p>
            <a:pPr algn="l">
              <a:spcBef>
                <a:spcPts val="0"/>
              </a:spcBef>
              <a:spcAft>
                <a:spcPts val="0"/>
              </a:spcAft>
              <a:buNone/>
            </a:pPr>
            <a:r>
              <a:rPr sz="1350" b="1" i="0">
                <a:solidFill>
                  <a:srgbClr val="14142B"/>
                </a:solidFill>
                <a:latin typeface="Calibri"/>
                <a:ea typeface="Calibri"/>
                <a:cs typeface="Calibri"/>
              </a:rPr>
              <a:t>Embedding-only retrieval</a:t>
            </a:r>
          </a:p>
        </p:txBody>
      </p:sp>
      <p:sp>
        <p:nvSpPr>
          <p:cNvPr id="6" name="TextBox 5">
            <a:extLst>
              <a:ext uri="{FF2B5EF4-FFF2-40B4-BE49-F238E27FC236}">
                <a16:creationId xmlns:a16="http://schemas.microsoft.com/office/drawing/2014/main" id="{C899273F-9B2B-4DAD-A559-C20237B5100C}"/>
              </a:ext>
            </a:extLst>
          </p:cNvPr>
          <p:cNvSpPr>
            <a:spLocks noGrp="1"/>
          </p:cNvSpPr>
          <p:nvPr/>
        </p:nvSpPr>
        <p:spPr>
          <a:xfrm>
            <a:off x="1078992" y="2224804"/>
            <a:ext cx="2880360" cy="822960"/>
          </a:xfrm>
          <a:prstGeom prst="rect">
            <a:avLst/>
          </a:prstGeom>
          <a:noFill/>
        </p:spPr>
        <p:txBody>
          <a:bodyPr wrap="square" lIns="0" tIns="0" rIns="0" bIns="0" anchor="t">
            <a:spAutoFit/>
          </a:bodyPr>
          <a:lstStyle/>
          <a:p>
            <a:pPr algn="l">
              <a:spcBef>
                <a:spcPts val="0"/>
              </a:spcBef>
              <a:spcAft>
                <a:spcPts val="0"/>
              </a:spcAft>
              <a:buNone/>
            </a:pPr>
            <a:r>
              <a:rPr sz="1150" b="0" i="0">
                <a:solidFill>
                  <a:srgbClr val="63637E"/>
                </a:solidFill>
                <a:latin typeface="Calibri"/>
                <a:ea typeface="Calibri"/>
                <a:cs typeface="Calibri"/>
              </a:rPr>
              <a:t>Matches paraphrases through semantic similarity.</a:t>
            </a:r>
          </a:p>
        </p:txBody>
      </p:sp>
      <p:sp>
        <p:nvSpPr>
          <p:cNvPr id="7" name="Rounded Rectangle 6">
            <a:extLst>
              <a:ext uri="{FF2B5EF4-FFF2-40B4-BE49-F238E27FC236}">
                <a16:creationId xmlns:a16="http://schemas.microsoft.com/office/drawing/2014/main" id="{D3D07D6D-3B45-476B-96AD-8914C9394366}"/>
              </a:ext>
            </a:extLst>
          </p:cNvPr>
          <p:cNvSpPr>
            <a:spLocks noGrp="1"/>
          </p:cNvSpPr>
          <p:nvPr/>
        </p:nvSpPr>
        <p:spPr>
          <a:xfrm>
            <a:off x="1078992" y="2828308"/>
            <a:ext cx="2880360" cy="694944"/>
          </a:xfrm>
          <a:prstGeom prst="roundRect">
            <a:avLst>
              <a:gd name="adj" fmla="val 8000"/>
            </a:avLst>
          </a:prstGeom>
          <a:solidFill>
            <a:srgbClr val="FDF3E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E9A5CF79-4DE9-4D39-B1B2-D173138190CC}"/>
              </a:ext>
            </a:extLst>
          </p:cNvPr>
          <p:cNvSpPr>
            <a:spLocks noGrp="1"/>
          </p:cNvSpPr>
          <p:nvPr/>
        </p:nvSpPr>
        <p:spPr>
          <a:xfrm>
            <a:off x="1225296" y="2938036"/>
            <a:ext cx="2587752" cy="512064"/>
          </a:xfrm>
          <a:prstGeom prst="rect">
            <a:avLst/>
          </a:prstGeom>
          <a:noFill/>
        </p:spPr>
        <p:txBody>
          <a:bodyPr wrap="square" lIns="0" tIns="0" rIns="0" bIns="0" anchor="t">
            <a:spAutoFit/>
          </a:bodyPr>
          <a:lstStyle/>
          <a:p>
            <a:pPr algn="l">
              <a:spcBef>
                <a:spcPts val="0"/>
              </a:spcBef>
              <a:spcAft>
                <a:spcPts val="0"/>
              </a:spcAft>
              <a:buNone/>
            </a:pPr>
            <a:r>
              <a:rPr sz="1050" b="0" i="0">
                <a:solidFill>
                  <a:srgbClr val="A14B0A"/>
                </a:solidFill>
                <a:latin typeface="Calibri"/>
                <a:ea typeface="Calibri"/>
                <a:cs typeface="Calibri"/>
              </a:rPr>
              <a:t>30% agreement with the shipped hybrid. Dense search can drift to a nearby screen.</a:t>
            </a:r>
          </a:p>
        </p:txBody>
      </p:sp>
      <p:sp>
        <p:nvSpPr>
          <p:cNvPr id="9" name="Rounded Rectangle 8">
            <a:extLst>
              <a:ext uri="{FF2B5EF4-FFF2-40B4-BE49-F238E27FC236}">
                <a16:creationId xmlns:a16="http://schemas.microsoft.com/office/drawing/2014/main" id="{B30C9EA7-1230-4E89-9B2D-957723062F68}"/>
              </a:ext>
            </a:extLst>
          </p:cNvPr>
          <p:cNvSpPr>
            <a:spLocks noGrp="1"/>
          </p:cNvSpPr>
          <p:nvPr/>
        </p:nvSpPr>
        <p:spPr>
          <a:xfrm>
            <a:off x="4416552" y="1438420"/>
            <a:ext cx="3355848" cy="2249424"/>
          </a:xfrm>
          <a:prstGeom prst="roundRect">
            <a:avLst>
              <a:gd name="adj" fmla="val 8000"/>
            </a:avLst>
          </a:prstGeom>
          <a:solidFill>
            <a:srgbClr val="F6F4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EEB0A32D-97D7-4DC5-8E70-E58ACC902EC6}"/>
              </a:ext>
            </a:extLst>
          </p:cNvPr>
          <p:cNvSpPr>
            <a:spLocks noGrp="1"/>
          </p:cNvSpPr>
          <p:nvPr/>
        </p:nvSpPr>
        <p:spPr>
          <a:xfrm>
            <a:off x="4654296" y="1676164"/>
            <a:ext cx="365760" cy="365760"/>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1200" b="1">
                <a:solidFill>
                  <a:srgbClr val="FFFFFF"/>
                </a:solidFill>
                <a:latin typeface="Calibri"/>
                <a:ea typeface="Calibri"/>
                <a:cs typeface="Calibri"/>
              </a:rPr>
              <a:t>2</a:t>
            </a:r>
          </a:p>
        </p:txBody>
      </p:sp>
      <p:sp>
        <p:nvSpPr>
          <p:cNvPr id="11" name="TextBox 10">
            <a:extLst>
              <a:ext uri="{FF2B5EF4-FFF2-40B4-BE49-F238E27FC236}">
                <a16:creationId xmlns:a16="http://schemas.microsoft.com/office/drawing/2014/main" id="{E03AABA4-BF27-4455-9BCC-23ED1325729C}"/>
              </a:ext>
            </a:extLst>
          </p:cNvPr>
          <p:cNvSpPr>
            <a:spLocks noGrp="1"/>
          </p:cNvSpPr>
          <p:nvPr/>
        </p:nvSpPr>
        <p:spPr>
          <a:xfrm>
            <a:off x="5111496" y="1694451"/>
            <a:ext cx="2423160" cy="365760"/>
          </a:xfrm>
          <a:prstGeom prst="rect">
            <a:avLst/>
          </a:prstGeom>
          <a:noFill/>
        </p:spPr>
        <p:txBody>
          <a:bodyPr wrap="square" lIns="0" tIns="0" rIns="0" bIns="0" anchor="t">
            <a:spAutoFit/>
          </a:bodyPr>
          <a:lstStyle/>
          <a:p>
            <a:pPr algn="l">
              <a:spcBef>
                <a:spcPts val="0"/>
              </a:spcBef>
              <a:spcAft>
                <a:spcPts val="0"/>
              </a:spcAft>
              <a:buNone/>
            </a:pPr>
            <a:r>
              <a:rPr sz="1350" b="1" i="0">
                <a:solidFill>
                  <a:srgbClr val="14142B"/>
                </a:solidFill>
                <a:latin typeface="Calibri"/>
                <a:ea typeface="Calibri"/>
                <a:cs typeface="Calibri"/>
              </a:rPr>
              <a:t>BM25-only retrieval</a:t>
            </a:r>
          </a:p>
        </p:txBody>
      </p:sp>
      <p:sp>
        <p:nvSpPr>
          <p:cNvPr id="12" name="TextBox 11">
            <a:extLst>
              <a:ext uri="{FF2B5EF4-FFF2-40B4-BE49-F238E27FC236}">
                <a16:creationId xmlns:a16="http://schemas.microsoft.com/office/drawing/2014/main" id="{34072F6F-605B-4D14-9309-5ADA6ACB14F4}"/>
              </a:ext>
            </a:extLst>
          </p:cNvPr>
          <p:cNvSpPr>
            <a:spLocks noGrp="1"/>
          </p:cNvSpPr>
          <p:nvPr/>
        </p:nvSpPr>
        <p:spPr>
          <a:xfrm>
            <a:off x="4654296" y="2224804"/>
            <a:ext cx="2880360" cy="822960"/>
          </a:xfrm>
          <a:prstGeom prst="rect">
            <a:avLst/>
          </a:prstGeom>
          <a:noFill/>
        </p:spPr>
        <p:txBody>
          <a:bodyPr wrap="square" lIns="0" tIns="0" rIns="0" bIns="0" anchor="t">
            <a:spAutoFit/>
          </a:bodyPr>
          <a:lstStyle/>
          <a:p>
            <a:pPr algn="l">
              <a:spcBef>
                <a:spcPts val="0"/>
              </a:spcBef>
              <a:spcAft>
                <a:spcPts val="0"/>
              </a:spcAft>
              <a:buNone/>
            </a:pPr>
            <a:r>
              <a:rPr sz="1150" b="0" i="0">
                <a:solidFill>
                  <a:srgbClr val="63637E"/>
                </a:solidFill>
                <a:latin typeface="Calibri"/>
                <a:ea typeface="Calibri"/>
                <a:cs typeface="Calibri"/>
              </a:rPr>
              <a:t>Matches exact Samsung terms and feature names.</a:t>
            </a:r>
          </a:p>
        </p:txBody>
      </p:sp>
      <p:sp>
        <p:nvSpPr>
          <p:cNvPr id="13" name="Rounded Rectangle 12">
            <a:extLst>
              <a:ext uri="{FF2B5EF4-FFF2-40B4-BE49-F238E27FC236}">
                <a16:creationId xmlns:a16="http://schemas.microsoft.com/office/drawing/2014/main" id="{637E6261-EFAC-45AB-8F4E-E8DE91C43BF4}"/>
              </a:ext>
            </a:extLst>
          </p:cNvPr>
          <p:cNvSpPr>
            <a:spLocks noGrp="1"/>
          </p:cNvSpPr>
          <p:nvPr/>
        </p:nvSpPr>
        <p:spPr>
          <a:xfrm>
            <a:off x="4654296" y="2828308"/>
            <a:ext cx="2880360" cy="694944"/>
          </a:xfrm>
          <a:prstGeom prst="roundRect">
            <a:avLst>
              <a:gd name="adj" fmla="val 8000"/>
            </a:avLst>
          </a:prstGeom>
          <a:solidFill>
            <a:srgbClr val="FDF3E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B988434F-8E34-4F16-A9CA-2C9919F0C38E}"/>
              </a:ext>
            </a:extLst>
          </p:cNvPr>
          <p:cNvSpPr>
            <a:spLocks noGrp="1"/>
          </p:cNvSpPr>
          <p:nvPr/>
        </p:nvSpPr>
        <p:spPr>
          <a:xfrm>
            <a:off x="4800600" y="2938036"/>
            <a:ext cx="2587752" cy="512064"/>
          </a:xfrm>
          <a:prstGeom prst="rect">
            <a:avLst/>
          </a:prstGeom>
          <a:noFill/>
        </p:spPr>
        <p:txBody>
          <a:bodyPr wrap="square" lIns="0" tIns="0" rIns="0" bIns="0" anchor="t">
            <a:spAutoFit/>
          </a:bodyPr>
          <a:lstStyle/>
          <a:p>
            <a:pPr algn="l">
              <a:spcBef>
                <a:spcPts val="0"/>
              </a:spcBef>
              <a:spcAft>
                <a:spcPts val="0"/>
              </a:spcAft>
              <a:buNone/>
            </a:pPr>
            <a:r>
              <a:rPr sz="1050" b="0" i="0">
                <a:solidFill>
                  <a:srgbClr val="A14B0A"/>
                </a:solidFill>
                <a:latin typeface="Calibri"/>
                <a:ea typeface="Calibri"/>
                <a:cs typeface="Calibri"/>
              </a:rPr>
              <a:t>25% agreement with the shipped hybrid. Differently worded screens are easy to miss.</a:t>
            </a:r>
          </a:p>
        </p:txBody>
      </p:sp>
      <p:sp>
        <p:nvSpPr>
          <p:cNvPr id="15" name="Rounded Rectangle 14">
            <a:extLst>
              <a:ext uri="{FF2B5EF4-FFF2-40B4-BE49-F238E27FC236}">
                <a16:creationId xmlns:a16="http://schemas.microsoft.com/office/drawing/2014/main" id="{7CC472DD-F268-4750-9B5D-097C6ED7649F}"/>
              </a:ext>
            </a:extLst>
          </p:cNvPr>
          <p:cNvSpPr>
            <a:spLocks noGrp="1"/>
          </p:cNvSpPr>
          <p:nvPr/>
        </p:nvSpPr>
        <p:spPr>
          <a:xfrm>
            <a:off x="7991856" y="1438420"/>
            <a:ext cx="3355848" cy="2249424"/>
          </a:xfrm>
          <a:prstGeom prst="roundRect">
            <a:avLst>
              <a:gd name="adj" fmla="val 8000"/>
            </a:avLst>
          </a:prstGeom>
          <a:solidFill>
            <a:srgbClr val="F6F4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Oval 15">
            <a:extLst>
              <a:ext uri="{FF2B5EF4-FFF2-40B4-BE49-F238E27FC236}">
                <a16:creationId xmlns:a16="http://schemas.microsoft.com/office/drawing/2014/main" id="{351C34B2-88E1-4B05-922B-89B8D2E20313}"/>
              </a:ext>
            </a:extLst>
          </p:cNvPr>
          <p:cNvSpPr>
            <a:spLocks noGrp="1"/>
          </p:cNvSpPr>
          <p:nvPr/>
        </p:nvSpPr>
        <p:spPr>
          <a:xfrm>
            <a:off x="8229600" y="1676164"/>
            <a:ext cx="365760" cy="365760"/>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1200" b="1">
                <a:solidFill>
                  <a:srgbClr val="FFFFFF"/>
                </a:solidFill>
                <a:latin typeface="Calibri"/>
                <a:ea typeface="Calibri"/>
                <a:cs typeface="Calibri"/>
              </a:rPr>
              <a:t>3</a:t>
            </a:r>
          </a:p>
        </p:txBody>
      </p:sp>
      <p:sp>
        <p:nvSpPr>
          <p:cNvPr id="17" name="TextBox 16">
            <a:extLst>
              <a:ext uri="{FF2B5EF4-FFF2-40B4-BE49-F238E27FC236}">
                <a16:creationId xmlns:a16="http://schemas.microsoft.com/office/drawing/2014/main" id="{05A3D446-7DFE-45F7-B3EF-43582B3D9E78}"/>
              </a:ext>
            </a:extLst>
          </p:cNvPr>
          <p:cNvSpPr>
            <a:spLocks noGrp="1"/>
          </p:cNvSpPr>
          <p:nvPr/>
        </p:nvSpPr>
        <p:spPr>
          <a:xfrm>
            <a:off x="8686800" y="1694451"/>
            <a:ext cx="2423160" cy="365760"/>
          </a:xfrm>
          <a:prstGeom prst="rect">
            <a:avLst/>
          </a:prstGeom>
          <a:noFill/>
        </p:spPr>
        <p:txBody>
          <a:bodyPr wrap="square" lIns="0" tIns="0" rIns="0" bIns="0" anchor="t">
            <a:spAutoFit/>
          </a:bodyPr>
          <a:lstStyle/>
          <a:p>
            <a:pPr algn="l">
              <a:spcBef>
                <a:spcPts val="0"/>
              </a:spcBef>
              <a:spcAft>
                <a:spcPts val="0"/>
              </a:spcAft>
              <a:buNone/>
            </a:pPr>
            <a:r>
              <a:rPr sz="1350" b="1" i="0">
                <a:solidFill>
                  <a:srgbClr val="14142B"/>
                </a:solidFill>
                <a:latin typeface="Calibri"/>
                <a:ea typeface="Calibri"/>
                <a:cs typeface="Calibri"/>
              </a:rPr>
              <a:t>Single-key semantic cache</a:t>
            </a:r>
          </a:p>
        </p:txBody>
      </p:sp>
      <p:sp>
        <p:nvSpPr>
          <p:cNvPr id="18" name="TextBox 17">
            <a:extLst>
              <a:ext uri="{FF2B5EF4-FFF2-40B4-BE49-F238E27FC236}">
                <a16:creationId xmlns:a16="http://schemas.microsoft.com/office/drawing/2014/main" id="{795C0BA0-D0A4-416E-9A69-ED727E116383}"/>
              </a:ext>
            </a:extLst>
          </p:cNvPr>
          <p:cNvSpPr>
            <a:spLocks noGrp="1"/>
          </p:cNvSpPr>
          <p:nvPr/>
        </p:nvSpPr>
        <p:spPr>
          <a:xfrm>
            <a:off x="8229600" y="2224804"/>
            <a:ext cx="2880360" cy="822960"/>
          </a:xfrm>
          <a:prstGeom prst="rect">
            <a:avLst/>
          </a:prstGeom>
          <a:noFill/>
        </p:spPr>
        <p:txBody>
          <a:bodyPr wrap="square" lIns="0" tIns="0" rIns="0" bIns="0" anchor="t">
            <a:spAutoFit/>
          </a:bodyPr>
          <a:lstStyle/>
          <a:p>
            <a:pPr algn="l">
              <a:spcBef>
                <a:spcPts val="0"/>
              </a:spcBef>
              <a:spcAft>
                <a:spcPts val="0"/>
              </a:spcAft>
              <a:buNone/>
            </a:pPr>
            <a:r>
              <a:rPr sz="1150" b="0" i="0">
                <a:solidFill>
                  <a:srgbClr val="63637E"/>
                </a:solidFill>
                <a:latin typeface="Calibri"/>
                <a:ea typeface="Calibri"/>
                <a:cs typeface="Calibri"/>
              </a:rPr>
              <a:t>Stores one canonical vector for each plan.</a:t>
            </a:r>
          </a:p>
        </p:txBody>
      </p:sp>
      <p:sp>
        <p:nvSpPr>
          <p:cNvPr id="19" name="Rounded Rectangle 18">
            <a:extLst>
              <a:ext uri="{FF2B5EF4-FFF2-40B4-BE49-F238E27FC236}">
                <a16:creationId xmlns:a16="http://schemas.microsoft.com/office/drawing/2014/main" id="{34B251B9-E771-4866-999A-F013EE966C9C}"/>
              </a:ext>
            </a:extLst>
          </p:cNvPr>
          <p:cNvSpPr>
            <a:spLocks noGrp="1"/>
          </p:cNvSpPr>
          <p:nvPr/>
        </p:nvSpPr>
        <p:spPr>
          <a:xfrm>
            <a:off x="8229600" y="2828308"/>
            <a:ext cx="2880360" cy="694944"/>
          </a:xfrm>
          <a:prstGeom prst="roundRect">
            <a:avLst>
              <a:gd name="adj" fmla="val 8000"/>
            </a:avLst>
          </a:prstGeom>
          <a:solidFill>
            <a:srgbClr val="FDF3E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632251D-42CC-467B-BA71-99E216FAE7A4}"/>
              </a:ext>
            </a:extLst>
          </p:cNvPr>
          <p:cNvSpPr>
            <a:spLocks noGrp="1"/>
          </p:cNvSpPr>
          <p:nvPr/>
        </p:nvSpPr>
        <p:spPr>
          <a:xfrm>
            <a:off x="8375904" y="2938036"/>
            <a:ext cx="2587752" cy="512064"/>
          </a:xfrm>
          <a:prstGeom prst="rect">
            <a:avLst/>
          </a:prstGeom>
          <a:noFill/>
        </p:spPr>
        <p:txBody>
          <a:bodyPr wrap="square" lIns="0" tIns="0" rIns="0" bIns="0" anchor="t">
            <a:spAutoFit/>
          </a:bodyPr>
          <a:lstStyle/>
          <a:p>
            <a:pPr algn="l">
              <a:spcBef>
                <a:spcPts val="0"/>
              </a:spcBef>
              <a:spcAft>
                <a:spcPts val="0"/>
              </a:spcAft>
              <a:buNone/>
            </a:pPr>
            <a:r>
              <a:rPr sz="1050" b="0" i="0">
                <a:solidFill>
                  <a:srgbClr val="A14B0A"/>
                </a:solidFill>
                <a:latin typeface="Calibri"/>
                <a:ea typeface="Calibri"/>
                <a:cs typeface="Calibri"/>
              </a:rPr>
              <a:t>One measured rewording scored 0.6909 against its canonical key, below the 0.78 hit threshold.</a:t>
            </a:r>
          </a:p>
        </p:txBody>
      </p:sp>
      <p:sp>
        <p:nvSpPr>
          <p:cNvPr id="21" name="Rounded Rectangle 20">
            <a:extLst>
              <a:ext uri="{FF2B5EF4-FFF2-40B4-BE49-F238E27FC236}">
                <a16:creationId xmlns:a16="http://schemas.microsoft.com/office/drawing/2014/main" id="{0A2389F7-AB33-4555-9A26-94D11BDC5CBC}"/>
              </a:ext>
            </a:extLst>
          </p:cNvPr>
          <p:cNvSpPr>
            <a:spLocks noGrp="1"/>
          </p:cNvSpPr>
          <p:nvPr/>
        </p:nvSpPr>
        <p:spPr>
          <a:xfrm>
            <a:off x="841248" y="3925588"/>
            <a:ext cx="10506456" cy="1115568"/>
          </a:xfrm>
          <a:prstGeom prst="roundRect">
            <a:avLst>
              <a:gd name="adj" fmla="val 8000"/>
            </a:avLst>
          </a:prstGeom>
          <a:solidFill>
            <a:srgbClr val="ECE9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0DD56CE-49EC-45E6-994D-7EB152A9E759}"/>
              </a:ext>
            </a:extLst>
          </p:cNvPr>
          <p:cNvSpPr>
            <a:spLocks noGrp="1"/>
          </p:cNvSpPr>
          <p:nvPr/>
        </p:nvSpPr>
        <p:spPr>
          <a:xfrm>
            <a:off x="1115568" y="4108468"/>
            <a:ext cx="9957816" cy="786384"/>
          </a:xfrm>
          <a:prstGeom prst="rect">
            <a:avLst/>
          </a:prstGeom>
          <a:noFill/>
        </p:spPr>
        <p:txBody>
          <a:bodyPr wrap="square" lIns="0" tIns="0" rIns="0" bIns="0" anchor="t">
            <a:spAutoFit/>
          </a:bodyPr>
          <a:lstStyle/>
          <a:p>
            <a:pPr algn="l">
              <a:spcBef>
                <a:spcPts val="0"/>
              </a:spcBef>
              <a:spcAft>
                <a:spcPts val="700"/>
              </a:spcAft>
              <a:buNone/>
            </a:pPr>
            <a:r>
              <a:rPr sz="1400" b="1" i="0">
                <a:solidFill>
                  <a:srgbClr val="14142B"/>
                </a:solidFill>
                <a:latin typeface="Calibri"/>
                <a:ea typeface="Calibri"/>
                <a:cs typeface="Calibri"/>
              </a:rPr>
              <a:t>The gap addressed by this project</a:t>
            </a:r>
          </a:p>
          <a:p>
            <a:pPr algn="l">
              <a:spcBef>
                <a:spcPts val="0"/>
              </a:spcBef>
              <a:spcAft>
                <a:spcPts val="0"/>
              </a:spcAft>
              <a:buNone/>
            </a:pPr>
            <a:r>
              <a:rPr sz="1200" b="0" i="0">
                <a:solidFill>
                  <a:srgbClr val="63637E"/>
                </a:solidFill>
                <a:latin typeface="Calibri"/>
                <a:ea typeface="Calibri"/>
                <a:cs typeface="Calibri"/>
              </a:rPr>
              <a:t>Dense and BM25 retrieval propose candidates together. Deterministic checks verify the screen. The cache indexes canonical text, original wording and generated paraphrases, then rejects a near-tie instead of guessing.</a:t>
            </a:r>
          </a:p>
        </p:txBody>
      </p:sp>
      <p:sp>
        <p:nvSpPr>
          <p:cNvPr id="23" name="Rounded Rectangle 22"/>
          <p:cNvSpPr/>
          <p:nvPr/>
        </p:nvSpPr>
        <p:spPr>
          <a:xfrm>
            <a:off x="841248" y="5150884"/>
            <a:ext cx="10506456" cy="1316736"/>
          </a:xfrm>
          <a:prstGeom prst="roundRect">
            <a:avLst>
              <a:gd name="adj" fmla="val 10000"/>
            </a:avLst>
          </a:prstGeom>
          <a:solidFill>
            <a:srgbClr val="ECE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15568" y="5333764"/>
            <a:ext cx="9957816" cy="201168"/>
          </a:xfrm>
          <a:prstGeom prst="rect">
            <a:avLst/>
          </a:prstGeom>
          <a:noFill/>
        </p:spPr>
        <p:txBody>
          <a:bodyPr wrap="square" lIns="0" tIns="0" rIns="0" bIns="0" anchor="t">
            <a:spAutoFit/>
          </a:bodyPr>
          <a:lstStyle/>
          <a:p>
            <a:pPr algn="l">
              <a:spcBef>
                <a:spcPts val="0"/>
              </a:spcBef>
              <a:spcAft>
                <a:spcPts val="0"/>
              </a:spcAft>
            </a:pPr>
            <a:r>
              <a:rPr sz="900" b="1" i="0">
                <a:solidFill>
                  <a:srgbClr val="704EA6"/>
                </a:solidFill>
                <a:latin typeface="Calibri"/>
              </a:rPr>
              <a:t>WHY A SIMILARITY THRESHOLD ALONE IS NOT ENOUGH</a:t>
            </a:r>
          </a:p>
        </p:txBody>
      </p:sp>
      <p:sp>
        <p:nvSpPr>
          <p:cNvPr id="25" name="TextBox 24"/>
          <p:cNvSpPr txBox="1"/>
          <p:nvPr/>
        </p:nvSpPr>
        <p:spPr>
          <a:xfrm>
            <a:off x="1115568" y="5626372"/>
            <a:ext cx="3136392"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34 of 190</a:t>
            </a:r>
          </a:p>
        </p:txBody>
      </p:sp>
      <p:sp>
        <p:nvSpPr>
          <p:cNvPr id="26" name="TextBox 25"/>
          <p:cNvSpPr txBox="1"/>
          <p:nvPr/>
        </p:nvSpPr>
        <p:spPr>
          <a:xfrm>
            <a:off x="1115568" y="5873260"/>
            <a:ext cx="3136392" cy="484631"/>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Pairs of different official problems that already exceed the 0.78 threshold</a:t>
            </a:r>
          </a:p>
        </p:txBody>
      </p:sp>
      <p:sp>
        <p:nvSpPr>
          <p:cNvPr id="27" name="TextBox 26"/>
          <p:cNvSpPr txBox="1"/>
          <p:nvPr/>
        </p:nvSpPr>
        <p:spPr>
          <a:xfrm>
            <a:off x="4526280" y="5626372"/>
            <a:ext cx="3136392"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0.6909 → 0.8200</a:t>
            </a:r>
          </a:p>
        </p:txBody>
      </p:sp>
      <p:sp>
        <p:nvSpPr>
          <p:cNvPr id="28" name="TextBox 27"/>
          <p:cNvSpPr txBox="1"/>
          <p:nvPr/>
        </p:nvSpPr>
        <p:spPr>
          <a:xfrm>
            <a:off x="4526280" y="5873260"/>
            <a:ext cx="3136392" cy="484631"/>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One rewording against its canonical key, then against a stored paraphrase of the same plan</a:t>
            </a:r>
          </a:p>
        </p:txBody>
      </p:sp>
      <p:sp>
        <p:nvSpPr>
          <p:cNvPr id="29" name="TextBox 28"/>
          <p:cNvSpPr txBox="1"/>
          <p:nvPr/>
        </p:nvSpPr>
        <p:spPr>
          <a:xfrm>
            <a:off x="7936992" y="5626372"/>
            <a:ext cx="3136392"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0.1258</a:t>
            </a:r>
          </a:p>
        </p:txBody>
      </p:sp>
      <p:sp>
        <p:nvSpPr>
          <p:cNvPr id="30" name="TextBox 29"/>
          <p:cNvSpPr txBox="1"/>
          <p:nvPr/>
        </p:nvSpPr>
        <p:spPr>
          <a:xfrm>
            <a:off x="7936992" y="5873260"/>
            <a:ext cx="3136392" cy="484631"/>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Smallest runner-up margin measured for an exact query, against the 0.05 gate</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sz="2900" b="1">
                <a:solidFill>
                  <a:srgbClr val="704EA6"/>
                </a:solidFill>
                <a:latin typeface="Calibri"/>
                <a:ea typeface="Calibri"/>
                <a:cs typeface="Calibri"/>
              </a:rPr>
              <a:t>Our Solution &amp; Architecture</a:t>
            </a:r>
          </a:p>
        </p:txBody>
      </p:sp>
      <p:sp>
        <p:nvSpPr>
          <p:cNvPr id="3" name="arch-subtitle">
            <a:extLst>
              <a:ext uri="{FF2B5EF4-FFF2-40B4-BE49-F238E27FC236}">
                <a16:creationId xmlns:a16="http://schemas.microsoft.com/office/drawing/2014/main" id="{1B2E4F6D-4ED8-4CEB-A847-9226D45884D9}"/>
              </a:ext>
            </a:extLst>
          </p:cNvPr>
          <p:cNvSpPr>
            <a:spLocks noGrp="1"/>
          </p:cNvSpPr>
          <p:nvPr/>
        </p:nvSpPr>
        <p:spPr>
          <a:xfrm>
            <a:off x="809625" y="1238250"/>
            <a:ext cx="10572750" cy="361950"/>
          </a:xfrm>
          <a:prstGeom prst="rect">
            <a:avLst/>
          </a:prstGeom>
          <a:noFill/>
          <a:ln w="0">
            <a:noFill/>
          </a:ln>
        </p:spPr>
        <p:txBody>
          <a:bodyPr anchor="ctr">
            <a:normAutofit/>
          </a:bodyPr>
          <a:lstStyle/>
          <a:p>
            <a:pPr algn="ctr">
              <a:defRPr sz="1350" b="0">
                <a:solidFill>
                  <a:srgbClr val="625C79"/>
                </a:solidFill>
                <a:latin typeface="Calibri"/>
                <a:ea typeface="Calibri"/>
                <a:cs typeface="Calibri"/>
              </a:defRPr>
            </a:pPr>
            <a:r>
              <a:rPr sz="1350" b="0" dirty="0">
                <a:solidFill>
                  <a:srgbClr val="625C79"/>
                </a:solidFill>
                <a:latin typeface="Calibri"/>
                <a:ea typeface="Calibri"/>
                <a:cs typeface="Calibri"/>
              </a:rPr>
              <a:t>Cache first on every request; GenAI runs only on a miss, and deterministic code decides what may be served.</a:t>
            </a:r>
          </a:p>
        </p:txBody>
      </p:sp>
      <p:sp>
        <p:nvSpPr>
          <p:cNvPr id="4" name="arch-top-card-1">
            <a:extLst>
              <a:ext uri="{FF2B5EF4-FFF2-40B4-BE49-F238E27FC236}">
                <a16:creationId xmlns:a16="http://schemas.microsoft.com/office/drawing/2014/main" id="{534FCF39-F145-4A06-9C68-39E53BEF7AAB}"/>
              </a:ext>
            </a:extLst>
          </p:cNvPr>
          <p:cNvSpPr>
            <a:spLocks noGrp="1"/>
          </p:cNvSpPr>
          <p:nvPr/>
        </p:nvSpPr>
        <p:spPr>
          <a:xfrm>
            <a:off x="552446" y="1962157"/>
            <a:ext cx="1809750" cy="1123950"/>
          </a:xfrm>
          <a:prstGeom prst="roundRect">
            <a:avLst>
              <a:gd name="adj" fmla="val 11864"/>
            </a:avLst>
          </a:prstGeom>
          <a:solidFill>
            <a:srgbClr val="F4F0FC"/>
          </a:solidFill>
          <a:ln w="9525">
            <a:solidFill>
              <a:srgbClr val="DDD5EF"/>
            </a:solidFill>
          </a:ln>
        </p:spPr>
      </p:sp>
      <p:sp>
        <p:nvSpPr>
          <p:cNvPr id="5" name="arch-top-head-1">
            <a:extLst>
              <a:ext uri="{FF2B5EF4-FFF2-40B4-BE49-F238E27FC236}">
                <a16:creationId xmlns:a16="http://schemas.microsoft.com/office/drawing/2014/main" id="{0674628A-3092-4255-A686-7BE21FAE1955}"/>
              </a:ext>
            </a:extLst>
          </p:cNvPr>
          <p:cNvSpPr>
            <a:spLocks noGrp="1"/>
          </p:cNvSpPr>
          <p:nvPr/>
        </p:nvSpPr>
        <p:spPr>
          <a:xfrm>
            <a:off x="666746" y="2095507"/>
            <a:ext cx="1581150" cy="323850"/>
          </a:xfrm>
          <a:prstGeom prst="rect">
            <a:avLst/>
          </a:prstGeom>
          <a:noFill/>
          <a:ln w="0">
            <a:noFill/>
          </a:ln>
        </p:spPr>
        <p:txBody>
          <a:bodyPr anchor="ctr">
            <a:normAutofit/>
          </a:bodyPr>
          <a:lstStyle/>
          <a:p>
            <a:pPr algn="ctr">
              <a:defRPr sz="1350" b="1">
                <a:solidFill>
                  <a:srgbClr val="6D2BE8"/>
                </a:solidFill>
                <a:latin typeface="Calibri"/>
                <a:ea typeface="Calibri"/>
                <a:cs typeface="Calibri"/>
              </a:defRPr>
            </a:pPr>
            <a:r>
              <a:rPr sz="1350" b="1">
                <a:solidFill>
                  <a:srgbClr val="6D2BE8"/>
                </a:solidFill>
                <a:latin typeface="Calibri"/>
                <a:ea typeface="Calibri"/>
                <a:cs typeface="Calibri"/>
              </a:rPr>
              <a:t>User</a:t>
            </a:r>
          </a:p>
        </p:txBody>
      </p:sp>
      <p:sp>
        <p:nvSpPr>
          <p:cNvPr id="6" name="arch-top-body-1">
            <a:extLst>
              <a:ext uri="{FF2B5EF4-FFF2-40B4-BE49-F238E27FC236}">
                <a16:creationId xmlns:a16="http://schemas.microsoft.com/office/drawing/2014/main" id="{BE0D2F3E-1F08-4575-A88A-5853C8129137}"/>
              </a:ext>
            </a:extLst>
          </p:cNvPr>
          <p:cNvSpPr>
            <a:spLocks noGrp="1"/>
          </p:cNvSpPr>
          <p:nvPr/>
        </p:nvSpPr>
        <p:spPr>
          <a:xfrm>
            <a:off x="666746" y="2457457"/>
            <a:ext cx="1581150" cy="438150"/>
          </a:xfrm>
          <a:prstGeom prst="rect">
            <a:avLst/>
          </a:prstGeom>
          <a:noFill/>
          <a:ln w="0">
            <a:noFill/>
          </a:ln>
        </p:spPr>
        <p:txBody>
          <a:bodyPr anchor="ctr">
            <a:normAutofit/>
          </a:bodyPr>
          <a:lstStyle/>
          <a:p>
            <a:pPr algn="ctr">
              <a:defRPr sz="1050" b="0">
                <a:solidFill>
                  <a:srgbClr val="625C79"/>
                </a:solidFill>
                <a:latin typeface="Calibri"/>
                <a:ea typeface="Calibri"/>
                <a:cs typeface="Calibri"/>
              </a:defRPr>
            </a:pPr>
            <a:r>
              <a:rPr sz="1050" b="0">
                <a:solidFill>
                  <a:srgbClr val="625C79"/>
                </a:solidFill>
                <a:latin typeface="Calibri"/>
                <a:ea typeface="Calibri"/>
                <a:cs typeface="Calibri"/>
              </a:rPr>
              <a:t>Complaint + optional SIIS</a:t>
            </a:r>
          </a:p>
        </p:txBody>
      </p:sp>
      <p:sp>
        <p:nvSpPr>
          <p:cNvPr id="7" name="arch-top-arrow-1">
            <a:extLst>
              <a:ext uri="{FF2B5EF4-FFF2-40B4-BE49-F238E27FC236}">
                <a16:creationId xmlns:a16="http://schemas.microsoft.com/office/drawing/2014/main" id="{E9EBE313-F21B-4171-8862-A06B3497873A}"/>
              </a:ext>
            </a:extLst>
          </p:cNvPr>
          <p:cNvSpPr>
            <a:spLocks noGrp="1"/>
          </p:cNvSpPr>
          <p:nvPr/>
        </p:nvSpPr>
        <p:spPr>
          <a:xfrm>
            <a:off x="2400296" y="2305057"/>
            <a:ext cx="438150" cy="419100"/>
          </a:xfrm>
          <a:prstGeom prst="rect">
            <a:avLst/>
          </a:prstGeom>
          <a:noFill/>
          <a:ln w="0">
            <a:noFill/>
          </a:ln>
        </p:spPr>
        <p:txBody>
          <a:bodyPr anchor="ctr">
            <a:normAutofit/>
          </a:bodyPr>
          <a:lstStyle/>
          <a:p>
            <a:pPr algn="ctr">
              <a:defRPr sz="2100" b="1">
                <a:solidFill>
                  <a:srgbClr val="CFC3E9"/>
                </a:solidFill>
                <a:latin typeface="Calibri"/>
                <a:ea typeface="Calibri"/>
                <a:cs typeface="Calibri"/>
              </a:defRPr>
            </a:pPr>
            <a:r>
              <a:rPr sz="2100" b="1">
                <a:solidFill>
                  <a:srgbClr val="CFC3E9"/>
                </a:solidFill>
                <a:latin typeface="Calibri"/>
                <a:ea typeface="Calibri"/>
                <a:cs typeface="Calibri"/>
              </a:rPr>
              <a:t>→</a:t>
            </a:r>
          </a:p>
        </p:txBody>
      </p:sp>
      <p:sp>
        <p:nvSpPr>
          <p:cNvPr id="8" name="arch-top-card-2">
            <a:extLst>
              <a:ext uri="{FF2B5EF4-FFF2-40B4-BE49-F238E27FC236}">
                <a16:creationId xmlns:a16="http://schemas.microsoft.com/office/drawing/2014/main" id="{D697E537-CA0F-4667-9C52-B4C54498C04D}"/>
              </a:ext>
            </a:extLst>
          </p:cNvPr>
          <p:cNvSpPr>
            <a:spLocks noGrp="1"/>
          </p:cNvSpPr>
          <p:nvPr/>
        </p:nvSpPr>
        <p:spPr>
          <a:xfrm>
            <a:off x="2876546" y="1962157"/>
            <a:ext cx="1809750" cy="1123950"/>
          </a:xfrm>
          <a:prstGeom prst="roundRect">
            <a:avLst>
              <a:gd name="adj" fmla="val 11864"/>
            </a:avLst>
          </a:prstGeom>
          <a:solidFill>
            <a:srgbClr val="F4F0FC"/>
          </a:solidFill>
          <a:ln w="9525">
            <a:solidFill>
              <a:srgbClr val="DDD5EF"/>
            </a:solidFill>
          </a:ln>
        </p:spPr>
      </p:sp>
      <p:sp>
        <p:nvSpPr>
          <p:cNvPr id="9" name="arch-top-head-2">
            <a:extLst>
              <a:ext uri="{FF2B5EF4-FFF2-40B4-BE49-F238E27FC236}">
                <a16:creationId xmlns:a16="http://schemas.microsoft.com/office/drawing/2014/main" id="{1C00C5EB-76FE-4648-B354-AA9549560DB0}"/>
              </a:ext>
            </a:extLst>
          </p:cNvPr>
          <p:cNvSpPr>
            <a:spLocks noGrp="1"/>
          </p:cNvSpPr>
          <p:nvPr/>
        </p:nvSpPr>
        <p:spPr>
          <a:xfrm>
            <a:off x="2990846" y="2095507"/>
            <a:ext cx="1581150" cy="323850"/>
          </a:xfrm>
          <a:prstGeom prst="rect">
            <a:avLst/>
          </a:prstGeom>
          <a:noFill/>
          <a:ln w="0">
            <a:noFill/>
          </a:ln>
        </p:spPr>
        <p:txBody>
          <a:bodyPr anchor="ctr">
            <a:normAutofit/>
          </a:bodyPr>
          <a:lstStyle/>
          <a:p>
            <a:pPr algn="ctr">
              <a:defRPr sz="1350" b="1">
                <a:solidFill>
                  <a:srgbClr val="6D2BE8"/>
                </a:solidFill>
                <a:latin typeface="Calibri"/>
                <a:ea typeface="Calibri"/>
                <a:cs typeface="Calibri"/>
              </a:defRPr>
            </a:pPr>
            <a:r>
              <a:rPr sz="1350" b="1">
                <a:solidFill>
                  <a:srgbClr val="6D2BE8"/>
                </a:solidFill>
                <a:latin typeface="Calibri"/>
                <a:ea typeface="Calibri"/>
                <a:cs typeface="Calibri"/>
              </a:rPr>
              <a:t>Web UI + FastAPI</a:t>
            </a:r>
          </a:p>
        </p:txBody>
      </p:sp>
      <p:sp>
        <p:nvSpPr>
          <p:cNvPr id="10" name="arch-top-body-2">
            <a:extLst>
              <a:ext uri="{FF2B5EF4-FFF2-40B4-BE49-F238E27FC236}">
                <a16:creationId xmlns:a16="http://schemas.microsoft.com/office/drawing/2014/main" id="{B2C38501-8E6C-42B8-83B9-6991085CBF9C}"/>
              </a:ext>
            </a:extLst>
          </p:cNvPr>
          <p:cNvSpPr>
            <a:spLocks noGrp="1"/>
          </p:cNvSpPr>
          <p:nvPr/>
        </p:nvSpPr>
        <p:spPr>
          <a:xfrm>
            <a:off x="2990846" y="2457457"/>
            <a:ext cx="1581150" cy="438150"/>
          </a:xfrm>
          <a:prstGeom prst="rect">
            <a:avLst/>
          </a:prstGeom>
          <a:noFill/>
          <a:ln w="0">
            <a:noFill/>
          </a:ln>
        </p:spPr>
        <p:txBody>
          <a:bodyPr anchor="ctr">
            <a:normAutofit/>
          </a:bodyPr>
          <a:lstStyle/>
          <a:p>
            <a:pPr algn="ctr">
              <a:defRPr sz="1050" b="0">
                <a:solidFill>
                  <a:srgbClr val="625C79"/>
                </a:solidFill>
                <a:latin typeface="Calibri"/>
                <a:ea typeface="Calibri"/>
                <a:cs typeface="Calibri"/>
              </a:defRPr>
            </a:pPr>
            <a:r>
              <a:rPr sz="1050" b="0">
                <a:solidFill>
                  <a:srgbClr val="625C79"/>
                </a:solidFill>
                <a:latin typeface="Calibri"/>
                <a:ea typeface="Calibri"/>
                <a:cs typeface="Calibri"/>
              </a:rPr>
              <a:t>POST /v1/troubleshoot</a:t>
            </a:r>
          </a:p>
        </p:txBody>
      </p:sp>
      <p:sp>
        <p:nvSpPr>
          <p:cNvPr id="11" name="arch-top-arrow-2">
            <a:extLst>
              <a:ext uri="{FF2B5EF4-FFF2-40B4-BE49-F238E27FC236}">
                <a16:creationId xmlns:a16="http://schemas.microsoft.com/office/drawing/2014/main" id="{2AFC5D0B-213B-4627-8731-885A1B035439}"/>
              </a:ext>
            </a:extLst>
          </p:cNvPr>
          <p:cNvSpPr>
            <a:spLocks noGrp="1"/>
          </p:cNvSpPr>
          <p:nvPr/>
        </p:nvSpPr>
        <p:spPr>
          <a:xfrm>
            <a:off x="4724396" y="2305057"/>
            <a:ext cx="438150" cy="419100"/>
          </a:xfrm>
          <a:prstGeom prst="rect">
            <a:avLst/>
          </a:prstGeom>
          <a:noFill/>
          <a:ln w="0">
            <a:noFill/>
          </a:ln>
        </p:spPr>
        <p:txBody>
          <a:bodyPr anchor="ctr">
            <a:normAutofit/>
          </a:bodyPr>
          <a:lstStyle/>
          <a:p>
            <a:pPr algn="ctr">
              <a:defRPr sz="2100" b="1">
                <a:solidFill>
                  <a:srgbClr val="CFC3E9"/>
                </a:solidFill>
                <a:latin typeface="Calibri"/>
                <a:ea typeface="Calibri"/>
                <a:cs typeface="Calibri"/>
              </a:defRPr>
            </a:pPr>
            <a:r>
              <a:rPr sz="2100" b="1">
                <a:solidFill>
                  <a:srgbClr val="CFC3E9"/>
                </a:solidFill>
                <a:latin typeface="Calibri"/>
                <a:ea typeface="Calibri"/>
                <a:cs typeface="Calibri"/>
              </a:rPr>
              <a:t>→</a:t>
            </a:r>
          </a:p>
        </p:txBody>
      </p:sp>
      <p:sp>
        <p:nvSpPr>
          <p:cNvPr id="12" name="arch-top-card-3">
            <a:extLst>
              <a:ext uri="{FF2B5EF4-FFF2-40B4-BE49-F238E27FC236}">
                <a16:creationId xmlns:a16="http://schemas.microsoft.com/office/drawing/2014/main" id="{82B976F0-493D-43FE-A226-0F6F27760884}"/>
              </a:ext>
            </a:extLst>
          </p:cNvPr>
          <p:cNvSpPr>
            <a:spLocks noGrp="1"/>
          </p:cNvSpPr>
          <p:nvPr/>
        </p:nvSpPr>
        <p:spPr>
          <a:xfrm>
            <a:off x="5200646" y="1962157"/>
            <a:ext cx="1809750" cy="1123950"/>
          </a:xfrm>
          <a:prstGeom prst="roundRect">
            <a:avLst>
              <a:gd name="adj" fmla="val 11864"/>
            </a:avLst>
          </a:prstGeom>
          <a:solidFill>
            <a:srgbClr val="F4F0FC"/>
          </a:solidFill>
          <a:ln w="9525">
            <a:solidFill>
              <a:srgbClr val="DDD5EF"/>
            </a:solidFill>
          </a:ln>
        </p:spPr>
      </p:sp>
      <p:sp>
        <p:nvSpPr>
          <p:cNvPr id="13" name="arch-top-head-3">
            <a:extLst>
              <a:ext uri="{FF2B5EF4-FFF2-40B4-BE49-F238E27FC236}">
                <a16:creationId xmlns:a16="http://schemas.microsoft.com/office/drawing/2014/main" id="{AD32479E-93A5-4A05-B434-3B05D42C8D9F}"/>
              </a:ext>
            </a:extLst>
          </p:cNvPr>
          <p:cNvSpPr>
            <a:spLocks noGrp="1"/>
          </p:cNvSpPr>
          <p:nvPr/>
        </p:nvSpPr>
        <p:spPr>
          <a:xfrm>
            <a:off x="5314946" y="2095507"/>
            <a:ext cx="1581150" cy="323850"/>
          </a:xfrm>
          <a:prstGeom prst="rect">
            <a:avLst/>
          </a:prstGeom>
          <a:noFill/>
          <a:ln w="0">
            <a:noFill/>
          </a:ln>
        </p:spPr>
        <p:txBody>
          <a:bodyPr anchor="ctr">
            <a:normAutofit/>
          </a:bodyPr>
          <a:lstStyle/>
          <a:p>
            <a:pPr algn="ctr">
              <a:defRPr sz="1350" b="1">
                <a:solidFill>
                  <a:srgbClr val="6D2BE8"/>
                </a:solidFill>
                <a:latin typeface="Calibri"/>
                <a:ea typeface="Calibri"/>
                <a:cs typeface="Calibri"/>
              </a:defRPr>
            </a:pPr>
            <a:r>
              <a:rPr sz="1350" b="1">
                <a:solidFill>
                  <a:srgbClr val="6D2BE8"/>
                </a:solidFill>
                <a:latin typeface="Calibri"/>
                <a:ea typeface="Calibri"/>
                <a:cs typeface="Calibri"/>
              </a:rPr>
              <a:t>BGE embedding</a:t>
            </a:r>
          </a:p>
        </p:txBody>
      </p:sp>
      <p:sp>
        <p:nvSpPr>
          <p:cNvPr id="14" name="arch-top-body-3">
            <a:extLst>
              <a:ext uri="{FF2B5EF4-FFF2-40B4-BE49-F238E27FC236}">
                <a16:creationId xmlns:a16="http://schemas.microsoft.com/office/drawing/2014/main" id="{209070BE-4CE5-43BB-94B8-8370CD38F687}"/>
              </a:ext>
            </a:extLst>
          </p:cNvPr>
          <p:cNvSpPr>
            <a:spLocks noGrp="1"/>
          </p:cNvSpPr>
          <p:nvPr/>
        </p:nvSpPr>
        <p:spPr>
          <a:xfrm>
            <a:off x="5314946" y="2457457"/>
            <a:ext cx="1581150" cy="438150"/>
          </a:xfrm>
          <a:prstGeom prst="rect">
            <a:avLst/>
          </a:prstGeom>
          <a:noFill/>
          <a:ln w="0">
            <a:noFill/>
          </a:ln>
        </p:spPr>
        <p:txBody>
          <a:bodyPr anchor="ctr">
            <a:normAutofit/>
          </a:bodyPr>
          <a:lstStyle/>
          <a:p>
            <a:pPr algn="ctr">
              <a:defRPr sz="1050" b="0">
                <a:solidFill>
                  <a:srgbClr val="625C79"/>
                </a:solidFill>
                <a:latin typeface="Calibri"/>
                <a:ea typeface="Calibri"/>
                <a:cs typeface="Calibri"/>
              </a:defRPr>
            </a:pPr>
            <a:r>
              <a:rPr sz="1050" b="0">
                <a:solidFill>
                  <a:srgbClr val="625C79"/>
                </a:solidFill>
                <a:latin typeface="Calibri"/>
                <a:ea typeface="Calibri"/>
                <a:cs typeface="Calibri"/>
              </a:rPr>
              <a:t>384-d query vector</a:t>
            </a:r>
          </a:p>
        </p:txBody>
      </p:sp>
      <p:sp>
        <p:nvSpPr>
          <p:cNvPr id="15" name="arch-top-arrow-3">
            <a:extLst>
              <a:ext uri="{FF2B5EF4-FFF2-40B4-BE49-F238E27FC236}">
                <a16:creationId xmlns:a16="http://schemas.microsoft.com/office/drawing/2014/main" id="{476D46D2-5741-43FD-8524-54C8DE21C315}"/>
              </a:ext>
            </a:extLst>
          </p:cNvPr>
          <p:cNvSpPr>
            <a:spLocks noGrp="1"/>
          </p:cNvSpPr>
          <p:nvPr/>
        </p:nvSpPr>
        <p:spPr>
          <a:xfrm>
            <a:off x="7048496" y="2305057"/>
            <a:ext cx="438150" cy="419100"/>
          </a:xfrm>
          <a:prstGeom prst="rect">
            <a:avLst/>
          </a:prstGeom>
          <a:noFill/>
          <a:ln w="0">
            <a:noFill/>
          </a:ln>
        </p:spPr>
        <p:txBody>
          <a:bodyPr anchor="ctr">
            <a:normAutofit/>
          </a:bodyPr>
          <a:lstStyle/>
          <a:p>
            <a:pPr algn="ctr">
              <a:defRPr sz="2100" b="1">
                <a:solidFill>
                  <a:srgbClr val="CFC3E9"/>
                </a:solidFill>
                <a:latin typeface="Calibri"/>
                <a:ea typeface="Calibri"/>
                <a:cs typeface="Calibri"/>
              </a:defRPr>
            </a:pPr>
            <a:r>
              <a:rPr sz="2100" b="1">
                <a:solidFill>
                  <a:srgbClr val="CFC3E9"/>
                </a:solidFill>
                <a:latin typeface="Calibri"/>
                <a:ea typeface="Calibri"/>
                <a:cs typeface="Calibri"/>
              </a:rPr>
              <a:t>→</a:t>
            </a:r>
          </a:p>
        </p:txBody>
      </p:sp>
      <p:sp>
        <p:nvSpPr>
          <p:cNvPr id="16" name="arch-top-card-4">
            <a:extLst>
              <a:ext uri="{FF2B5EF4-FFF2-40B4-BE49-F238E27FC236}">
                <a16:creationId xmlns:a16="http://schemas.microsoft.com/office/drawing/2014/main" id="{92B1ACE5-74BA-4F05-93E7-5BCA316205FF}"/>
              </a:ext>
            </a:extLst>
          </p:cNvPr>
          <p:cNvSpPr>
            <a:spLocks noGrp="1"/>
          </p:cNvSpPr>
          <p:nvPr/>
        </p:nvSpPr>
        <p:spPr>
          <a:xfrm>
            <a:off x="7524746" y="1962157"/>
            <a:ext cx="1809750" cy="1123950"/>
          </a:xfrm>
          <a:prstGeom prst="roundRect">
            <a:avLst>
              <a:gd name="adj" fmla="val 11864"/>
            </a:avLst>
          </a:prstGeom>
          <a:solidFill>
            <a:srgbClr val="E6F5F0"/>
          </a:solidFill>
          <a:ln w="9525">
            <a:solidFill>
              <a:srgbClr val="DDD5EF"/>
            </a:solidFill>
          </a:ln>
        </p:spPr>
      </p:sp>
      <p:sp>
        <p:nvSpPr>
          <p:cNvPr id="17" name="arch-top-head-4">
            <a:extLst>
              <a:ext uri="{FF2B5EF4-FFF2-40B4-BE49-F238E27FC236}">
                <a16:creationId xmlns:a16="http://schemas.microsoft.com/office/drawing/2014/main" id="{54511BDC-CF90-4259-AC2E-501382486DB7}"/>
              </a:ext>
            </a:extLst>
          </p:cNvPr>
          <p:cNvSpPr>
            <a:spLocks noGrp="1"/>
          </p:cNvSpPr>
          <p:nvPr/>
        </p:nvSpPr>
        <p:spPr>
          <a:xfrm>
            <a:off x="7639046" y="2095507"/>
            <a:ext cx="1581150" cy="323850"/>
          </a:xfrm>
          <a:prstGeom prst="rect">
            <a:avLst/>
          </a:prstGeom>
          <a:noFill/>
          <a:ln w="0">
            <a:noFill/>
          </a:ln>
        </p:spPr>
        <p:txBody>
          <a:bodyPr anchor="ctr">
            <a:normAutofit fontScale="99064"/>
          </a:bodyPr>
          <a:lstStyle/>
          <a:p>
            <a:pPr algn="ctr">
              <a:defRPr sz="1350" b="1">
                <a:solidFill>
                  <a:srgbClr val="087F65"/>
                </a:solidFill>
                <a:latin typeface="Calibri"/>
                <a:ea typeface="Calibri"/>
                <a:cs typeface="Calibri"/>
              </a:defRPr>
            </a:pPr>
            <a:r>
              <a:rPr sz="1350" b="1">
                <a:solidFill>
                  <a:srgbClr val="087F65"/>
                </a:solidFill>
                <a:latin typeface="Calibri"/>
                <a:ea typeface="Calibri"/>
                <a:cs typeface="Calibri"/>
              </a:rPr>
              <a:t>pgvector cache gate</a:t>
            </a:r>
          </a:p>
        </p:txBody>
      </p:sp>
      <p:sp>
        <p:nvSpPr>
          <p:cNvPr id="18" name="arch-top-body-4">
            <a:extLst>
              <a:ext uri="{FF2B5EF4-FFF2-40B4-BE49-F238E27FC236}">
                <a16:creationId xmlns:a16="http://schemas.microsoft.com/office/drawing/2014/main" id="{5E805740-BA92-4BBB-9E81-D0245AE32B42}"/>
              </a:ext>
            </a:extLst>
          </p:cNvPr>
          <p:cNvSpPr>
            <a:spLocks noGrp="1"/>
          </p:cNvSpPr>
          <p:nvPr/>
        </p:nvSpPr>
        <p:spPr>
          <a:xfrm>
            <a:off x="7639046" y="2457457"/>
            <a:ext cx="1581150" cy="438150"/>
          </a:xfrm>
          <a:prstGeom prst="rect">
            <a:avLst/>
          </a:prstGeom>
          <a:noFill/>
          <a:ln w="0">
            <a:noFill/>
          </a:ln>
        </p:spPr>
        <p:txBody>
          <a:bodyPr anchor="ctr">
            <a:normAutofit fontScale="84496" lnSpcReduction="10000"/>
          </a:bodyPr>
          <a:lstStyle/>
          <a:p>
            <a:pPr algn="ctr">
              <a:defRPr sz="1050" b="0">
                <a:solidFill>
                  <a:srgbClr val="625C79"/>
                </a:solidFill>
                <a:latin typeface="Calibri"/>
                <a:ea typeface="Calibri"/>
                <a:cs typeface="Calibri"/>
              </a:defRPr>
            </a:pPr>
            <a:r>
              <a:rPr sz="1050" b="0">
                <a:solidFill>
                  <a:srgbClr val="625C79"/>
                </a:solidFill>
                <a:latin typeface="Calibri"/>
                <a:ea typeface="Calibri"/>
                <a:cs typeface="Calibri"/>
              </a:rPr>
              <a:t>HIT → output</a:t>
            </a:r>
          </a:p>
          <a:p>
            <a:pPr algn="ctr">
              <a:defRPr sz="1050" b="0">
                <a:solidFill>
                  <a:srgbClr val="625C79"/>
                </a:solidFill>
                <a:latin typeface="Calibri"/>
                <a:ea typeface="Calibri"/>
                <a:cs typeface="Calibri"/>
              </a:defRPr>
            </a:pPr>
            <a:r>
              <a:rPr sz="1050" b="0">
                <a:solidFill>
                  <a:srgbClr val="625C79"/>
                </a:solidFill>
                <a:latin typeface="Calibri"/>
                <a:ea typeface="Calibri"/>
                <a:cs typeface="Calibri"/>
              </a:rPr>
              <a:t>MISS → guarded GenAI lane</a:t>
            </a:r>
          </a:p>
        </p:txBody>
      </p:sp>
      <p:sp>
        <p:nvSpPr>
          <p:cNvPr id="19" name="arch-top-arrow-4">
            <a:extLst>
              <a:ext uri="{FF2B5EF4-FFF2-40B4-BE49-F238E27FC236}">
                <a16:creationId xmlns:a16="http://schemas.microsoft.com/office/drawing/2014/main" id="{0D3E3C16-F6C2-4BF0-8086-53195EBA6F9E}"/>
              </a:ext>
            </a:extLst>
          </p:cNvPr>
          <p:cNvSpPr>
            <a:spLocks noGrp="1"/>
          </p:cNvSpPr>
          <p:nvPr/>
        </p:nvSpPr>
        <p:spPr>
          <a:xfrm>
            <a:off x="9372596" y="2305057"/>
            <a:ext cx="438150" cy="419100"/>
          </a:xfrm>
          <a:prstGeom prst="rect">
            <a:avLst/>
          </a:prstGeom>
          <a:noFill/>
          <a:ln w="0">
            <a:noFill/>
          </a:ln>
        </p:spPr>
        <p:txBody>
          <a:bodyPr anchor="ctr">
            <a:normAutofit/>
          </a:bodyPr>
          <a:lstStyle/>
          <a:p>
            <a:pPr algn="ctr">
              <a:defRPr sz="2100" b="1">
                <a:solidFill>
                  <a:srgbClr val="CFC3E9"/>
                </a:solidFill>
                <a:latin typeface="Calibri"/>
                <a:ea typeface="Calibri"/>
                <a:cs typeface="Calibri"/>
              </a:defRPr>
            </a:pPr>
            <a:r>
              <a:rPr sz="2100" b="1">
                <a:solidFill>
                  <a:srgbClr val="CFC3E9"/>
                </a:solidFill>
                <a:latin typeface="Calibri"/>
                <a:ea typeface="Calibri"/>
                <a:cs typeface="Calibri"/>
              </a:rPr>
              <a:t>→</a:t>
            </a:r>
          </a:p>
        </p:txBody>
      </p:sp>
      <p:sp>
        <p:nvSpPr>
          <p:cNvPr id="20" name="arch-top-card-5">
            <a:extLst>
              <a:ext uri="{FF2B5EF4-FFF2-40B4-BE49-F238E27FC236}">
                <a16:creationId xmlns:a16="http://schemas.microsoft.com/office/drawing/2014/main" id="{9AC174DE-27AE-42FA-8DC5-3B1F181DAE46}"/>
              </a:ext>
            </a:extLst>
          </p:cNvPr>
          <p:cNvSpPr>
            <a:spLocks noGrp="1"/>
          </p:cNvSpPr>
          <p:nvPr/>
        </p:nvSpPr>
        <p:spPr>
          <a:xfrm>
            <a:off x="9848846" y="1962157"/>
            <a:ext cx="1809750" cy="1123950"/>
          </a:xfrm>
          <a:prstGeom prst="roundRect">
            <a:avLst>
              <a:gd name="adj" fmla="val 11864"/>
            </a:avLst>
          </a:prstGeom>
          <a:solidFill>
            <a:srgbClr val="E6F5F0"/>
          </a:solidFill>
          <a:ln w="9525">
            <a:solidFill>
              <a:srgbClr val="DDD5EF"/>
            </a:solidFill>
          </a:ln>
        </p:spPr>
      </p:sp>
      <p:sp>
        <p:nvSpPr>
          <p:cNvPr id="21" name="arch-top-head-5">
            <a:extLst>
              <a:ext uri="{FF2B5EF4-FFF2-40B4-BE49-F238E27FC236}">
                <a16:creationId xmlns:a16="http://schemas.microsoft.com/office/drawing/2014/main" id="{0565BC50-2F09-4D5B-B8A6-7A89EA2F4168}"/>
              </a:ext>
            </a:extLst>
          </p:cNvPr>
          <p:cNvSpPr>
            <a:spLocks noGrp="1"/>
          </p:cNvSpPr>
          <p:nvPr/>
        </p:nvSpPr>
        <p:spPr>
          <a:xfrm>
            <a:off x="9963146" y="2095507"/>
            <a:ext cx="1581150" cy="323850"/>
          </a:xfrm>
          <a:prstGeom prst="rect">
            <a:avLst/>
          </a:prstGeom>
          <a:noFill/>
          <a:ln w="0">
            <a:noFill/>
          </a:ln>
        </p:spPr>
        <p:txBody>
          <a:bodyPr anchor="ctr">
            <a:normAutofit/>
          </a:bodyPr>
          <a:lstStyle/>
          <a:p>
            <a:pPr algn="ctr">
              <a:defRPr sz="1350" b="1">
                <a:solidFill>
                  <a:srgbClr val="087F65"/>
                </a:solidFill>
                <a:latin typeface="Calibri"/>
                <a:ea typeface="Calibri"/>
                <a:cs typeface="Calibri"/>
              </a:defRPr>
            </a:pPr>
            <a:r>
              <a:rPr sz="1350" b="1">
                <a:solidFill>
                  <a:srgbClr val="087F65"/>
                </a:solidFill>
                <a:latin typeface="Calibri"/>
                <a:ea typeface="Calibri"/>
                <a:cs typeface="Calibri"/>
              </a:rPr>
              <a:t>Validated output</a:t>
            </a:r>
          </a:p>
        </p:txBody>
      </p:sp>
      <p:sp>
        <p:nvSpPr>
          <p:cNvPr id="22" name="arch-top-body-5">
            <a:extLst>
              <a:ext uri="{FF2B5EF4-FFF2-40B4-BE49-F238E27FC236}">
                <a16:creationId xmlns:a16="http://schemas.microsoft.com/office/drawing/2014/main" id="{013739B2-9332-465B-981A-5CC789CE79D6}"/>
              </a:ext>
            </a:extLst>
          </p:cNvPr>
          <p:cNvSpPr>
            <a:spLocks noGrp="1"/>
          </p:cNvSpPr>
          <p:nvPr/>
        </p:nvSpPr>
        <p:spPr>
          <a:xfrm>
            <a:off x="9963146" y="2457457"/>
            <a:ext cx="1581150" cy="438150"/>
          </a:xfrm>
          <a:prstGeom prst="rect">
            <a:avLst/>
          </a:prstGeom>
          <a:noFill/>
          <a:ln w="0">
            <a:noFill/>
          </a:ln>
        </p:spPr>
        <p:txBody>
          <a:bodyPr anchor="ctr">
            <a:normAutofit/>
          </a:bodyPr>
          <a:lstStyle/>
          <a:p>
            <a:pPr algn="ctr">
              <a:defRPr sz="1050" b="0">
                <a:solidFill>
                  <a:srgbClr val="625C79"/>
                </a:solidFill>
                <a:latin typeface="Calibri"/>
                <a:ea typeface="Calibri"/>
                <a:cs typeface="Calibri"/>
              </a:defRPr>
            </a:pPr>
            <a:r>
              <a:rPr sz="1050" b="0">
                <a:solidFill>
                  <a:srgbClr val="625C79"/>
                </a:solidFill>
                <a:latin typeface="Calibri"/>
                <a:ea typeface="Calibri"/>
                <a:cs typeface="Calibri"/>
              </a:rPr>
              <a:t>JSON plan + catalog URIs</a:t>
            </a:r>
          </a:p>
        </p:txBody>
      </p:sp>
      <p:sp>
        <p:nvSpPr>
          <p:cNvPr id="23" name="arch-hit">
            <a:extLst>
              <a:ext uri="{FF2B5EF4-FFF2-40B4-BE49-F238E27FC236}">
                <a16:creationId xmlns:a16="http://schemas.microsoft.com/office/drawing/2014/main" id="{5D0C8309-6BE3-4EC5-8A94-15D47C0CE374}"/>
              </a:ext>
            </a:extLst>
          </p:cNvPr>
          <p:cNvSpPr>
            <a:spLocks noGrp="1"/>
          </p:cNvSpPr>
          <p:nvPr/>
        </p:nvSpPr>
        <p:spPr>
          <a:xfrm>
            <a:off x="9277346" y="1743082"/>
            <a:ext cx="933450" cy="266700"/>
          </a:xfrm>
          <a:prstGeom prst="roundRect">
            <a:avLst>
              <a:gd name="adj" fmla="val 28571"/>
            </a:avLst>
          </a:prstGeom>
          <a:solidFill>
            <a:srgbClr val="DDF3EC"/>
          </a:solidFill>
          <a:ln w="9525">
            <a:solidFill>
              <a:srgbClr val="BFE8DC"/>
            </a:solidFill>
          </a:ln>
        </p:spPr>
        <p:txBody>
          <a:bodyPr anchor="ctr">
            <a:normAutofit fontScale="87909" lnSpcReduction="10000"/>
          </a:bodyPr>
          <a:lstStyle/>
          <a:p>
            <a:pPr algn="ctr">
              <a:defRPr sz="975" b="1">
                <a:solidFill>
                  <a:srgbClr val="087F65"/>
                </a:solidFill>
                <a:latin typeface="Calibri"/>
                <a:ea typeface="Calibri"/>
                <a:cs typeface="Calibri"/>
              </a:defRPr>
            </a:pPr>
            <a:r>
              <a:rPr sz="975" b="1">
                <a:solidFill>
                  <a:srgbClr val="087F65"/>
                </a:solidFill>
                <a:latin typeface="Calibri"/>
                <a:ea typeface="Calibri"/>
                <a:cs typeface="Calibri"/>
              </a:rPr>
              <a:t>CACHE HIT</a:t>
            </a:r>
          </a:p>
        </p:txBody>
      </p:sp>
      <p:sp>
        <p:nvSpPr>
          <p:cNvPr id="24" name="arch-miss">
            <a:extLst>
              <a:ext uri="{FF2B5EF4-FFF2-40B4-BE49-F238E27FC236}">
                <a16:creationId xmlns:a16="http://schemas.microsoft.com/office/drawing/2014/main" id="{9EEC4C8B-58F3-4DC9-8801-CE2852FE775D}"/>
              </a:ext>
            </a:extLst>
          </p:cNvPr>
          <p:cNvSpPr>
            <a:spLocks noGrp="1"/>
          </p:cNvSpPr>
          <p:nvPr/>
        </p:nvSpPr>
        <p:spPr>
          <a:xfrm>
            <a:off x="4057646" y="3257557"/>
            <a:ext cx="3771900" cy="285750"/>
          </a:xfrm>
          <a:prstGeom prst="roundRect">
            <a:avLst>
              <a:gd name="adj" fmla="val 26667"/>
            </a:avLst>
          </a:prstGeom>
          <a:solidFill>
            <a:srgbClr val="FFF1DC"/>
          </a:solidFill>
          <a:ln w="9525">
            <a:solidFill>
              <a:srgbClr val="F2D2A3"/>
            </a:solidFill>
          </a:ln>
        </p:spPr>
        <p:txBody>
          <a:bodyPr anchor="ctr">
            <a:normAutofit/>
          </a:bodyPr>
          <a:lstStyle/>
          <a:p>
            <a:pPr algn="ctr">
              <a:defRPr sz="975" b="1">
                <a:solidFill>
                  <a:srgbClr val="A95A00"/>
                </a:solidFill>
                <a:latin typeface="Calibri"/>
                <a:ea typeface="Calibri"/>
                <a:cs typeface="Calibri"/>
              </a:defRPr>
            </a:pPr>
            <a:r>
              <a:rPr sz="975" b="1">
                <a:solidFill>
                  <a:srgbClr val="A95A00"/>
                </a:solidFill>
                <a:latin typeface="Calibri"/>
                <a:ea typeface="Calibri"/>
                <a:cs typeface="Calibri"/>
              </a:rPr>
              <a:t>CACHE MISS · GUARDED PIPELINE →</a:t>
            </a:r>
          </a:p>
        </p:txBody>
      </p:sp>
      <p:sp>
        <p:nvSpPr>
          <p:cNvPr id="25" name="arch-miss-card-1">
            <a:extLst>
              <a:ext uri="{FF2B5EF4-FFF2-40B4-BE49-F238E27FC236}">
                <a16:creationId xmlns:a16="http://schemas.microsoft.com/office/drawing/2014/main" id="{6E36BA38-AE40-4501-932C-B5D2E62F1A8A}"/>
              </a:ext>
            </a:extLst>
          </p:cNvPr>
          <p:cNvSpPr>
            <a:spLocks noGrp="1"/>
          </p:cNvSpPr>
          <p:nvPr/>
        </p:nvSpPr>
        <p:spPr>
          <a:xfrm>
            <a:off x="1104896" y="3657607"/>
            <a:ext cx="2209800" cy="1200150"/>
          </a:xfrm>
          <a:prstGeom prst="roundRect">
            <a:avLst>
              <a:gd name="adj" fmla="val 11111"/>
            </a:avLst>
          </a:prstGeom>
          <a:solidFill>
            <a:srgbClr val="F4F0FC"/>
          </a:solidFill>
          <a:ln w="9525">
            <a:solidFill>
              <a:srgbClr val="DED4F2"/>
            </a:solidFill>
          </a:ln>
        </p:spPr>
      </p:sp>
      <p:sp>
        <p:nvSpPr>
          <p:cNvPr id="26" name="arch-miss-head-1">
            <a:extLst>
              <a:ext uri="{FF2B5EF4-FFF2-40B4-BE49-F238E27FC236}">
                <a16:creationId xmlns:a16="http://schemas.microsoft.com/office/drawing/2014/main" id="{4426AE44-3635-4ABA-BFBB-2169BC48FC9E}"/>
              </a:ext>
            </a:extLst>
          </p:cNvPr>
          <p:cNvSpPr>
            <a:spLocks noGrp="1"/>
          </p:cNvSpPr>
          <p:nvPr/>
        </p:nvSpPr>
        <p:spPr>
          <a:xfrm>
            <a:off x="1219196" y="3829057"/>
            <a:ext cx="1981200" cy="323850"/>
          </a:xfrm>
          <a:prstGeom prst="rect">
            <a:avLst/>
          </a:prstGeom>
          <a:noFill/>
          <a:ln w="0">
            <a:noFill/>
          </a:ln>
        </p:spPr>
        <p:txBody>
          <a:bodyPr anchor="ctr">
            <a:normAutofit/>
          </a:bodyPr>
          <a:lstStyle/>
          <a:p>
            <a:pPr algn="ctr">
              <a:defRPr sz="1350" b="1">
                <a:solidFill>
                  <a:srgbClr val="6D2BE8"/>
                </a:solidFill>
                <a:latin typeface="Calibri"/>
                <a:ea typeface="Calibri"/>
                <a:cs typeface="Calibri"/>
              </a:defRPr>
            </a:pPr>
            <a:r>
              <a:rPr sz="1350" b="1">
                <a:solidFill>
                  <a:srgbClr val="6D2BE8"/>
                </a:solidFill>
                <a:latin typeface="Calibri"/>
                <a:ea typeface="Calibri"/>
                <a:cs typeface="Calibri"/>
              </a:rPr>
              <a:t>Gemini enrichment</a:t>
            </a:r>
          </a:p>
        </p:txBody>
      </p:sp>
      <p:sp>
        <p:nvSpPr>
          <p:cNvPr id="27" name="arch-miss-body-1">
            <a:extLst>
              <a:ext uri="{FF2B5EF4-FFF2-40B4-BE49-F238E27FC236}">
                <a16:creationId xmlns:a16="http://schemas.microsoft.com/office/drawing/2014/main" id="{FB9F5788-B1BF-4E55-B3AF-F976BA05C108}"/>
              </a:ext>
            </a:extLst>
          </p:cNvPr>
          <p:cNvSpPr>
            <a:spLocks noGrp="1"/>
          </p:cNvSpPr>
          <p:nvPr/>
        </p:nvSpPr>
        <p:spPr>
          <a:xfrm>
            <a:off x="1219196" y="4219582"/>
            <a:ext cx="1981200" cy="457200"/>
          </a:xfrm>
          <a:prstGeom prst="rect">
            <a:avLst/>
          </a:prstGeom>
          <a:noFill/>
          <a:ln w="0">
            <a:noFill/>
          </a:ln>
        </p:spPr>
        <p:txBody>
          <a:bodyPr anchor="ctr">
            <a:normAutofit/>
          </a:bodyPr>
          <a:lstStyle/>
          <a:p>
            <a:pPr algn="ctr">
              <a:defRPr sz="1050" b="0">
                <a:solidFill>
                  <a:srgbClr val="625C79"/>
                </a:solidFill>
                <a:latin typeface="Calibri"/>
                <a:ea typeface="Calibri"/>
                <a:cs typeface="Calibri"/>
              </a:defRPr>
            </a:pPr>
            <a:r>
              <a:rPr sz="1050" b="0">
                <a:solidFill>
                  <a:srgbClr val="625C79"/>
                </a:solidFill>
                <a:latin typeface="Calibri"/>
                <a:ea typeface="Calibri"/>
                <a:cs typeface="Calibri"/>
              </a:rPr>
              <a:t>Canonical query + 10 variations</a:t>
            </a:r>
          </a:p>
        </p:txBody>
      </p:sp>
      <p:sp>
        <p:nvSpPr>
          <p:cNvPr id="28" name="arch-miss-arrow-1">
            <a:extLst>
              <a:ext uri="{FF2B5EF4-FFF2-40B4-BE49-F238E27FC236}">
                <a16:creationId xmlns:a16="http://schemas.microsoft.com/office/drawing/2014/main" id="{E0CBB518-1E12-47F0-9BDE-B8EEA8E69D5D}"/>
              </a:ext>
            </a:extLst>
          </p:cNvPr>
          <p:cNvSpPr>
            <a:spLocks noGrp="1"/>
          </p:cNvSpPr>
          <p:nvPr/>
        </p:nvSpPr>
        <p:spPr>
          <a:xfrm>
            <a:off x="3352796" y="4038607"/>
            <a:ext cx="419100" cy="400050"/>
          </a:xfrm>
          <a:prstGeom prst="rect">
            <a:avLst/>
          </a:prstGeom>
          <a:noFill/>
          <a:ln w="0">
            <a:noFill/>
          </a:ln>
        </p:spPr>
        <p:txBody>
          <a:bodyPr anchor="ctr">
            <a:normAutofit fontScale="96428"/>
          </a:bodyPr>
          <a:lstStyle/>
          <a:p>
            <a:pPr algn="ctr">
              <a:defRPr sz="2100" b="1">
                <a:solidFill>
                  <a:srgbClr val="CFC3E9"/>
                </a:solidFill>
                <a:latin typeface="Calibri"/>
                <a:ea typeface="Calibri"/>
                <a:cs typeface="Calibri"/>
              </a:defRPr>
            </a:pPr>
            <a:r>
              <a:rPr sz="2100" b="1">
                <a:solidFill>
                  <a:srgbClr val="CFC3E9"/>
                </a:solidFill>
                <a:latin typeface="Calibri"/>
                <a:ea typeface="Calibri"/>
                <a:cs typeface="Calibri"/>
              </a:rPr>
              <a:t>→</a:t>
            </a:r>
          </a:p>
        </p:txBody>
      </p:sp>
      <p:sp>
        <p:nvSpPr>
          <p:cNvPr id="29" name="arch-miss-card-2">
            <a:extLst>
              <a:ext uri="{FF2B5EF4-FFF2-40B4-BE49-F238E27FC236}">
                <a16:creationId xmlns:a16="http://schemas.microsoft.com/office/drawing/2014/main" id="{C5E78E36-B8FC-4FDA-942B-E3B036172B2B}"/>
              </a:ext>
            </a:extLst>
          </p:cNvPr>
          <p:cNvSpPr>
            <a:spLocks noGrp="1"/>
          </p:cNvSpPr>
          <p:nvPr/>
        </p:nvSpPr>
        <p:spPr>
          <a:xfrm>
            <a:off x="3809996" y="3657607"/>
            <a:ext cx="2209800" cy="1200150"/>
          </a:xfrm>
          <a:prstGeom prst="roundRect">
            <a:avLst>
              <a:gd name="adj" fmla="val 11111"/>
            </a:avLst>
          </a:prstGeom>
          <a:solidFill>
            <a:srgbClr val="F4F0FC"/>
          </a:solidFill>
          <a:ln w="9525">
            <a:solidFill>
              <a:srgbClr val="DED4F2"/>
            </a:solidFill>
          </a:ln>
        </p:spPr>
      </p:sp>
      <p:sp>
        <p:nvSpPr>
          <p:cNvPr id="30" name="arch-miss-head-2">
            <a:extLst>
              <a:ext uri="{FF2B5EF4-FFF2-40B4-BE49-F238E27FC236}">
                <a16:creationId xmlns:a16="http://schemas.microsoft.com/office/drawing/2014/main" id="{DA7DF94D-40D0-40B4-8DDB-3B44963DBB97}"/>
              </a:ext>
            </a:extLst>
          </p:cNvPr>
          <p:cNvSpPr>
            <a:spLocks noGrp="1"/>
          </p:cNvSpPr>
          <p:nvPr/>
        </p:nvSpPr>
        <p:spPr>
          <a:xfrm>
            <a:off x="3924296" y="3829057"/>
            <a:ext cx="1981200" cy="323850"/>
          </a:xfrm>
          <a:prstGeom prst="rect">
            <a:avLst/>
          </a:prstGeom>
          <a:noFill/>
          <a:ln w="0">
            <a:noFill/>
          </a:ln>
        </p:spPr>
        <p:txBody>
          <a:bodyPr anchor="ctr">
            <a:normAutofit/>
          </a:bodyPr>
          <a:lstStyle/>
          <a:p>
            <a:pPr algn="ctr">
              <a:defRPr sz="1350" b="1">
                <a:solidFill>
                  <a:srgbClr val="6D2BE8"/>
                </a:solidFill>
                <a:latin typeface="Calibri"/>
                <a:ea typeface="Calibri"/>
                <a:cs typeface="Calibri"/>
              </a:defRPr>
            </a:pPr>
            <a:r>
              <a:rPr sz="1350" b="1">
                <a:solidFill>
                  <a:srgbClr val="6D2BE8"/>
                </a:solidFill>
                <a:latin typeface="Calibri"/>
                <a:ea typeface="Calibri"/>
                <a:cs typeface="Calibri"/>
              </a:rPr>
              <a:t>Gemini extraction</a:t>
            </a:r>
          </a:p>
        </p:txBody>
      </p:sp>
      <p:sp>
        <p:nvSpPr>
          <p:cNvPr id="31" name="arch-miss-body-2">
            <a:extLst>
              <a:ext uri="{FF2B5EF4-FFF2-40B4-BE49-F238E27FC236}">
                <a16:creationId xmlns:a16="http://schemas.microsoft.com/office/drawing/2014/main" id="{847A39B8-EC7E-4095-B5D9-B6DA3A133C97}"/>
              </a:ext>
            </a:extLst>
          </p:cNvPr>
          <p:cNvSpPr>
            <a:spLocks noGrp="1"/>
          </p:cNvSpPr>
          <p:nvPr/>
        </p:nvSpPr>
        <p:spPr>
          <a:xfrm>
            <a:off x="3924296" y="4219582"/>
            <a:ext cx="1981200" cy="457200"/>
          </a:xfrm>
          <a:prstGeom prst="rect">
            <a:avLst/>
          </a:prstGeom>
          <a:noFill/>
          <a:ln w="0">
            <a:noFill/>
          </a:ln>
        </p:spPr>
        <p:txBody>
          <a:bodyPr anchor="ctr">
            <a:normAutofit/>
          </a:bodyPr>
          <a:lstStyle/>
          <a:p>
            <a:pPr algn="ctr">
              <a:defRPr sz="1050" b="0">
                <a:solidFill>
                  <a:srgbClr val="625C79"/>
                </a:solidFill>
                <a:latin typeface="Calibri"/>
                <a:ea typeface="Calibri"/>
                <a:cs typeface="Calibri"/>
              </a:defRPr>
            </a:pPr>
            <a:r>
              <a:rPr sz="1050" b="0">
                <a:solidFill>
                  <a:srgbClr val="625C79"/>
                </a:solidFill>
                <a:latin typeface="Calibri"/>
                <a:ea typeface="Calibri"/>
                <a:cs typeface="Calibri"/>
              </a:rPr>
              <a:t>SIIS-grounded actions + evidence</a:t>
            </a:r>
          </a:p>
        </p:txBody>
      </p:sp>
      <p:sp>
        <p:nvSpPr>
          <p:cNvPr id="32" name="arch-miss-arrow-2">
            <a:extLst>
              <a:ext uri="{FF2B5EF4-FFF2-40B4-BE49-F238E27FC236}">
                <a16:creationId xmlns:a16="http://schemas.microsoft.com/office/drawing/2014/main" id="{3A758B2A-A60F-48A4-AFD6-E207EA6CAE4A}"/>
              </a:ext>
            </a:extLst>
          </p:cNvPr>
          <p:cNvSpPr>
            <a:spLocks noGrp="1"/>
          </p:cNvSpPr>
          <p:nvPr/>
        </p:nvSpPr>
        <p:spPr>
          <a:xfrm>
            <a:off x="6057896" y="4038607"/>
            <a:ext cx="419100" cy="400050"/>
          </a:xfrm>
          <a:prstGeom prst="rect">
            <a:avLst/>
          </a:prstGeom>
          <a:noFill/>
          <a:ln w="0">
            <a:noFill/>
          </a:ln>
        </p:spPr>
        <p:txBody>
          <a:bodyPr anchor="ctr">
            <a:normAutofit fontScale="96428"/>
          </a:bodyPr>
          <a:lstStyle/>
          <a:p>
            <a:pPr algn="ctr">
              <a:defRPr sz="2100" b="1">
                <a:solidFill>
                  <a:srgbClr val="CFC3E9"/>
                </a:solidFill>
                <a:latin typeface="Calibri"/>
                <a:ea typeface="Calibri"/>
                <a:cs typeface="Calibri"/>
              </a:defRPr>
            </a:pPr>
            <a:r>
              <a:rPr sz="2100" b="1">
                <a:solidFill>
                  <a:srgbClr val="CFC3E9"/>
                </a:solidFill>
                <a:latin typeface="Calibri"/>
                <a:ea typeface="Calibri"/>
                <a:cs typeface="Calibri"/>
              </a:rPr>
              <a:t>→</a:t>
            </a:r>
          </a:p>
        </p:txBody>
      </p:sp>
      <p:sp>
        <p:nvSpPr>
          <p:cNvPr id="33" name="arch-miss-card-3">
            <a:extLst>
              <a:ext uri="{FF2B5EF4-FFF2-40B4-BE49-F238E27FC236}">
                <a16:creationId xmlns:a16="http://schemas.microsoft.com/office/drawing/2014/main" id="{65B565A0-8691-4B4A-97E9-E9E266717401}"/>
              </a:ext>
            </a:extLst>
          </p:cNvPr>
          <p:cNvSpPr>
            <a:spLocks noGrp="1"/>
          </p:cNvSpPr>
          <p:nvPr/>
        </p:nvSpPr>
        <p:spPr>
          <a:xfrm>
            <a:off x="6515096" y="3657607"/>
            <a:ext cx="2209800" cy="1200150"/>
          </a:xfrm>
          <a:prstGeom prst="roundRect">
            <a:avLst>
              <a:gd name="adj" fmla="val 11111"/>
            </a:avLst>
          </a:prstGeom>
          <a:solidFill>
            <a:srgbClr val="E6F5F0"/>
          </a:solidFill>
          <a:ln w="9525">
            <a:solidFill>
              <a:srgbClr val="C8E8DF"/>
            </a:solidFill>
          </a:ln>
        </p:spPr>
      </p:sp>
      <p:sp>
        <p:nvSpPr>
          <p:cNvPr id="34" name="arch-miss-head-3">
            <a:extLst>
              <a:ext uri="{FF2B5EF4-FFF2-40B4-BE49-F238E27FC236}">
                <a16:creationId xmlns:a16="http://schemas.microsoft.com/office/drawing/2014/main" id="{B40DE5F6-FB4D-4818-89C7-C6F7D2CC8F3B}"/>
              </a:ext>
            </a:extLst>
          </p:cNvPr>
          <p:cNvSpPr>
            <a:spLocks noGrp="1"/>
          </p:cNvSpPr>
          <p:nvPr/>
        </p:nvSpPr>
        <p:spPr>
          <a:xfrm>
            <a:off x="6629396" y="3829057"/>
            <a:ext cx="1981200" cy="323850"/>
          </a:xfrm>
          <a:prstGeom prst="rect">
            <a:avLst/>
          </a:prstGeom>
          <a:noFill/>
          <a:ln w="0">
            <a:noFill/>
          </a:ln>
        </p:spPr>
        <p:txBody>
          <a:bodyPr anchor="ctr">
            <a:normAutofit/>
          </a:bodyPr>
          <a:lstStyle/>
          <a:p>
            <a:pPr algn="ctr">
              <a:defRPr sz="1350" b="1">
                <a:solidFill>
                  <a:srgbClr val="087F65"/>
                </a:solidFill>
                <a:latin typeface="Calibri"/>
                <a:ea typeface="Calibri"/>
                <a:cs typeface="Calibri"/>
              </a:defRPr>
            </a:pPr>
            <a:r>
              <a:rPr sz="1350" b="1">
                <a:solidFill>
                  <a:srgbClr val="087F65"/>
                </a:solidFill>
                <a:latin typeface="Calibri"/>
                <a:ea typeface="Calibri"/>
                <a:cs typeface="Calibri"/>
              </a:rPr>
              <a:t>Hybrid retrieval</a:t>
            </a:r>
          </a:p>
        </p:txBody>
      </p:sp>
      <p:sp>
        <p:nvSpPr>
          <p:cNvPr id="35" name="arch-miss-body-3">
            <a:extLst>
              <a:ext uri="{FF2B5EF4-FFF2-40B4-BE49-F238E27FC236}">
                <a16:creationId xmlns:a16="http://schemas.microsoft.com/office/drawing/2014/main" id="{1E6C3D69-0713-4A64-AD9C-7E9719EB860D}"/>
              </a:ext>
            </a:extLst>
          </p:cNvPr>
          <p:cNvSpPr>
            <a:spLocks noGrp="1"/>
          </p:cNvSpPr>
          <p:nvPr/>
        </p:nvSpPr>
        <p:spPr>
          <a:xfrm>
            <a:off x="6629396" y="4219582"/>
            <a:ext cx="1981200" cy="457200"/>
          </a:xfrm>
          <a:prstGeom prst="rect">
            <a:avLst/>
          </a:prstGeom>
          <a:noFill/>
          <a:ln w="0">
            <a:noFill/>
          </a:ln>
        </p:spPr>
        <p:txBody>
          <a:bodyPr anchor="ctr">
            <a:normAutofit/>
          </a:bodyPr>
          <a:lstStyle/>
          <a:p>
            <a:pPr algn="ctr">
              <a:defRPr sz="1050" b="0">
                <a:solidFill>
                  <a:srgbClr val="625C79"/>
                </a:solidFill>
                <a:latin typeface="Calibri"/>
                <a:ea typeface="Calibri"/>
                <a:cs typeface="Calibri"/>
              </a:defRPr>
            </a:pPr>
            <a:r>
              <a:rPr sz="1050" b="0">
                <a:solidFill>
                  <a:srgbClr val="625C79"/>
                </a:solidFill>
                <a:latin typeface="Calibri"/>
                <a:ea typeface="Calibri"/>
                <a:cs typeface="Calibri"/>
              </a:rPr>
              <a:t>BGE + BM25 + weighted RRF</a:t>
            </a:r>
          </a:p>
        </p:txBody>
      </p:sp>
      <p:sp>
        <p:nvSpPr>
          <p:cNvPr id="36" name="arch-miss-arrow-3">
            <a:extLst>
              <a:ext uri="{FF2B5EF4-FFF2-40B4-BE49-F238E27FC236}">
                <a16:creationId xmlns:a16="http://schemas.microsoft.com/office/drawing/2014/main" id="{0467782F-3D13-4EB7-A1E2-EEB06E6F3211}"/>
              </a:ext>
            </a:extLst>
          </p:cNvPr>
          <p:cNvSpPr>
            <a:spLocks noGrp="1"/>
          </p:cNvSpPr>
          <p:nvPr/>
        </p:nvSpPr>
        <p:spPr>
          <a:xfrm>
            <a:off x="8762996" y="4038607"/>
            <a:ext cx="419100" cy="400050"/>
          </a:xfrm>
          <a:prstGeom prst="rect">
            <a:avLst/>
          </a:prstGeom>
          <a:noFill/>
          <a:ln w="0">
            <a:noFill/>
          </a:ln>
        </p:spPr>
        <p:txBody>
          <a:bodyPr anchor="ctr">
            <a:normAutofit fontScale="96428"/>
          </a:bodyPr>
          <a:lstStyle/>
          <a:p>
            <a:pPr algn="ctr">
              <a:defRPr sz="2100" b="1">
                <a:solidFill>
                  <a:srgbClr val="CFC3E9"/>
                </a:solidFill>
                <a:latin typeface="Calibri"/>
                <a:ea typeface="Calibri"/>
                <a:cs typeface="Calibri"/>
              </a:defRPr>
            </a:pPr>
            <a:r>
              <a:rPr sz="2100" b="1">
                <a:solidFill>
                  <a:srgbClr val="CFC3E9"/>
                </a:solidFill>
                <a:latin typeface="Calibri"/>
                <a:ea typeface="Calibri"/>
                <a:cs typeface="Calibri"/>
              </a:rPr>
              <a:t>→</a:t>
            </a:r>
          </a:p>
        </p:txBody>
      </p:sp>
      <p:sp>
        <p:nvSpPr>
          <p:cNvPr id="37" name="arch-miss-card-4">
            <a:extLst>
              <a:ext uri="{FF2B5EF4-FFF2-40B4-BE49-F238E27FC236}">
                <a16:creationId xmlns:a16="http://schemas.microsoft.com/office/drawing/2014/main" id="{D7D34A5D-FB36-4CB5-8CB5-7A45B7B83472}"/>
              </a:ext>
            </a:extLst>
          </p:cNvPr>
          <p:cNvSpPr>
            <a:spLocks noGrp="1"/>
          </p:cNvSpPr>
          <p:nvPr/>
        </p:nvSpPr>
        <p:spPr>
          <a:xfrm>
            <a:off x="9220196" y="3657607"/>
            <a:ext cx="2209800" cy="1200150"/>
          </a:xfrm>
          <a:prstGeom prst="roundRect">
            <a:avLst>
              <a:gd name="adj" fmla="val 11111"/>
            </a:avLst>
          </a:prstGeom>
          <a:solidFill>
            <a:srgbClr val="E6F5F0"/>
          </a:solidFill>
          <a:ln w="9525">
            <a:solidFill>
              <a:srgbClr val="C8E8DF"/>
            </a:solidFill>
          </a:ln>
        </p:spPr>
      </p:sp>
      <p:sp>
        <p:nvSpPr>
          <p:cNvPr id="38" name="arch-miss-head-4">
            <a:extLst>
              <a:ext uri="{FF2B5EF4-FFF2-40B4-BE49-F238E27FC236}">
                <a16:creationId xmlns:a16="http://schemas.microsoft.com/office/drawing/2014/main" id="{B2159F8E-75AC-4ED9-A21F-EFB6F6490DD4}"/>
              </a:ext>
            </a:extLst>
          </p:cNvPr>
          <p:cNvSpPr>
            <a:spLocks noGrp="1"/>
          </p:cNvSpPr>
          <p:nvPr/>
        </p:nvSpPr>
        <p:spPr>
          <a:xfrm>
            <a:off x="9334496" y="3829057"/>
            <a:ext cx="1981200" cy="323850"/>
          </a:xfrm>
          <a:prstGeom prst="rect">
            <a:avLst/>
          </a:prstGeom>
          <a:noFill/>
          <a:ln w="0">
            <a:noFill/>
          </a:ln>
        </p:spPr>
        <p:txBody>
          <a:bodyPr anchor="ctr">
            <a:normAutofit/>
          </a:bodyPr>
          <a:lstStyle/>
          <a:p>
            <a:pPr algn="ctr">
              <a:defRPr sz="1350" b="1">
                <a:solidFill>
                  <a:srgbClr val="087F65"/>
                </a:solidFill>
                <a:latin typeface="Calibri"/>
                <a:ea typeface="Calibri"/>
                <a:cs typeface="Calibri"/>
              </a:defRPr>
            </a:pPr>
            <a:r>
              <a:rPr sz="1350" b="1">
                <a:solidFill>
                  <a:srgbClr val="087F65"/>
                </a:solidFill>
                <a:latin typeface="Calibri"/>
                <a:ea typeface="Calibri"/>
                <a:cs typeface="Calibri"/>
              </a:rPr>
              <a:t>Validate, store, serve</a:t>
            </a:r>
          </a:p>
        </p:txBody>
      </p:sp>
      <p:sp>
        <p:nvSpPr>
          <p:cNvPr id="39" name="arch-miss-body-4">
            <a:extLst>
              <a:ext uri="{FF2B5EF4-FFF2-40B4-BE49-F238E27FC236}">
                <a16:creationId xmlns:a16="http://schemas.microsoft.com/office/drawing/2014/main" id="{AAFF85C4-FB83-4CDB-BF37-6085E3409F39}"/>
              </a:ext>
            </a:extLst>
          </p:cNvPr>
          <p:cNvSpPr>
            <a:spLocks noGrp="1"/>
          </p:cNvSpPr>
          <p:nvPr/>
        </p:nvSpPr>
        <p:spPr>
          <a:xfrm>
            <a:off x="9334496" y="4219582"/>
            <a:ext cx="1981200" cy="457200"/>
          </a:xfrm>
          <a:prstGeom prst="rect">
            <a:avLst/>
          </a:prstGeom>
          <a:noFill/>
          <a:ln w="0">
            <a:noFill/>
          </a:ln>
        </p:spPr>
        <p:txBody>
          <a:bodyPr anchor="ctr">
            <a:normAutofit/>
          </a:bodyPr>
          <a:lstStyle/>
          <a:p>
            <a:pPr algn="ctr">
              <a:defRPr sz="1050" b="0">
                <a:solidFill>
                  <a:srgbClr val="625C79"/>
                </a:solidFill>
                <a:latin typeface="Calibri"/>
                <a:ea typeface="Calibri"/>
                <a:cs typeface="Calibri"/>
              </a:defRPr>
            </a:pPr>
            <a:r>
              <a:rPr sz="1050" b="0">
                <a:solidFill>
                  <a:srgbClr val="625C79"/>
                </a:solidFill>
                <a:latin typeface="Calibri"/>
                <a:ea typeface="Calibri"/>
                <a:cs typeface="Calibri"/>
              </a:rPr>
              <a:t>Compatibility, schema, order + URI checks</a:t>
            </a:r>
          </a:p>
        </p:txBody>
      </p:sp>
      <p:sp>
        <p:nvSpPr>
          <p:cNvPr id="40" name="arch-sources">
            <a:extLst>
              <a:ext uri="{FF2B5EF4-FFF2-40B4-BE49-F238E27FC236}">
                <a16:creationId xmlns:a16="http://schemas.microsoft.com/office/drawing/2014/main" id="{A73CFBA5-6ACD-4674-92B7-2C6244D49B03}"/>
              </a:ext>
            </a:extLst>
          </p:cNvPr>
          <p:cNvSpPr>
            <a:spLocks noGrp="1"/>
          </p:cNvSpPr>
          <p:nvPr/>
        </p:nvSpPr>
        <p:spPr>
          <a:xfrm>
            <a:off x="1104896" y="5105407"/>
            <a:ext cx="10325100" cy="457200"/>
          </a:xfrm>
          <a:prstGeom prst="roundRect">
            <a:avLst>
              <a:gd name="adj" fmla="val 16667"/>
            </a:avLst>
          </a:prstGeom>
          <a:solidFill>
            <a:srgbClr val="F7F4FC"/>
          </a:solidFill>
          <a:ln w="9525">
            <a:solidFill>
              <a:srgbClr val="E4DDF0"/>
            </a:solidFill>
          </a:ln>
        </p:spPr>
        <p:txBody>
          <a:bodyPr anchor="ctr">
            <a:normAutofit/>
          </a:bodyPr>
          <a:lstStyle/>
          <a:p>
            <a:pPr algn="ctr">
              <a:defRPr sz="1050" b="1">
                <a:solidFill>
                  <a:srgbClr val="4E4764"/>
                </a:solidFill>
                <a:latin typeface="Calibri"/>
                <a:ea typeface="Calibri"/>
                <a:cs typeface="Calibri"/>
              </a:defRPr>
            </a:pPr>
            <a:r>
              <a:rPr sz="1050" b="1">
                <a:solidFill>
                  <a:srgbClr val="4E4764"/>
                </a:solidFill>
                <a:latin typeface="Calibri"/>
                <a:ea typeface="Calibri"/>
                <a:cs typeface="Calibri"/>
              </a:rPr>
              <a:t>Evidence and stores: supplied SIIS text grounds extraction · 578-entry deeplink catalog constrains retrieval · PostgreSQL stores plans, vectors and metrics</a:t>
            </a:r>
          </a:p>
        </p:txBody>
      </p:sp>
      <p:sp>
        <p:nvSpPr>
          <p:cNvPr id="41" name="arch-why-genai">
            <a:extLst>
              <a:ext uri="{FF2B5EF4-FFF2-40B4-BE49-F238E27FC236}">
                <a16:creationId xmlns:a16="http://schemas.microsoft.com/office/drawing/2014/main" id="{5A77BD06-4A8A-477C-B522-07F179A7648D}"/>
              </a:ext>
            </a:extLst>
          </p:cNvPr>
          <p:cNvSpPr>
            <a:spLocks noGrp="1"/>
          </p:cNvSpPr>
          <p:nvPr/>
        </p:nvSpPr>
        <p:spPr>
          <a:xfrm>
            <a:off x="1104896" y="5715007"/>
            <a:ext cx="10325100" cy="552450"/>
          </a:xfrm>
          <a:prstGeom prst="roundRect">
            <a:avLst>
              <a:gd name="adj" fmla="val 13793"/>
            </a:avLst>
          </a:prstGeom>
          <a:solidFill>
            <a:srgbClr val="E7F7F1"/>
          </a:solidFill>
          <a:ln w="9525">
            <a:solidFill>
              <a:srgbClr val="BFE8DC"/>
            </a:solidFill>
          </a:ln>
        </p:spPr>
        <p:txBody>
          <a:bodyPr anchor="ctr">
            <a:normAutofit/>
          </a:bodyPr>
          <a:lstStyle/>
          <a:p>
            <a:pPr algn="ctr">
              <a:defRPr sz="1200" b="1">
                <a:solidFill>
                  <a:srgbClr val="087F65"/>
                </a:solidFill>
                <a:latin typeface="Calibri"/>
                <a:ea typeface="Calibri"/>
                <a:cs typeface="Calibri"/>
              </a:defRPr>
            </a:pPr>
            <a:r>
              <a:rPr sz="1200" b="1">
                <a:solidFill>
                  <a:srgbClr val="087F65"/>
                </a:solidFill>
                <a:latin typeface="Calibri"/>
                <a:ea typeface="Calibri"/>
                <a:cs typeface="Calibri"/>
              </a:rPr>
              <a:t>WHY GENAI? Complaints and SIIS passages are unstructured language. Gemini normalizes intent and extracts a structured draft; deterministic gates keep unsupported steps and unsafe deeplinks out.</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sz="2900" b="1">
                <a:solidFill>
                  <a:srgbClr val="704EA6"/>
                </a:solidFill>
                <a:latin typeface="Calibri"/>
                <a:ea typeface="Calibri"/>
                <a:cs typeface="Calibri"/>
              </a:rPr>
              <a:t>Demo &amp; Product Walkthrough</a:t>
            </a:r>
          </a:p>
        </p:txBody>
      </p:sp>
      <p:sp>
        <p:nvSpPr>
          <p:cNvPr id="3" name="demo-kicker">
            <a:extLst>
              <a:ext uri="{FF2B5EF4-FFF2-40B4-BE49-F238E27FC236}">
                <a16:creationId xmlns:a16="http://schemas.microsoft.com/office/drawing/2014/main" id="{0DA348D4-5018-4BF0-9FA0-97C5A2045F07}"/>
              </a:ext>
            </a:extLst>
          </p:cNvPr>
          <p:cNvSpPr>
            <a:spLocks noGrp="1"/>
          </p:cNvSpPr>
          <p:nvPr/>
        </p:nvSpPr>
        <p:spPr>
          <a:xfrm>
            <a:off x="781050" y="1528400"/>
            <a:ext cx="4381500" cy="285750"/>
          </a:xfrm>
          <a:prstGeom prst="rect">
            <a:avLst/>
          </a:prstGeom>
          <a:noFill/>
          <a:ln w="0">
            <a:noFill/>
          </a:ln>
        </p:spPr>
        <p:txBody>
          <a:bodyPr anchor="ctr">
            <a:normAutofit/>
          </a:bodyPr>
          <a:lstStyle/>
          <a:p>
            <a:pPr algn="l">
              <a:defRPr sz="1050" b="1">
                <a:solidFill>
                  <a:srgbClr val="7A45D1"/>
                </a:solidFill>
                <a:latin typeface="Calibri"/>
                <a:ea typeface="Calibri"/>
                <a:cs typeface="Calibri"/>
              </a:defRPr>
            </a:pPr>
            <a:r>
              <a:rPr sz="1050" b="1" dirty="0">
                <a:solidFill>
                  <a:srgbClr val="7A45D1"/>
                </a:solidFill>
                <a:latin typeface="Calibri"/>
                <a:ea typeface="Calibri"/>
                <a:cs typeface="Calibri"/>
              </a:rPr>
              <a:t>ACTUAL PROTOTYPE</a:t>
            </a:r>
          </a:p>
        </p:txBody>
      </p:sp>
      <p:sp>
        <p:nvSpPr>
          <p:cNvPr id="4" name="demo-num-1">
            <a:extLst>
              <a:ext uri="{FF2B5EF4-FFF2-40B4-BE49-F238E27FC236}">
                <a16:creationId xmlns:a16="http://schemas.microsoft.com/office/drawing/2014/main" id="{DA005278-7FCC-4063-9BEA-CE3131843580}"/>
              </a:ext>
            </a:extLst>
          </p:cNvPr>
          <p:cNvSpPr>
            <a:spLocks noGrp="1"/>
          </p:cNvSpPr>
          <p:nvPr/>
        </p:nvSpPr>
        <p:spPr>
          <a:xfrm>
            <a:off x="800100" y="1890350"/>
            <a:ext cx="361950" cy="361950"/>
          </a:xfrm>
          <a:prstGeom prst="roundRect">
            <a:avLst>
              <a:gd name="adj" fmla="val 21053"/>
            </a:avLst>
          </a:prstGeom>
          <a:solidFill>
            <a:srgbClr val="7B3FF2"/>
          </a:solidFill>
          <a:ln w="9525">
            <a:solidFill>
              <a:srgbClr val="7B3FF2"/>
            </a:solidFill>
          </a:ln>
        </p:spPr>
        <p:txBody>
          <a:bodyPr anchor="ctr">
            <a:normAutofit/>
          </a:bodyPr>
          <a:lstStyle/>
          <a:p>
            <a:pPr algn="ctr">
              <a:defRPr sz="1275" b="1">
                <a:solidFill>
                  <a:srgbClr val="FFFFFF"/>
                </a:solidFill>
                <a:latin typeface="Calibri"/>
                <a:ea typeface="Calibri"/>
                <a:cs typeface="Calibri"/>
              </a:defRPr>
            </a:pPr>
            <a:r>
              <a:rPr sz="1275" b="1">
                <a:solidFill>
                  <a:srgbClr val="FFFFFF"/>
                </a:solidFill>
                <a:latin typeface="Calibri"/>
                <a:ea typeface="Calibri"/>
                <a:cs typeface="Calibri"/>
              </a:rPr>
              <a:t>1</a:t>
            </a:r>
          </a:p>
        </p:txBody>
      </p:sp>
      <p:sp>
        <p:nvSpPr>
          <p:cNvPr id="5" name="demo-head-1">
            <a:extLst>
              <a:ext uri="{FF2B5EF4-FFF2-40B4-BE49-F238E27FC236}">
                <a16:creationId xmlns:a16="http://schemas.microsoft.com/office/drawing/2014/main" id="{26810A62-8C66-4185-AD96-C81E501E0FC0}"/>
              </a:ext>
            </a:extLst>
          </p:cNvPr>
          <p:cNvSpPr>
            <a:spLocks noGrp="1"/>
          </p:cNvSpPr>
          <p:nvPr/>
        </p:nvSpPr>
        <p:spPr>
          <a:xfrm>
            <a:off x="1257300" y="1871300"/>
            <a:ext cx="3762375" cy="257175"/>
          </a:xfrm>
          <a:prstGeom prst="rect">
            <a:avLst/>
          </a:prstGeom>
          <a:noFill/>
          <a:ln w="0">
            <a:noFill/>
          </a:ln>
        </p:spPr>
        <p:txBody>
          <a:bodyPr anchor="ctr">
            <a:normAutofit fontScale="88055" lnSpcReduction="10000"/>
          </a:bodyPr>
          <a:lstStyle/>
          <a:p>
            <a:pPr algn="l">
              <a:defRPr sz="1350" b="1">
                <a:solidFill>
                  <a:srgbClr val="252035"/>
                </a:solidFill>
                <a:latin typeface="Calibri"/>
                <a:ea typeface="Calibri"/>
                <a:cs typeface="Calibri"/>
              </a:defRPr>
            </a:pPr>
            <a:r>
              <a:rPr sz="1350" b="1">
                <a:solidFill>
                  <a:srgbClr val="252035"/>
                </a:solidFill>
                <a:latin typeface="Calibri"/>
                <a:ea typeface="Calibri"/>
                <a:cs typeface="Calibri"/>
              </a:rPr>
              <a:t>Load an official complaint</a:t>
            </a:r>
          </a:p>
        </p:txBody>
      </p:sp>
      <p:sp>
        <p:nvSpPr>
          <p:cNvPr id="6" name="demo-body-1">
            <a:extLst>
              <a:ext uri="{FF2B5EF4-FFF2-40B4-BE49-F238E27FC236}">
                <a16:creationId xmlns:a16="http://schemas.microsoft.com/office/drawing/2014/main" id="{0ECE04ED-9622-4269-BA62-6D05BA9BFD85}"/>
              </a:ext>
            </a:extLst>
          </p:cNvPr>
          <p:cNvSpPr>
            <a:spLocks noGrp="1"/>
          </p:cNvSpPr>
          <p:nvPr/>
        </p:nvSpPr>
        <p:spPr>
          <a:xfrm>
            <a:off x="1257300" y="1971313"/>
            <a:ext cx="3905250" cy="457200"/>
          </a:xfrm>
          <a:prstGeom prst="rect">
            <a:avLst/>
          </a:prstGeom>
          <a:noFill/>
          <a:ln w="0">
            <a:noFill/>
          </a:ln>
        </p:spPr>
        <p:txBody>
          <a:bodyPr anchor="ctr">
            <a:normAutofit/>
          </a:bodyPr>
          <a:lstStyle/>
          <a:p>
            <a:pPr algn="l">
              <a:defRPr sz="1050" b="0">
                <a:solidFill>
                  <a:srgbClr val="666078"/>
                </a:solidFill>
                <a:latin typeface="Calibri"/>
                <a:ea typeface="Calibri"/>
                <a:cs typeface="Calibri"/>
              </a:defRPr>
            </a:pPr>
            <a:r>
              <a:rPr sz="1050" b="0" dirty="0">
                <a:solidFill>
                  <a:srgbClr val="666078"/>
                </a:solidFill>
                <a:latin typeface="Calibri"/>
                <a:ea typeface="Calibri"/>
                <a:cs typeface="Calibri"/>
              </a:rPr>
              <a:t>The UI fetches the complaint and SIIS reference from /v1/examples.</a:t>
            </a:r>
          </a:p>
        </p:txBody>
      </p:sp>
      <p:sp>
        <p:nvSpPr>
          <p:cNvPr id="7" name="demo-num-2">
            <a:extLst>
              <a:ext uri="{FF2B5EF4-FFF2-40B4-BE49-F238E27FC236}">
                <a16:creationId xmlns:a16="http://schemas.microsoft.com/office/drawing/2014/main" id="{BC55E862-AF7D-4D1D-B1E1-96758EF1EF12}"/>
              </a:ext>
            </a:extLst>
          </p:cNvPr>
          <p:cNvSpPr>
            <a:spLocks noGrp="1"/>
          </p:cNvSpPr>
          <p:nvPr/>
        </p:nvSpPr>
        <p:spPr>
          <a:xfrm>
            <a:off x="800100" y="2633300"/>
            <a:ext cx="361950" cy="361950"/>
          </a:xfrm>
          <a:prstGeom prst="roundRect">
            <a:avLst>
              <a:gd name="adj" fmla="val 21053"/>
            </a:avLst>
          </a:prstGeom>
          <a:solidFill>
            <a:srgbClr val="7B3FF2"/>
          </a:solidFill>
          <a:ln w="9525">
            <a:solidFill>
              <a:srgbClr val="7B3FF2"/>
            </a:solidFill>
          </a:ln>
        </p:spPr>
        <p:txBody>
          <a:bodyPr anchor="ctr">
            <a:normAutofit/>
          </a:bodyPr>
          <a:lstStyle/>
          <a:p>
            <a:pPr algn="ctr">
              <a:defRPr sz="1275" b="1">
                <a:solidFill>
                  <a:srgbClr val="FFFFFF"/>
                </a:solidFill>
                <a:latin typeface="Calibri"/>
                <a:ea typeface="Calibri"/>
                <a:cs typeface="Calibri"/>
              </a:defRPr>
            </a:pPr>
            <a:r>
              <a:rPr sz="1275" b="1">
                <a:solidFill>
                  <a:srgbClr val="FFFFFF"/>
                </a:solidFill>
                <a:latin typeface="Calibri"/>
                <a:ea typeface="Calibri"/>
                <a:cs typeface="Calibri"/>
              </a:rPr>
              <a:t>2</a:t>
            </a:r>
          </a:p>
        </p:txBody>
      </p:sp>
      <p:sp>
        <p:nvSpPr>
          <p:cNvPr id="8" name="demo-head-2">
            <a:extLst>
              <a:ext uri="{FF2B5EF4-FFF2-40B4-BE49-F238E27FC236}">
                <a16:creationId xmlns:a16="http://schemas.microsoft.com/office/drawing/2014/main" id="{CAD8E59E-BB37-4C8B-B54A-7C815567D347}"/>
              </a:ext>
            </a:extLst>
          </p:cNvPr>
          <p:cNvSpPr>
            <a:spLocks noGrp="1"/>
          </p:cNvSpPr>
          <p:nvPr/>
        </p:nvSpPr>
        <p:spPr>
          <a:xfrm>
            <a:off x="1257300" y="2614250"/>
            <a:ext cx="3762375" cy="257175"/>
          </a:xfrm>
          <a:prstGeom prst="rect">
            <a:avLst/>
          </a:prstGeom>
          <a:noFill/>
          <a:ln w="0">
            <a:noFill/>
          </a:ln>
        </p:spPr>
        <p:txBody>
          <a:bodyPr anchor="ctr">
            <a:normAutofit fontScale="88055" lnSpcReduction="10000"/>
          </a:bodyPr>
          <a:lstStyle/>
          <a:p>
            <a:pPr algn="l">
              <a:defRPr sz="1350" b="1">
                <a:solidFill>
                  <a:srgbClr val="252035"/>
                </a:solidFill>
                <a:latin typeface="Calibri"/>
                <a:ea typeface="Calibri"/>
                <a:cs typeface="Calibri"/>
              </a:defRPr>
            </a:pPr>
            <a:r>
              <a:rPr sz="1350" b="1">
                <a:solidFill>
                  <a:srgbClr val="252035"/>
                </a:solidFill>
                <a:latin typeface="Calibri"/>
                <a:ea typeface="Calibri"/>
                <a:cs typeface="Calibri"/>
              </a:rPr>
              <a:t>Check the semantic cache</a:t>
            </a:r>
          </a:p>
        </p:txBody>
      </p:sp>
      <p:sp>
        <p:nvSpPr>
          <p:cNvPr id="9" name="demo-body-2">
            <a:extLst>
              <a:ext uri="{FF2B5EF4-FFF2-40B4-BE49-F238E27FC236}">
                <a16:creationId xmlns:a16="http://schemas.microsoft.com/office/drawing/2014/main" id="{A36A9953-E565-4536-AB0E-64E288870C16}"/>
              </a:ext>
            </a:extLst>
          </p:cNvPr>
          <p:cNvSpPr>
            <a:spLocks noGrp="1"/>
          </p:cNvSpPr>
          <p:nvPr/>
        </p:nvSpPr>
        <p:spPr>
          <a:xfrm>
            <a:off x="1257300" y="2695946"/>
            <a:ext cx="3905250" cy="457200"/>
          </a:xfrm>
          <a:prstGeom prst="rect">
            <a:avLst/>
          </a:prstGeom>
          <a:noFill/>
          <a:ln w="0">
            <a:noFill/>
          </a:ln>
        </p:spPr>
        <p:txBody>
          <a:bodyPr anchor="ctr">
            <a:normAutofit/>
          </a:bodyPr>
          <a:lstStyle/>
          <a:p>
            <a:pPr algn="l">
              <a:defRPr sz="1050" b="0">
                <a:solidFill>
                  <a:srgbClr val="666078"/>
                </a:solidFill>
                <a:latin typeface="Calibri"/>
                <a:ea typeface="Calibri"/>
                <a:cs typeface="Calibri"/>
              </a:defRPr>
            </a:pPr>
            <a:r>
              <a:rPr sz="1050" b="0" dirty="0">
                <a:solidFill>
                  <a:srgbClr val="666078"/>
                </a:solidFill>
                <a:latin typeface="Calibri"/>
                <a:ea typeface="Calibri"/>
                <a:cs typeface="Calibri"/>
              </a:rPr>
              <a:t>Similarity and the runner-up margin decide whether reuse is safe.</a:t>
            </a:r>
          </a:p>
        </p:txBody>
      </p:sp>
      <p:sp>
        <p:nvSpPr>
          <p:cNvPr id="10" name="demo-num-3">
            <a:extLst>
              <a:ext uri="{FF2B5EF4-FFF2-40B4-BE49-F238E27FC236}">
                <a16:creationId xmlns:a16="http://schemas.microsoft.com/office/drawing/2014/main" id="{1A3B00E5-FE08-435D-AF81-FA6ABFB99D50}"/>
              </a:ext>
            </a:extLst>
          </p:cNvPr>
          <p:cNvSpPr>
            <a:spLocks noGrp="1"/>
          </p:cNvSpPr>
          <p:nvPr/>
        </p:nvSpPr>
        <p:spPr>
          <a:xfrm>
            <a:off x="800100" y="3376250"/>
            <a:ext cx="361950" cy="361950"/>
          </a:xfrm>
          <a:prstGeom prst="roundRect">
            <a:avLst>
              <a:gd name="adj" fmla="val 21053"/>
            </a:avLst>
          </a:prstGeom>
          <a:solidFill>
            <a:srgbClr val="7B3FF2"/>
          </a:solidFill>
          <a:ln w="9525">
            <a:solidFill>
              <a:srgbClr val="7B3FF2"/>
            </a:solidFill>
          </a:ln>
        </p:spPr>
        <p:txBody>
          <a:bodyPr anchor="ctr">
            <a:normAutofit/>
          </a:bodyPr>
          <a:lstStyle/>
          <a:p>
            <a:pPr algn="ctr">
              <a:defRPr sz="1275" b="1">
                <a:solidFill>
                  <a:srgbClr val="FFFFFF"/>
                </a:solidFill>
                <a:latin typeface="Calibri"/>
                <a:ea typeface="Calibri"/>
                <a:cs typeface="Calibri"/>
              </a:defRPr>
            </a:pPr>
            <a:r>
              <a:rPr sz="1275" b="1">
                <a:solidFill>
                  <a:srgbClr val="FFFFFF"/>
                </a:solidFill>
                <a:latin typeface="Calibri"/>
                <a:ea typeface="Calibri"/>
                <a:cs typeface="Calibri"/>
              </a:rPr>
              <a:t>3</a:t>
            </a:r>
          </a:p>
        </p:txBody>
      </p:sp>
      <p:sp>
        <p:nvSpPr>
          <p:cNvPr id="11" name="demo-head-3">
            <a:extLst>
              <a:ext uri="{FF2B5EF4-FFF2-40B4-BE49-F238E27FC236}">
                <a16:creationId xmlns:a16="http://schemas.microsoft.com/office/drawing/2014/main" id="{76691AF7-FC5F-48BC-A0C0-0D78EB89E129}"/>
              </a:ext>
            </a:extLst>
          </p:cNvPr>
          <p:cNvSpPr>
            <a:spLocks noGrp="1"/>
          </p:cNvSpPr>
          <p:nvPr/>
        </p:nvSpPr>
        <p:spPr>
          <a:xfrm>
            <a:off x="1257300" y="3357200"/>
            <a:ext cx="3762375" cy="257175"/>
          </a:xfrm>
          <a:prstGeom prst="rect">
            <a:avLst/>
          </a:prstGeom>
          <a:noFill/>
          <a:ln w="0">
            <a:noFill/>
          </a:ln>
        </p:spPr>
        <p:txBody>
          <a:bodyPr anchor="ctr">
            <a:normAutofit fontScale="88055" lnSpcReduction="10000"/>
          </a:bodyPr>
          <a:lstStyle/>
          <a:p>
            <a:pPr algn="l">
              <a:defRPr sz="1350" b="1">
                <a:solidFill>
                  <a:srgbClr val="252035"/>
                </a:solidFill>
                <a:latin typeface="Calibri"/>
                <a:ea typeface="Calibri"/>
                <a:cs typeface="Calibri"/>
              </a:defRPr>
            </a:pPr>
            <a:r>
              <a:rPr sz="1350" b="1">
                <a:solidFill>
                  <a:srgbClr val="252035"/>
                </a:solidFill>
                <a:latin typeface="Calibri"/>
                <a:ea typeface="Calibri"/>
                <a:cs typeface="Calibri"/>
              </a:rPr>
              <a:t>Run grounded GenAI when needed</a:t>
            </a:r>
          </a:p>
        </p:txBody>
      </p:sp>
      <p:sp>
        <p:nvSpPr>
          <p:cNvPr id="12" name="demo-body-3">
            <a:extLst>
              <a:ext uri="{FF2B5EF4-FFF2-40B4-BE49-F238E27FC236}">
                <a16:creationId xmlns:a16="http://schemas.microsoft.com/office/drawing/2014/main" id="{EC93D3FF-6703-4A06-BEF1-03484BE137AC}"/>
              </a:ext>
            </a:extLst>
          </p:cNvPr>
          <p:cNvSpPr>
            <a:spLocks noGrp="1"/>
          </p:cNvSpPr>
          <p:nvPr/>
        </p:nvSpPr>
        <p:spPr>
          <a:xfrm>
            <a:off x="1257300" y="3538908"/>
            <a:ext cx="3905250" cy="457200"/>
          </a:xfrm>
          <a:prstGeom prst="rect">
            <a:avLst/>
          </a:prstGeom>
          <a:noFill/>
          <a:ln w="0">
            <a:noFill/>
          </a:ln>
        </p:spPr>
        <p:txBody>
          <a:bodyPr anchor="ctr">
            <a:normAutofit/>
          </a:bodyPr>
          <a:lstStyle/>
          <a:p>
            <a:pPr algn="l">
              <a:defRPr sz="1050" b="0">
                <a:solidFill>
                  <a:srgbClr val="666078"/>
                </a:solidFill>
                <a:latin typeface="Calibri"/>
                <a:ea typeface="Calibri"/>
                <a:cs typeface="Calibri"/>
              </a:defRPr>
            </a:pPr>
            <a:r>
              <a:rPr sz="1050" b="0" dirty="0">
                <a:solidFill>
                  <a:srgbClr val="666078"/>
                </a:solidFill>
                <a:latin typeface="Calibri"/>
                <a:ea typeface="Calibri"/>
                <a:cs typeface="Calibri"/>
              </a:rPr>
              <a:t>Gemini normalizes the query, then extracts only SIIS-supported actions.</a:t>
            </a:r>
          </a:p>
        </p:txBody>
      </p:sp>
      <p:sp>
        <p:nvSpPr>
          <p:cNvPr id="13" name="demo-num-4">
            <a:extLst>
              <a:ext uri="{FF2B5EF4-FFF2-40B4-BE49-F238E27FC236}">
                <a16:creationId xmlns:a16="http://schemas.microsoft.com/office/drawing/2014/main" id="{A64CB89F-691D-4D4E-B4F9-24F434D7DD11}"/>
              </a:ext>
            </a:extLst>
          </p:cNvPr>
          <p:cNvSpPr>
            <a:spLocks noGrp="1"/>
          </p:cNvSpPr>
          <p:nvPr/>
        </p:nvSpPr>
        <p:spPr>
          <a:xfrm>
            <a:off x="800100" y="4119200"/>
            <a:ext cx="361950" cy="361950"/>
          </a:xfrm>
          <a:prstGeom prst="roundRect">
            <a:avLst>
              <a:gd name="adj" fmla="val 21053"/>
            </a:avLst>
          </a:prstGeom>
          <a:solidFill>
            <a:srgbClr val="7B3FF2"/>
          </a:solidFill>
          <a:ln w="9525">
            <a:solidFill>
              <a:srgbClr val="7B3FF2"/>
            </a:solidFill>
          </a:ln>
        </p:spPr>
        <p:txBody>
          <a:bodyPr anchor="ctr">
            <a:normAutofit/>
          </a:bodyPr>
          <a:lstStyle/>
          <a:p>
            <a:pPr algn="ctr">
              <a:defRPr sz="1275" b="1">
                <a:solidFill>
                  <a:srgbClr val="FFFFFF"/>
                </a:solidFill>
                <a:latin typeface="Calibri"/>
                <a:ea typeface="Calibri"/>
                <a:cs typeface="Calibri"/>
              </a:defRPr>
            </a:pPr>
            <a:r>
              <a:rPr sz="1275" b="1">
                <a:solidFill>
                  <a:srgbClr val="FFFFFF"/>
                </a:solidFill>
                <a:latin typeface="Calibri"/>
                <a:ea typeface="Calibri"/>
                <a:cs typeface="Calibri"/>
              </a:rPr>
              <a:t>4</a:t>
            </a:r>
          </a:p>
        </p:txBody>
      </p:sp>
      <p:sp>
        <p:nvSpPr>
          <p:cNvPr id="14" name="demo-head-4">
            <a:extLst>
              <a:ext uri="{FF2B5EF4-FFF2-40B4-BE49-F238E27FC236}">
                <a16:creationId xmlns:a16="http://schemas.microsoft.com/office/drawing/2014/main" id="{EC81F4F4-ABE6-4516-BAC3-B3A2797505AD}"/>
              </a:ext>
            </a:extLst>
          </p:cNvPr>
          <p:cNvSpPr>
            <a:spLocks noGrp="1"/>
          </p:cNvSpPr>
          <p:nvPr/>
        </p:nvSpPr>
        <p:spPr>
          <a:xfrm>
            <a:off x="1257300" y="4100150"/>
            <a:ext cx="3762375" cy="257175"/>
          </a:xfrm>
          <a:prstGeom prst="rect">
            <a:avLst/>
          </a:prstGeom>
          <a:noFill/>
          <a:ln w="0">
            <a:noFill/>
          </a:ln>
        </p:spPr>
        <p:txBody>
          <a:bodyPr anchor="ctr">
            <a:normAutofit fontScale="88055" lnSpcReduction="10000"/>
          </a:bodyPr>
          <a:lstStyle/>
          <a:p>
            <a:pPr algn="l">
              <a:defRPr sz="1350" b="1">
                <a:solidFill>
                  <a:srgbClr val="252035"/>
                </a:solidFill>
                <a:latin typeface="Calibri"/>
                <a:ea typeface="Calibri"/>
                <a:cs typeface="Calibri"/>
              </a:defRPr>
            </a:pPr>
            <a:r>
              <a:rPr sz="1350" b="1">
                <a:solidFill>
                  <a:srgbClr val="252035"/>
                </a:solidFill>
                <a:latin typeface="Calibri"/>
                <a:ea typeface="Calibri"/>
                <a:cs typeface="Calibri"/>
              </a:rPr>
              <a:t>Map catalog deeplinks</a:t>
            </a:r>
          </a:p>
        </p:txBody>
      </p:sp>
      <p:sp>
        <p:nvSpPr>
          <p:cNvPr id="15" name="demo-body-4">
            <a:extLst>
              <a:ext uri="{FF2B5EF4-FFF2-40B4-BE49-F238E27FC236}">
                <a16:creationId xmlns:a16="http://schemas.microsoft.com/office/drawing/2014/main" id="{2BD3913C-EE52-4E89-8020-F8F5CC1B2B40}"/>
              </a:ext>
            </a:extLst>
          </p:cNvPr>
          <p:cNvSpPr>
            <a:spLocks noGrp="1"/>
          </p:cNvSpPr>
          <p:nvPr/>
        </p:nvSpPr>
        <p:spPr>
          <a:xfrm>
            <a:off x="1257300" y="4288086"/>
            <a:ext cx="3905250" cy="457200"/>
          </a:xfrm>
          <a:prstGeom prst="rect">
            <a:avLst/>
          </a:prstGeom>
          <a:noFill/>
          <a:ln w="0">
            <a:noFill/>
          </a:ln>
        </p:spPr>
        <p:txBody>
          <a:bodyPr anchor="ctr">
            <a:normAutofit/>
          </a:bodyPr>
          <a:lstStyle/>
          <a:p>
            <a:pPr algn="l">
              <a:defRPr sz="1050" b="0">
                <a:solidFill>
                  <a:srgbClr val="666078"/>
                </a:solidFill>
                <a:latin typeface="Calibri"/>
                <a:ea typeface="Calibri"/>
                <a:cs typeface="Calibri"/>
              </a:defRPr>
            </a:pPr>
            <a:r>
              <a:rPr sz="1050" b="0" dirty="0">
                <a:solidFill>
                  <a:srgbClr val="666078"/>
                </a:solidFill>
                <a:latin typeface="Calibri"/>
                <a:ea typeface="Calibri"/>
                <a:cs typeface="Calibri"/>
              </a:rPr>
              <a:t>Dense and BM25 retrieval propose candidates. Deterministic code verifies the screen.</a:t>
            </a:r>
          </a:p>
        </p:txBody>
      </p:sp>
      <p:sp>
        <p:nvSpPr>
          <p:cNvPr id="16" name="demo-num-5">
            <a:extLst>
              <a:ext uri="{FF2B5EF4-FFF2-40B4-BE49-F238E27FC236}">
                <a16:creationId xmlns:a16="http://schemas.microsoft.com/office/drawing/2014/main" id="{8B4E6046-EEDD-4270-A144-EE154AD84644}"/>
              </a:ext>
            </a:extLst>
          </p:cNvPr>
          <p:cNvSpPr>
            <a:spLocks noGrp="1"/>
          </p:cNvSpPr>
          <p:nvPr/>
        </p:nvSpPr>
        <p:spPr>
          <a:xfrm>
            <a:off x="800100" y="4862150"/>
            <a:ext cx="361950" cy="361950"/>
          </a:xfrm>
          <a:prstGeom prst="roundRect">
            <a:avLst>
              <a:gd name="adj" fmla="val 21053"/>
            </a:avLst>
          </a:prstGeom>
          <a:solidFill>
            <a:srgbClr val="7B3FF2"/>
          </a:solidFill>
          <a:ln w="9525">
            <a:solidFill>
              <a:srgbClr val="7B3FF2"/>
            </a:solidFill>
          </a:ln>
        </p:spPr>
        <p:txBody>
          <a:bodyPr anchor="ctr">
            <a:normAutofit/>
          </a:bodyPr>
          <a:lstStyle/>
          <a:p>
            <a:pPr algn="ctr">
              <a:defRPr sz="1275" b="1">
                <a:solidFill>
                  <a:srgbClr val="FFFFFF"/>
                </a:solidFill>
                <a:latin typeface="Calibri"/>
                <a:ea typeface="Calibri"/>
                <a:cs typeface="Calibri"/>
              </a:defRPr>
            </a:pPr>
            <a:r>
              <a:rPr sz="1275" b="1">
                <a:solidFill>
                  <a:srgbClr val="FFFFFF"/>
                </a:solidFill>
                <a:latin typeface="Calibri"/>
                <a:ea typeface="Calibri"/>
                <a:cs typeface="Calibri"/>
              </a:rPr>
              <a:t>5</a:t>
            </a:r>
          </a:p>
        </p:txBody>
      </p:sp>
      <p:sp>
        <p:nvSpPr>
          <p:cNvPr id="17" name="demo-head-5">
            <a:extLst>
              <a:ext uri="{FF2B5EF4-FFF2-40B4-BE49-F238E27FC236}">
                <a16:creationId xmlns:a16="http://schemas.microsoft.com/office/drawing/2014/main" id="{0F3FF279-7C1C-4B89-BC90-20690CDDB3DE}"/>
              </a:ext>
            </a:extLst>
          </p:cNvPr>
          <p:cNvSpPr>
            <a:spLocks noGrp="1"/>
          </p:cNvSpPr>
          <p:nvPr/>
        </p:nvSpPr>
        <p:spPr>
          <a:xfrm>
            <a:off x="1257300" y="4843100"/>
            <a:ext cx="3762375" cy="257175"/>
          </a:xfrm>
          <a:prstGeom prst="rect">
            <a:avLst/>
          </a:prstGeom>
          <a:noFill/>
          <a:ln w="0">
            <a:noFill/>
          </a:ln>
        </p:spPr>
        <p:txBody>
          <a:bodyPr anchor="ctr">
            <a:normAutofit fontScale="88055" lnSpcReduction="10000"/>
          </a:bodyPr>
          <a:lstStyle/>
          <a:p>
            <a:pPr algn="l">
              <a:defRPr sz="1350" b="1">
                <a:solidFill>
                  <a:srgbClr val="252035"/>
                </a:solidFill>
                <a:latin typeface="Calibri"/>
                <a:ea typeface="Calibri"/>
                <a:cs typeface="Calibri"/>
              </a:defRPr>
            </a:pPr>
            <a:r>
              <a:rPr sz="1350" b="1">
                <a:solidFill>
                  <a:srgbClr val="252035"/>
                </a:solidFill>
                <a:latin typeface="Calibri"/>
                <a:ea typeface="Calibri"/>
                <a:cs typeface="Calibri"/>
              </a:rPr>
              <a:t>Validate before serving</a:t>
            </a:r>
          </a:p>
        </p:txBody>
      </p:sp>
      <p:sp>
        <p:nvSpPr>
          <p:cNvPr id="18" name="demo-body-5">
            <a:extLst>
              <a:ext uri="{FF2B5EF4-FFF2-40B4-BE49-F238E27FC236}">
                <a16:creationId xmlns:a16="http://schemas.microsoft.com/office/drawing/2014/main" id="{3CAF53CB-626D-498A-A1D6-101C4EB46C2D}"/>
              </a:ext>
            </a:extLst>
          </p:cNvPr>
          <p:cNvSpPr>
            <a:spLocks noGrp="1"/>
          </p:cNvSpPr>
          <p:nvPr/>
        </p:nvSpPr>
        <p:spPr>
          <a:xfrm>
            <a:off x="1257300" y="5018579"/>
            <a:ext cx="3905250" cy="457200"/>
          </a:xfrm>
          <a:prstGeom prst="rect">
            <a:avLst/>
          </a:prstGeom>
          <a:noFill/>
          <a:ln w="0">
            <a:noFill/>
          </a:ln>
        </p:spPr>
        <p:txBody>
          <a:bodyPr anchor="ctr">
            <a:normAutofit/>
          </a:bodyPr>
          <a:lstStyle/>
          <a:p>
            <a:pPr algn="l">
              <a:defRPr sz="1050" b="0">
                <a:solidFill>
                  <a:srgbClr val="666078"/>
                </a:solidFill>
                <a:latin typeface="Calibri"/>
                <a:ea typeface="Calibri"/>
                <a:cs typeface="Calibri"/>
              </a:defRPr>
            </a:pPr>
            <a:r>
              <a:rPr sz="1050" b="0" dirty="0">
                <a:solidFill>
                  <a:srgbClr val="666078"/>
                </a:solidFill>
                <a:latin typeface="Calibri"/>
                <a:ea typeface="Calibri"/>
                <a:cs typeface="Calibri"/>
              </a:rPr>
              <a:t>Only schema-valid plans and catalog-approved URIs reach the user or cache.</a:t>
            </a:r>
          </a:p>
        </p:txBody>
      </p:sp>
      <p:sp>
        <p:nvSpPr>
          <p:cNvPr id="19" name="demo-shot-panel">
            <a:extLst>
              <a:ext uri="{FF2B5EF4-FFF2-40B4-BE49-F238E27FC236}">
                <a16:creationId xmlns:a16="http://schemas.microsoft.com/office/drawing/2014/main" id="{EA361FB9-592A-4BF0-A9A2-7EE6281E35EA}"/>
              </a:ext>
            </a:extLst>
          </p:cNvPr>
          <p:cNvSpPr>
            <a:spLocks noGrp="1"/>
          </p:cNvSpPr>
          <p:nvPr/>
        </p:nvSpPr>
        <p:spPr>
          <a:xfrm>
            <a:off x="5448300" y="1452200"/>
            <a:ext cx="6057900" cy="4838700"/>
          </a:xfrm>
          <a:prstGeom prst="roundRect">
            <a:avLst>
              <a:gd name="adj" fmla="val 2756"/>
            </a:avLst>
          </a:prstGeom>
          <a:solidFill>
            <a:srgbClr val="EFEAF8"/>
          </a:solidFill>
          <a:ln w="9525">
            <a:solidFill>
              <a:srgbClr val="D8CDEA"/>
            </a:solidFill>
          </a:ln>
        </p:spPr>
      </p:sp>
      <p:pic>
        <p:nvPicPr>
          <p:cNvPr id="40" name="Picture 39"/>
          <p:cNvPicPr>
            <a:picLocks noChangeAspect="1"/>
          </p:cNvPicPr>
          <p:nvPr/>
        </p:nvPicPr>
        <p:blipFill>
          <a:blip r:embed="rId3"/>
          <a:srcRect t="7211" b="7211"/>
          <a:stretch>
            <a:fillRect/>
          </a:stretch>
        </p:blipFill>
        <p:spPr>
          <a:xfrm>
            <a:off x="5524500" y="1528400"/>
            <a:ext cx="5905500" cy="4686300"/>
          </a:xfrm>
          <a:prstGeom prst="roundRect">
            <a:avLst>
              <a:gd name="adj" fmla="val 2846"/>
            </a:avLst>
          </a:prstGeom>
        </p:spPr>
      </p:pic>
      <p:sp>
        <p:nvSpPr>
          <p:cNvPr id="21" name="demo-observation">
            <a:extLst>
              <a:ext uri="{FF2B5EF4-FFF2-40B4-BE49-F238E27FC236}">
                <a16:creationId xmlns:a16="http://schemas.microsoft.com/office/drawing/2014/main" id="{0C2627E0-724D-44C9-8BC6-4F708507B86E}"/>
              </a:ext>
            </a:extLst>
          </p:cNvPr>
          <p:cNvSpPr>
            <a:spLocks noGrp="1"/>
          </p:cNvSpPr>
          <p:nvPr/>
        </p:nvSpPr>
        <p:spPr>
          <a:xfrm>
            <a:off x="781050" y="5757500"/>
            <a:ext cx="4381500" cy="476250"/>
          </a:xfrm>
          <a:prstGeom prst="roundRect">
            <a:avLst>
              <a:gd name="adj" fmla="val 16000"/>
            </a:avLst>
          </a:prstGeom>
          <a:solidFill>
            <a:srgbClr val="E7F7F1"/>
          </a:solidFill>
          <a:ln w="9525">
            <a:solidFill>
              <a:srgbClr val="BCE8DA"/>
            </a:solidFill>
          </a:ln>
        </p:spPr>
        <p:txBody>
          <a:bodyPr anchor="ctr">
            <a:normAutofit fontScale="99205"/>
          </a:bodyPr>
          <a:lstStyle/>
          <a:p>
            <a:pPr algn="l">
              <a:defRPr sz="1125" b="1">
                <a:solidFill>
                  <a:srgbClr val="217A65"/>
                </a:solidFill>
                <a:latin typeface="Calibri"/>
                <a:ea typeface="Calibri"/>
                <a:cs typeface="Calibri"/>
              </a:defRPr>
            </a:pPr>
            <a:r>
              <a:rPr sz="1125" b="1">
                <a:solidFill>
                  <a:srgbClr val="217A65"/>
                </a:solidFill>
                <a:latin typeface="Calibri"/>
                <a:ea typeface="Calibri"/>
                <a:cs typeface="Calibri"/>
              </a:rPr>
              <a:t>Observed live: 1 validated action, 1 actionable deeplink and 1 validation deeplink.</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sz="2900" b="1">
                <a:solidFill>
                  <a:srgbClr val="704EA6"/>
                </a:solidFill>
                <a:latin typeface="Calibri"/>
                <a:ea typeface="Calibri"/>
                <a:cs typeface="Calibri"/>
              </a:rPr>
              <a:t>Tools and Tech Stack Used</a:t>
            </a:r>
            <a:endParaRPr b="1">
              <a:solidFill>
                <a:srgbClr val="704EA6"/>
              </a:solidFill>
            </a:endParaRPr>
          </a:p>
        </p:txBody>
      </p:sp>
      <p:sp>
        <p:nvSpPr>
          <p:cNvPr id="3" name="Rounded Rectangle 2">
            <a:extLst>
              <a:ext uri="{FF2B5EF4-FFF2-40B4-BE49-F238E27FC236}">
                <a16:creationId xmlns:a16="http://schemas.microsoft.com/office/drawing/2014/main" id="{4DE3ED99-C630-403A-A617-4F7F4EEE1716}"/>
              </a:ext>
            </a:extLst>
          </p:cNvPr>
          <p:cNvSpPr>
            <a:spLocks noGrp="1"/>
          </p:cNvSpPr>
          <p:nvPr/>
        </p:nvSpPr>
        <p:spPr>
          <a:xfrm>
            <a:off x="841248" y="1438419"/>
            <a:ext cx="3368040" cy="1316736"/>
          </a:xfrm>
          <a:prstGeom prst="roundRect">
            <a:avLst>
              <a:gd name="adj" fmla="val 8000"/>
            </a:avLst>
          </a:prstGeom>
          <a:solidFill>
            <a:srgbClr val="F6F4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0ACC1349-1AA1-484D-A014-498DCC5B5E59}"/>
              </a:ext>
            </a:extLst>
          </p:cNvPr>
          <p:cNvSpPr>
            <a:spLocks noGrp="1"/>
          </p:cNvSpPr>
          <p:nvPr/>
        </p:nvSpPr>
        <p:spPr>
          <a:xfrm>
            <a:off x="1060704" y="1621299"/>
            <a:ext cx="2929128" cy="310896"/>
          </a:xfrm>
          <a:prstGeom prst="rect">
            <a:avLst/>
          </a:prstGeom>
          <a:noFill/>
        </p:spPr>
        <p:txBody>
          <a:bodyPr wrap="square" lIns="0" tIns="0" rIns="0" bIns="0" anchor="t">
            <a:spAutoFit/>
          </a:bodyPr>
          <a:lstStyle/>
          <a:p>
            <a:pPr algn="l">
              <a:spcBef>
                <a:spcPts val="0"/>
              </a:spcBef>
              <a:spcAft>
                <a:spcPts val="0"/>
              </a:spcAft>
              <a:buNone/>
            </a:pPr>
            <a:r>
              <a:rPr sz="1300" b="1" i="0">
                <a:solidFill>
                  <a:srgbClr val="14142B"/>
                </a:solidFill>
                <a:latin typeface="Calibri"/>
                <a:ea typeface="Calibri"/>
                <a:cs typeface="Calibri"/>
              </a:rPr>
              <a:t>Gemini 3.5 Flash</a:t>
            </a:r>
          </a:p>
        </p:txBody>
      </p:sp>
      <p:sp>
        <p:nvSpPr>
          <p:cNvPr id="5" name="TextBox 4">
            <a:extLst>
              <a:ext uri="{FF2B5EF4-FFF2-40B4-BE49-F238E27FC236}">
                <a16:creationId xmlns:a16="http://schemas.microsoft.com/office/drawing/2014/main" id="{88A92FCB-DF7E-407F-A197-49E51F35F6D6}"/>
              </a:ext>
            </a:extLst>
          </p:cNvPr>
          <p:cNvSpPr>
            <a:spLocks noGrp="1"/>
          </p:cNvSpPr>
          <p:nvPr/>
        </p:nvSpPr>
        <p:spPr>
          <a:xfrm>
            <a:off x="1060704" y="1909449"/>
            <a:ext cx="2929128" cy="219456"/>
          </a:xfrm>
          <a:prstGeom prst="rect">
            <a:avLst/>
          </a:prstGeom>
          <a:noFill/>
        </p:spPr>
        <p:txBody>
          <a:bodyPr wrap="square" lIns="0" tIns="0" rIns="0" bIns="0" anchor="t">
            <a:spAutoFit/>
          </a:bodyPr>
          <a:lstStyle/>
          <a:p>
            <a:pPr algn="l">
              <a:spcBef>
                <a:spcPts val="0"/>
              </a:spcBef>
              <a:spcAft>
                <a:spcPts val="0"/>
              </a:spcAft>
              <a:buNone/>
            </a:pPr>
            <a:r>
              <a:rPr sz="900" b="1" i="0">
                <a:solidFill>
                  <a:srgbClr val="6D28D9"/>
                </a:solidFill>
                <a:latin typeface="Calibri"/>
                <a:ea typeface="Calibri"/>
                <a:cs typeface="Calibri"/>
              </a:rPr>
              <a:t>GENAI</a:t>
            </a:r>
          </a:p>
        </p:txBody>
      </p:sp>
      <p:sp>
        <p:nvSpPr>
          <p:cNvPr id="6" name="TextBox 5">
            <a:extLst>
              <a:ext uri="{FF2B5EF4-FFF2-40B4-BE49-F238E27FC236}">
                <a16:creationId xmlns:a16="http://schemas.microsoft.com/office/drawing/2014/main" id="{E4906266-DA2C-4703-B94D-E238F85C0D22}"/>
              </a:ext>
            </a:extLst>
          </p:cNvPr>
          <p:cNvSpPr>
            <a:spLocks noGrp="1"/>
          </p:cNvSpPr>
          <p:nvPr/>
        </p:nvSpPr>
        <p:spPr>
          <a:xfrm>
            <a:off x="1060704" y="2118585"/>
            <a:ext cx="2929128" cy="480060"/>
          </a:xfrm>
          <a:prstGeom prst="rect">
            <a:avLst/>
          </a:prstGeom>
          <a:noFill/>
        </p:spPr>
        <p:txBody>
          <a:bodyPr wrap="square" lIns="0" tIns="0" rIns="0" bIns="0" anchor="t">
            <a:spAutoFit/>
          </a:bodyPr>
          <a:lstStyle/>
          <a:p>
            <a:pPr algn="l">
              <a:spcBef>
                <a:spcPts val="0"/>
              </a:spcBef>
              <a:spcAft>
                <a:spcPts val="0"/>
              </a:spcAft>
              <a:buNone/>
            </a:pPr>
            <a:r>
              <a:rPr sz="1050" b="0" i="0" dirty="0">
                <a:solidFill>
                  <a:srgbClr val="63637E"/>
                </a:solidFill>
                <a:latin typeface="Calibri"/>
                <a:ea typeface="Calibri"/>
                <a:cs typeface="Calibri"/>
              </a:rPr>
              <a:t>Two JSON-only stages: query enrichment and SIIS-grounded structure extraction. Flash-Lite is the configured fallback.</a:t>
            </a:r>
          </a:p>
        </p:txBody>
      </p:sp>
      <p:sp>
        <p:nvSpPr>
          <p:cNvPr id="7" name="Rounded Rectangle 6">
            <a:extLst>
              <a:ext uri="{FF2B5EF4-FFF2-40B4-BE49-F238E27FC236}">
                <a16:creationId xmlns:a16="http://schemas.microsoft.com/office/drawing/2014/main" id="{F23AB9A9-2C06-45B7-B6A6-463B99964667}"/>
              </a:ext>
            </a:extLst>
          </p:cNvPr>
          <p:cNvSpPr>
            <a:spLocks noGrp="1"/>
          </p:cNvSpPr>
          <p:nvPr/>
        </p:nvSpPr>
        <p:spPr>
          <a:xfrm>
            <a:off x="4410456" y="1438419"/>
            <a:ext cx="3368040" cy="1316736"/>
          </a:xfrm>
          <a:prstGeom prst="roundRect">
            <a:avLst>
              <a:gd name="adj" fmla="val 8000"/>
            </a:avLst>
          </a:prstGeom>
          <a:solidFill>
            <a:srgbClr val="ECE9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B6256D8E-F6CD-4DFD-9BCF-10A9E8DE7D6C}"/>
              </a:ext>
            </a:extLst>
          </p:cNvPr>
          <p:cNvSpPr>
            <a:spLocks noGrp="1"/>
          </p:cNvSpPr>
          <p:nvPr/>
        </p:nvSpPr>
        <p:spPr>
          <a:xfrm>
            <a:off x="4629912" y="1621299"/>
            <a:ext cx="2929128" cy="310896"/>
          </a:xfrm>
          <a:prstGeom prst="rect">
            <a:avLst/>
          </a:prstGeom>
          <a:noFill/>
        </p:spPr>
        <p:txBody>
          <a:bodyPr wrap="square" lIns="0" tIns="0" rIns="0" bIns="0" anchor="t">
            <a:spAutoFit/>
          </a:bodyPr>
          <a:lstStyle/>
          <a:p>
            <a:pPr algn="l">
              <a:spcBef>
                <a:spcPts val="0"/>
              </a:spcBef>
              <a:spcAft>
                <a:spcPts val="0"/>
              </a:spcAft>
              <a:buNone/>
            </a:pPr>
            <a:r>
              <a:rPr sz="1300" b="1" i="0">
                <a:solidFill>
                  <a:srgbClr val="14142B"/>
                </a:solidFill>
                <a:latin typeface="Calibri"/>
                <a:ea typeface="Calibri"/>
                <a:cs typeface="Calibri"/>
              </a:rPr>
              <a:t>BAAI/bge-small-en-v1.5</a:t>
            </a:r>
          </a:p>
        </p:txBody>
      </p:sp>
      <p:sp>
        <p:nvSpPr>
          <p:cNvPr id="9" name="TextBox 8">
            <a:extLst>
              <a:ext uri="{FF2B5EF4-FFF2-40B4-BE49-F238E27FC236}">
                <a16:creationId xmlns:a16="http://schemas.microsoft.com/office/drawing/2014/main" id="{AD8D87D8-AE39-42E6-80F9-3C1C7108E05B}"/>
              </a:ext>
            </a:extLst>
          </p:cNvPr>
          <p:cNvSpPr>
            <a:spLocks noGrp="1"/>
          </p:cNvSpPr>
          <p:nvPr/>
        </p:nvSpPr>
        <p:spPr>
          <a:xfrm>
            <a:off x="4629912" y="1909449"/>
            <a:ext cx="2929128" cy="219456"/>
          </a:xfrm>
          <a:prstGeom prst="rect">
            <a:avLst/>
          </a:prstGeom>
          <a:noFill/>
        </p:spPr>
        <p:txBody>
          <a:bodyPr wrap="square" lIns="0" tIns="0" rIns="0" bIns="0" anchor="t">
            <a:spAutoFit/>
          </a:bodyPr>
          <a:lstStyle/>
          <a:p>
            <a:pPr algn="l">
              <a:spcBef>
                <a:spcPts val="0"/>
              </a:spcBef>
              <a:spcAft>
                <a:spcPts val="0"/>
              </a:spcAft>
              <a:buNone/>
            </a:pPr>
            <a:r>
              <a:rPr sz="900" b="1" i="0">
                <a:solidFill>
                  <a:srgbClr val="6D28D9"/>
                </a:solidFill>
                <a:latin typeface="Calibri"/>
                <a:ea typeface="Calibri"/>
                <a:cs typeface="Calibri"/>
              </a:rPr>
              <a:t>EMBEDDINGS</a:t>
            </a:r>
          </a:p>
        </p:txBody>
      </p:sp>
      <p:sp>
        <p:nvSpPr>
          <p:cNvPr id="10" name="TextBox 9">
            <a:extLst>
              <a:ext uri="{FF2B5EF4-FFF2-40B4-BE49-F238E27FC236}">
                <a16:creationId xmlns:a16="http://schemas.microsoft.com/office/drawing/2014/main" id="{0F7387EF-D371-4B5C-A686-E463D5D52411}"/>
              </a:ext>
            </a:extLst>
          </p:cNvPr>
          <p:cNvSpPr>
            <a:spLocks noGrp="1"/>
          </p:cNvSpPr>
          <p:nvPr/>
        </p:nvSpPr>
        <p:spPr>
          <a:xfrm>
            <a:off x="4629912" y="2118585"/>
            <a:ext cx="2929128" cy="480060"/>
          </a:xfrm>
          <a:prstGeom prst="rect">
            <a:avLst/>
          </a:prstGeom>
          <a:noFill/>
        </p:spPr>
        <p:txBody>
          <a:bodyPr wrap="square" lIns="0" tIns="0" rIns="0" bIns="0" anchor="t">
            <a:spAutoFit/>
          </a:bodyPr>
          <a:lstStyle/>
          <a:p>
            <a:pPr algn="l">
              <a:spcBef>
                <a:spcPts val="0"/>
              </a:spcBef>
              <a:spcAft>
                <a:spcPts val="0"/>
              </a:spcAft>
              <a:buNone/>
            </a:pPr>
            <a:r>
              <a:rPr sz="1050" b="0" i="0">
                <a:solidFill>
                  <a:srgbClr val="63637E"/>
                </a:solidFill>
                <a:latin typeface="Calibri"/>
                <a:ea typeface="Calibri"/>
                <a:cs typeface="Calibri"/>
              </a:rPr>
              <a:t>384-dimensional vectors through fastembed and ONNX Runtime. No PyTorch dependency and no GPU requirement.</a:t>
            </a:r>
          </a:p>
        </p:txBody>
      </p:sp>
      <p:sp>
        <p:nvSpPr>
          <p:cNvPr id="11" name="Rounded Rectangle 10">
            <a:extLst>
              <a:ext uri="{FF2B5EF4-FFF2-40B4-BE49-F238E27FC236}">
                <a16:creationId xmlns:a16="http://schemas.microsoft.com/office/drawing/2014/main" id="{B651AD63-2D1F-4395-B4C1-0A98BDBEE7B9}"/>
              </a:ext>
            </a:extLst>
          </p:cNvPr>
          <p:cNvSpPr>
            <a:spLocks noGrp="1"/>
          </p:cNvSpPr>
          <p:nvPr/>
        </p:nvSpPr>
        <p:spPr>
          <a:xfrm>
            <a:off x="7979664" y="1438419"/>
            <a:ext cx="3368040" cy="1316736"/>
          </a:xfrm>
          <a:prstGeom prst="roundRect">
            <a:avLst>
              <a:gd name="adj" fmla="val 8000"/>
            </a:avLst>
          </a:prstGeom>
          <a:solidFill>
            <a:srgbClr val="F6F4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B8107A-7F64-4517-9B88-B70CEF85106F}"/>
              </a:ext>
            </a:extLst>
          </p:cNvPr>
          <p:cNvSpPr>
            <a:spLocks noGrp="1"/>
          </p:cNvSpPr>
          <p:nvPr/>
        </p:nvSpPr>
        <p:spPr>
          <a:xfrm>
            <a:off x="8199120" y="1621299"/>
            <a:ext cx="2929128" cy="310896"/>
          </a:xfrm>
          <a:prstGeom prst="rect">
            <a:avLst/>
          </a:prstGeom>
          <a:noFill/>
        </p:spPr>
        <p:txBody>
          <a:bodyPr wrap="square" lIns="0" tIns="0" rIns="0" bIns="0" anchor="t">
            <a:spAutoFit/>
          </a:bodyPr>
          <a:lstStyle/>
          <a:p>
            <a:pPr algn="l">
              <a:spcBef>
                <a:spcPts val="0"/>
              </a:spcBef>
              <a:spcAft>
                <a:spcPts val="0"/>
              </a:spcAft>
              <a:buNone/>
            </a:pPr>
            <a:r>
              <a:rPr sz="1300" b="1" i="0">
                <a:solidFill>
                  <a:srgbClr val="14142B"/>
                </a:solidFill>
                <a:latin typeface="Calibri"/>
                <a:ea typeface="Calibri"/>
                <a:cs typeface="Calibri"/>
              </a:rPr>
              <a:t>PostgreSQL 17 + pgvector</a:t>
            </a:r>
          </a:p>
        </p:txBody>
      </p:sp>
      <p:sp>
        <p:nvSpPr>
          <p:cNvPr id="13" name="TextBox 12">
            <a:extLst>
              <a:ext uri="{FF2B5EF4-FFF2-40B4-BE49-F238E27FC236}">
                <a16:creationId xmlns:a16="http://schemas.microsoft.com/office/drawing/2014/main" id="{88194908-2786-4F84-B0DF-12EE85F9A320}"/>
              </a:ext>
            </a:extLst>
          </p:cNvPr>
          <p:cNvSpPr>
            <a:spLocks noGrp="1"/>
          </p:cNvSpPr>
          <p:nvPr/>
        </p:nvSpPr>
        <p:spPr>
          <a:xfrm>
            <a:off x="8199120" y="1909449"/>
            <a:ext cx="2929128" cy="219456"/>
          </a:xfrm>
          <a:prstGeom prst="rect">
            <a:avLst/>
          </a:prstGeom>
          <a:noFill/>
        </p:spPr>
        <p:txBody>
          <a:bodyPr wrap="square" lIns="0" tIns="0" rIns="0" bIns="0" anchor="t">
            <a:spAutoFit/>
          </a:bodyPr>
          <a:lstStyle/>
          <a:p>
            <a:pPr algn="l">
              <a:spcBef>
                <a:spcPts val="0"/>
              </a:spcBef>
              <a:spcAft>
                <a:spcPts val="0"/>
              </a:spcAft>
              <a:buNone/>
            </a:pPr>
            <a:r>
              <a:rPr sz="900" b="1" i="0">
                <a:solidFill>
                  <a:srgbClr val="6D28D9"/>
                </a:solidFill>
                <a:latin typeface="Calibri"/>
                <a:ea typeface="Calibri"/>
                <a:cs typeface="Calibri"/>
              </a:rPr>
              <a:t>DATABASE</a:t>
            </a:r>
          </a:p>
        </p:txBody>
      </p:sp>
      <p:sp>
        <p:nvSpPr>
          <p:cNvPr id="14" name="TextBox 13">
            <a:extLst>
              <a:ext uri="{FF2B5EF4-FFF2-40B4-BE49-F238E27FC236}">
                <a16:creationId xmlns:a16="http://schemas.microsoft.com/office/drawing/2014/main" id="{892714B6-06D0-4DB6-85A5-8C1327311BA4}"/>
              </a:ext>
            </a:extLst>
          </p:cNvPr>
          <p:cNvSpPr>
            <a:spLocks noGrp="1"/>
          </p:cNvSpPr>
          <p:nvPr/>
        </p:nvSpPr>
        <p:spPr>
          <a:xfrm>
            <a:off x="8199120" y="2118585"/>
            <a:ext cx="2929128" cy="457200"/>
          </a:xfrm>
          <a:prstGeom prst="rect">
            <a:avLst/>
          </a:prstGeom>
          <a:noFill/>
        </p:spPr>
        <p:txBody>
          <a:bodyPr wrap="square" lIns="0" tIns="0" rIns="0" bIns="0" anchor="t">
            <a:spAutoFit/>
          </a:bodyPr>
          <a:lstStyle/>
          <a:p>
            <a:pPr algn="l">
              <a:spcBef>
                <a:spcPts val="0"/>
              </a:spcBef>
              <a:spcAft>
                <a:spcPts val="0"/>
              </a:spcAft>
              <a:buNone/>
            </a:pPr>
            <a:r>
              <a:rPr sz="1050" b="0" i="0">
                <a:solidFill>
                  <a:srgbClr val="63637E"/>
                </a:solidFill>
                <a:latin typeface="Calibri"/>
                <a:ea typeface="Calibri"/>
                <a:cs typeface="Calibri"/>
              </a:rPr>
              <a:t>System of record for the catalog, cached plan JSON, metrics and HNSW cosine vectors.</a:t>
            </a:r>
          </a:p>
        </p:txBody>
      </p:sp>
      <p:sp>
        <p:nvSpPr>
          <p:cNvPr id="15" name="Rounded Rectangle 14">
            <a:extLst>
              <a:ext uri="{FF2B5EF4-FFF2-40B4-BE49-F238E27FC236}">
                <a16:creationId xmlns:a16="http://schemas.microsoft.com/office/drawing/2014/main" id="{A6CB1CBA-1930-4E6C-B26C-1FDF7EFB535C}"/>
              </a:ext>
            </a:extLst>
          </p:cNvPr>
          <p:cNvSpPr>
            <a:spLocks noGrp="1"/>
          </p:cNvSpPr>
          <p:nvPr/>
        </p:nvSpPr>
        <p:spPr>
          <a:xfrm>
            <a:off x="841248" y="2974611"/>
            <a:ext cx="3368040" cy="1316736"/>
          </a:xfrm>
          <a:prstGeom prst="roundRect">
            <a:avLst>
              <a:gd name="adj" fmla="val 8000"/>
            </a:avLst>
          </a:prstGeom>
          <a:solidFill>
            <a:srgbClr val="ECE9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D66F8ABE-0E0C-41B9-A6F3-B5762A16134B}"/>
              </a:ext>
            </a:extLst>
          </p:cNvPr>
          <p:cNvSpPr>
            <a:spLocks noGrp="1"/>
          </p:cNvSpPr>
          <p:nvPr/>
        </p:nvSpPr>
        <p:spPr>
          <a:xfrm>
            <a:off x="1060704" y="3157491"/>
            <a:ext cx="2929128" cy="310896"/>
          </a:xfrm>
          <a:prstGeom prst="rect">
            <a:avLst/>
          </a:prstGeom>
          <a:noFill/>
        </p:spPr>
        <p:txBody>
          <a:bodyPr wrap="square" lIns="0" tIns="0" rIns="0" bIns="0" anchor="t">
            <a:spAutoFit/>
          </a:bodyPr>
          <a:lstStyle/>
          <a:p>
            <a:pPr algn="l">
              <a:spcBef>
                <a:spcPts val="0"/>
              </a:spcBef>
              <a:spcAft>
                <a:spcPts val="0"/>
              </a:spcAft>
              <a:buNone/>
            </a:pPr>
            <a:r>
              <a:rPr sz="1300" b="1" i="0">
                <a:solidFill>
                  <a:srgbClr val="14142B"/>
                </a:solidFill>
                <a:latin typeface="Calibri"/>
                <a:ea typeface="Calibri"/>
                <a:cs typeface="Calibri"/>
              </a:rPr>
              <a:t>BM25 + weighted RRF</a:t>
            </a:r>
          </a:p>
        </p:txBody>
      </p:sp>
      <p:sp>
        <p:nvSpPr>
          <p:cNvPr id="17" name="TextBox 16">
            <a:extLst>
              <a:ext uri="{FF2B5EF4-FFF2-40B4-BE49-F238E27FC236}">
                <a16:creationId xmlns:a16="http://schemas.microsoft.com/office/drawing/2014/main" id="{8805C8EA-AA9B-4625-B0D1-279DE3B78AEB}"/>
              </a:ext>
            </a:extLst>
          </p:cNvPr>
          <p:cNvSpPr>
            <a:spLocks noGrp="1"/>
          </p:cNvSpPr>
          <p:nvPr/>
        </p:nvSpPr>
        <p:spPr>
          <a:xfrm>
            <a:off x="1060704" y="3445641"/>
            <a:ext cx="2929128" cy="219456"/>
          </a:xfrm>
          <a:prstGeom prst="rect">
            <a:avLst/>
          </a:prstGeom>
          <a:noFill/>
        </p:spPr>
        <p:txBody>
          <a:bodyPr wrap="square" lIns="0" tIns="0" rIns="0" bIns="0" anchor="t">
            <a:spAutoFit/>
          </a:bodyPr>
          <a:lstStyle/>
          <a:p>
            <a:pPr algn="l">
              <a:spcBef>
                <a:spcPts val="0"/>
              </a:spcBef>
              <a:spcAft>
                <a:spcPts val="0"/>
              </a:spcAft>
              <a:buNone/>
            </a:pPr>
            <a:r>
              <a:rPr sz="900" b="1" i="0">
                <a:solidFill>
                  <a:srgbClr val="6D28D9"/>
                </a:solidFill>
                <a:latin typeface="Calibri"/>
                <a:ea typeface="Calibri"/>
                <a:cs typeface="Calibri"/>
              </a:rPr>
              <a:t>RETRIEVAL</a:t>
            </a:r>
          </a:p>
        </p:txBody>
      </p:sp>
      <p:sp>
        <p:nvSpPr>
          <p:cNvPr id="18" name="TextBox 17">
            <a:extLst>
              <a:ext uri="{FF2B5EF4-FFF2-40B4-BE49-F238E27FC236}">
                <a16:creationId xmlns:a16="http://schemas.microsoft.com/office/drawing/2014/main" id="{BE8CADA4-291C-4D9F-9636-A048E52A86D4}"/>
              </a:ext>
            </a:extLst>
          </p:cNvPr>
          <p:cNvSpPr>
            <a:spLocks noGrp="1"/>
          </p:cNvSpPr>
          <p:nvPr/>
        </p:nvSpPr>
        <p:spPr>
          <a:xfrm>
            <a:off x="1060704" y="3654777"/>
            <a:ext cx="2929128" cy="480060"/>
          </a:xfrm>
          <a:prstGeom prst="rect">
            <a:avLst/>
          </a:prstGeom>
          <a:noFill/>
        </p:spPr>
        <p:txBody>
          <a:bodyPr wrap="square" lIns="0" tIns="0" rIns="0" bIns="0" anchor="t">
            <a:spAutoFit/>
          </a:bodyPr>
          <a:lstStyle/>
          <a:p>
            <a:pPr algn="l">
              <a:spcBef>
                <a:spcPts val="0"/>
              </a:spcBef>
              <a:spcAft>
                <a:spcPts val="0"/>
              </a:spcAft>
              <a:buNone/>
            </a:pPr>
            <a:r>
              <a:rPr sz="1050" b="0" i="0">
                <a:solidFill>
                  <a:srgbClr val="63637E"/>
                </a:solidFill>
                <a:latin typeface="Calibri"/>
                <a:ea typeface="Calibri"/>
                <a:cs typeface="Calibri"/>
              </a:rPr>
              <a:t>Dense search handles paraphrases. BM25 anchors exact terms. Rank fusion combines both without mixing score scales.</a:t>
            </a:r>
          </a:p>
        </p:txBody>
      </p:sp>
      <p:sp>
        <p:nvSpPr>
          <p:cNvPr id="19" name="Rounded Rectangle 18">
            <a:extLst>
              <a:ext uri="{FF2B5EF4-FFF2-40B4-BE49-F238E27FC236}">
                <a16:creationId xmlns:a16="http://schemas.microsoft.com/office/drawing/2014/main" id="{D2C59E31-996E-47C0-AB98-8D4C4E94583E}"/>
              </a:ext>
            </a:extLst>
          </p:cNvPr>
          <p:cNvSpPr>
            <a:spLocks noGrp="1"/>
          </p:cNvSpPr>
          <p:nvPr/>
        </p:nvSpPr>
        <p:spPr>
          <a:xfrm>
            <a:off x="4410456" y="2974611"/>
            <a:ext cx="3368040" cy="1316736"/>
          </a:xfrm>
          <a:prstGeom prst="roundRect">
            <a:avLst>
              <a:gd name="adj" fmla="val 8000"/>
            </a:avLst>
          </a:prstGeom>
          <a:solidFill>
            <a:srgbClr val="F6F4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5FB54463-728B-4A8B-92C7-615BFCB320EF}"/>
              </a:ext>
            </a:extLst>
          </p:cNvPr>
          <p:cNvSpPr>
            <a:spLocks noGrp="1"/>
          </p:cNvSpPr>
          <p:nvPr/>
        </p:nvSpPr>
        <p:spPr>
          <a:xfrm>
            <a:off x="4629912" y="3157491"/>
            <a:ext cx="2929128" cy="310896"/>
          </a:xfrm>
          <a:prstGeom prst="rect">
            <a:avLst/>
          </a:prstGeom>
          <a:noFill/>
        </p:spPr>
        <p:txBody>
          <a:bodyPr wrap="square" lIns="0" tIns="0" rIns="0" bIns="0" anchor="t">
            <a:spAutoFit/>
          </a:bodyPr>
          <a:lstStyle/>
          <a:p>
            <a:pPr algn="l">
              <a:spcBef>
                <a:spcPts val="0"/>
              </a:spcBef>
              <a:spcAft>
                <a:spcPts val="0"/>
              </a:spcAft>
              <a:buNone/>
            </a:pPr>
            <a:r>
              <a:rPr sz="1300" b="1" i="0">
                <a:solidFill>
                  <a:srgbClr val="14142B"/>
                </a:solidFill>
                <a:latin typeface="Calibri"/>
                <a:ea typeface="Calibri"/>
                <a:cs typeface="Calibri"/>
              </a:rPr>
              <a:t>FastAPI + Pydantic + psycopg3</a:t>
            </a:r>
          </a:p>
        </p:txBody>
      </p:sp>
      <p:sp>
        <p:nvSpPr>
          <p:cNvPr id="21" name="TextBox 20">
            <a:extLst>
              <a:ext uri="{FF2B5EF4-FFF2-40B4-BE49-F238E27FC236}">
                <a16:creationId xmlns:a16="http://schemas.microsoft.com/office/drawing/2014/main" id="{0C93E729-A035-42E4-9854-DF67EBA77715}"/>
              </a:ext>
            </a:extLst>
          </p:cNvPr>
          <p:cNvSpPr>
            <a:spLocks noGrp="1"/>
          </p:cNvSpPr>
          <p:nvPr/>
        </p:nvSpPr>
        <p:spPr>
          <a:xfrm>
            <a:off x="4629912" y="3445641"/>
            <a:ext cx="2929128" cy="219456"/>
          </a:xfrm>
          <a:prstGeom prst="rect">
            <a:avLst/>
          </a:prstGeom>
          <a:noFill/>
        </p:spPr>
        <p:txBody>
          <a:bodyPr wrap="square" lIns="0" tIns="0" rIns="0" bIns="0" anchor="t">
            <a:spAutoFit/>
          </a:bodyPr>
          <a:lstStyle/>
          <a:p>
            <a:pPr algn="l">
              <a:spcBef>
                <a:spcPts val="0"/>
              </a:spcBef>
              <a:spcAft>
                <a:spcPts val="0"/>
              </a:spcAft>
              <a:buNone/>
            </a:pPr>
            <a:r>
              <a:rPr sz="900" b="1" i="0">
                <a:solidFill>
                  <a:srgbClr val="6D28D9"/>
                </a:solidFill>
                <a:latin typeface="Calibri"/>
                <a:ea typeface="Calibri"/>
                <a:cs typeface="Calibri"/>
              </a:rPr>
              <a:t>BACKEND API</a:t>
            </a:r>
          </a:p>
        </p:txBody>
      </p:sp>
      <p:sp>
        <p:nvSpPr>
          <p:cNvPr id="22" name="TextBox 21">
            <a:extLst>
              <a:ext uri="{FF2B5EF4-FFF2-40B4-BE49-F238E27FC236}">
                <a16:creationId xmlns:a16="http://schemas.microsoft.com/office/drawing/2014/main" id="{7E399B97-D56B-4873-9F82-70A38A9C1E55}"/>
              </a:ext>
            </a:extLst>
          </p:cNvPr>
          <p:cNvSpPr>
            <a:spLocks noGrp="1"/>
          </p:cNvSpPr>
          <p:nvPr/>
        </p:nvSpPr>
        <p:spPr>
          <a:xfrm>
            <a:off x="4629912" y="3654777"/>
            <a:ext cx="2929128" cy="480060"/>
          </a:xfrm>
          <a:prstGeom prst="rect">
            <a:avLst/>
          </a:prstGeom>
          <a:noFill/>
        </p:spPr>
        <p:txBody>
          <a:bodyPr wrap="square" lIns="0" tIns="0" rIns="0" bIns="0" anchor="t">
            <a:spAutoFit/>
          </a:bodyPr>
          <a:lstStyle/>
          <a:p>
            <a:pPr algn="l">
              <a:spcBef>
                <a:spcPts val="0"/>
              </a:spcBef>
              <a:spcAft>
                <a:spcPts val="0"/>
              </a:spcAft>
              <a:buNone/>
            </a:pPr>
            <a:r>
              <a:rPr sz="1050" b="0" i="0">
                <a:solidFill>
                  <a:srgbClr val="63637E"/>
                </a:solidFill>
                <a:latin typeface="Calibri"/>
                <a:ea typeface="Calibri"/>
                <a:cs typeface="Calibri"/>
              </a:rPr>
              <a:t>Async REST API with readiness probes, typed contracts and a managed PostgreSQL connection pool.</a:t>
            </a:r>
          </a:p>
        </p:txBody>
      </p:sp>
      <p:sp>
        <p:nvSpPr>
          <p:cNvPr id="23" name="Rounded Rectangle 22">
            <a:extLst>
              <a:ext uri="{FF2B5EF4-FFF2-40B4-BE49-F238E27FC236}">
                <a16:creationId xmlns:a16="http://schemas.microsoft.com/office/drawing/2014/main" id="{D65ADB41-FA6B-44F4-A915-2246D98248F7}"/>
              </a:ext>
            </a:extLst>
          </p:cNvPr>
          <p:cNvSpPr>
            <a:spLocks noGrp="1"/>
          </p:cNvSpPr>
          <p:nvPr/>
        </p:nvSpPr>
        <p:spPr>
          <a:xfrm>
            <a:off x="7979664" y="2974611"/>
            <a:ext cx="3368040" cy="1316736"/>
          </a:xfrm>
          <a:prstGeom prst="roundRect">
            <a:avLst>
              <a:gd name="adj" fmla="val 8000"/>
            </a:avLst>
          </a:prstGeom>
          <a:solidFill>
            <a:srgbClr val="ECE9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FC644740-D22C-49F2-92E7-63AF3B9A78C1}"/>
              </a:ext>
            </a:extLst>
          </p:cNvPr>
          <p:cNvSpPr>
            <a:spLocks noGrp="1"/>
          </p:cNvSpPr>
          <p:nvPr/>
        </p:nvSpPr>
        <p:spPr>
          <a:xfrm>
            <a:off x="8199120" y="3157491"/>
            <a:ext cx="2929128" cy="310896"/>
          </a:xfrm>
          <a:prstGeom prst="rect">
            <a:avLst/>
          </a:prstGeom>
          <a:noFill/>
        </p:spPr>
        <p:txBody>
          <a:bodyPr wrap="square" lIns="0" tIns="0" rIns="0" bIns="0" anchor="t">
            <a:spAutoFit/>
          </a:bodyPr>
          <a:lstStyle/>
          <a:p>
            <a:pPr algn="l">
              <a:spcBef>
                <a:spcPts val="0"/>
              </a:spcBef>
              <a:spcAft>
                <a:spcPts val="0"/>
              </a:spcAft>
              <a:buNone/>
            </a:pPr>
            <a:r>
              <a:rPr sz="1300" b="1" i="0">
                <a:solidFill>
                  <a:srgbClr val="14142B"/>
                </a:solidFill>
                <a:latin typeface="Calibri"/>
                <a:ea typeface="Calibri"/>
                <a:cs typeface="Calibri"/>
              </a:rPr>
              <a:t>Vanilla HTML, CSS and JavaScript</a:t>
            </a:r>
          </a:p>
        </p:txBody>
      </p:sp>
      <p:sp>
        <p:nvSpPr>
          <p:cNvPr id="25" name="TextBox 24">
            <a:extLst>
              <a:ext uri="{FF2B5EF4-FFF2-40B4-BE49-F238E27FC236}">
                <a16:creationId xmlns:a16="http://schemas.microsoft.com/office/drawing/2014/main" id="{2BB3E90D-74AD-402F-955F-D422B6F755B5}"/>
              </a:ext>
            </a:extLst>
          </p:cNvPr>
          <p:cNvSpPr>
            <a:spLocks noGrp="1"/>
          </p:cNvSpPr>
          <p:nvPr/>
        </p:nvSpPr>
        <p:spPr>
          <a:xfrm>
            <a:off x="8199120" y="3445641"/>
            <a:ext cx="2929128" cy="219456"/>
          </a:xfrm>
          <a:prstGeom prst="rect">
            <a:avLst/>
          </a:prstGeom>
          <a:noFill/>
        </p:spPr>
        <p:txBody>
          <a:bodyPr wrap="square" lIns="0" tIns="0" rIns="0" bIns="0" anchor="t">
            <a:spAutoFit/>
          </a:bodyPr>
          <a:lstStyle/>
          <a:p>
            <a:pPr algn="l">
              <a:spcBef>
                <a:spcPts val="0"/>
              </a:spcBef>
              <a:spcAft>
                <a:spcPts val="0"/>
              </a:spcAft>
              <a:buNone/>
            </a:pPr>
            <a:r>
              <a:rPr sz="900" b="1" i="0">
                <a:solidFill>
                  <a:srgbClr val="6D28D9"/>
                </a:solidFill>
                <a:latin typeface="Calibri"/>
                <a:ea typeface="Calibri"/>
                <a:cs typeface="Calibri"/>
              </a:rPr>
              <a:t>WEB CLIENT</a:t>
            </a:r>
          </a:p>
        </p:txBody>
      </p:sp>
      <p:sp>
        <p:nvSpPr>
          <p:cNvPr id="26" name="TextBox 25">
            <a:extLst>
              <a:ext uri="{FF2B5EF4-FFF2-40B4-BE49-F238E27FC236}">
                <a16:creationId xmlns:a16="http://schemas.microsoft.com/office/drawing/2014/main" id="{65D4B4BF-90E5-4FA9-A629-56F8A032C0AB}"/>
              </a:ext>
            </a:extLst>
          </p:cNvPr>
          <p:cNvSpPr>
            <a:spLocks noGrp="1"/>
          </p:cNvSpPr>
          <p:nvPr/>
        </p:nvSpPr>
        <p:spPr>
          <a:xfrm>
            <a:off x="8199120" y="3654777"/>
            <a:ext cx="2929128" cy="457200"/>
          </a:xfrm>
          <a:prstGeom prst="rect">
            <a:avLst/>
          </a:prstGeom>
          <a:noFill/>
        </p:spPr>
        <p:txBody>
          <a:bodyPr wrap="square" lIns="0" tIns="0" rIns="0" bIns="0" anchor="t">
            <a:spAutoFit/>
          </a:bodyPr>
          <a:lstStyle/>
          <a:p>
            <a:pPr algn="l">
              <a:spcBef>
                <a:spcPts val="0"/>
              </a:spcBef>
              <a:spcAft>
                <a:spcPts val="0"/>
              </a:spcAft>
              <a:buNone/>
            </a:pPr>
            <a:r>
              <a:rPr sz="1050" b="0" i="0">
                <a:solidFill>
                  <a:srgbClr val="63637E"/>
                </a:solidFill>
                <a:latin typeface="Calibri"/>
                <a:ea typeface="Calibri"/>
                <a:cs typeface="Calibri"/>
              </a:rPr>
              <a:t>Two-page responsive client served by FastAPI. No build step, package manifest or CDN dependency.</a:t>
            </a:r>
          </a:p>
        </p:txBody>
      </p:sp>
      <p:sp>
        <p:nvSpPr>
          <p:cNvPr id="27" name="Rounded Rectangle 26">
            <a:extLst>
              <a:ext uri="{FF2B5EF4-FFF2-40B4-BE49-F238E27FC236}">
                <a16:creationId xmlns:a16="http://schemas.microsoft.com/office/drawing/2014/main" id="{74A0FF57-B3AD-4236-8D1C-D487764365D2}"/>
              </a:ext>
            </a:extLst>
          </p:cNvPr>
          <p:cNvSpPr>
            <a:spLocks noGrp="1"/>
          </p:cNvSpPr>
          <p:nvPr/>
        </p:nvSpPr>
        <p:spPr>
          <a:xfrm>
            <a:off x="841248" y="4492514"/>
            <a:ext cx="10506456" cy="749808"/>
          </a:xfrm>
          <a:prstGeom prst="roundRect">
            <a:avLst>
              <a:gd name="adj" fmla="val 8000"/>
            </a:avLst>
          </a:prstGeom>
          <a:solidFill>
            <a:srgbClr val="E8F6F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098B3908-52A1-4F70-96DD-5D49CADB0B06}"/>
              </a:ext>
            </a:extLst>
          </p:cNvPr>
          <p:cNvSpPr>
            <a:spLocks noGrp="1"/>
          </p:cNvSpPr>
          <p:nvPr/>
        </p:nvSpPr>
        <p:spPr>
          <a:xfrm>
            <a:off x="1115568" y="4638818"/>
            <a:ext cx="9957816" cy="512064"/>
          </a:xfrm>
          <a:prstGeom prst="rect">
            <a:avLst/>
          </a:prstGeom>
          <a:noFill/>
        </p:spPr>
        <p:txBody>
          <a:bodyPr wrap="square" lIns="0" tIns="0" rIns="0" bIns="0" anchor="t">
            <a:spAutoFit/>
          </a:bodyPr>
          <a:lstStyle/>
          <a:p>
            <a:pPr algn="l">
              <a:spcBef>
                <a:spcPts val="0"/>
              </a:spcBef>
              <a:spcAft>
                <a:spcPts val="300"/>
              </a:spcAft>
              <a:buNone/>
            </a:pPr>
            <a:r>
              <a:rPr sz="1250" b="1" i="0">
                <a:solidFill>
                  <a:srgbClr val="0E7C5E"/>
                </a:solidFill>
                <a:latin typeface="Calibri"/>
                <a:ea typeface="Calibri"/>
                <a:cs typeface="Calibri"/>
              </a:rPr>
              <a:t>Infrastructure and testing</a:t>
            </a:r>
          </a:p>
          <a:p>
            <a:pPr algn="l">
              <a:spcBef>
                <a:spcPts val="0"/>
              </a:spcBef>
              <a:spcAft>
                <a:spcPts val="0"/>
              </a:spcAft>
              <a:buNone/>
            </a:pPr>
            <a:r>
              <a:rPr sz="1050" b="0" i="0">
                <a:solidFill>
                  <a:srgbClr val="63637E"/>
                </a:solidFill>
                <a:latin typeface="Calibri"/>
                <a:ea typeface="Calibri"/>
                <a:cs typeface="Calibri"/>
              </a:rPr>
              <a:t>Docker Compose runs PostgreSQL with pgvector. Uvicorn serves the API and UI. pytest, pytest-asyncio and httpx cover validation, retrieval, database, cache and API behavior.</a:t>
            </a:r>
          </a:p>
        </p:txBody>
      </p:sp>
      <p:sp>
        <p:nvSpPr>
          <p:cNvPr id="29" name="Rounded Rectangle 28"/>
          <p:cNvSpPr/>
          <p:nvPr/>
        </p:nvSpPr>
        <p:spPr>
          <a:xfrm>
            <a:off x="841248" y="5315475"/>
            <a:ext cx="10506456" cy="1188720"/>
          </a:xfrm>
          <a:prstGeom prst="roundRect">
            <a:avLst>
              <a:gd name="adj" fmla="val 10000"/>
            </a:avLst>
          </a:prstGeom>
          <a:solidFill>
            <a:srgbClr val="E8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15568" y="5498355"/>
            <a:ext cx="9957816" cy="201168"/>
          </a:xfrm>
          <a:prstGeom prst="rect">
            <a:avLst/>
          </a:prstGeom>
          <a:noFill/>
        </p:spPr>
        <p:txBody>
          <a:bodyPr wrap="square" lIns="0" tIns="0" rIns="0" bIns="0" anchor="t">
            <a:spAutoFit/>
          </a:bodyPr>
          <a:lstStyle/>
          <a:p>
            <a:pPr algn="l">
              <a:spcBef>
                <a:spcPts val="0"/>
              </a:spcBef>
              <a:spcAft>
                <a:spcPts val="0"/>
              </a:spcAft>
            </a:pPr>
            <a:r>
              <a:rPr sz="900" b="1" i="0">
                <a:solidFill>
                  <a:srgbClr val="0E7C5E"/>
                </a:solidFill>
                <a:latin typeface="Calibri"/>
              </a:rPr>
              <a:t>RUNTIME CONFIGURATION</a:t>
            </a:r>
          </a:p>
        </p:txBody>
      </p:sp>
      <p:sp>
        <p:nvSpPr>
          <p:cNvPr id="31" name="TextBox 30"/>
          <p:cNvSpPr txBox="1"/>
          <p:nvPr/>
        </p:nvSpPr>
        <p:spPr>
          <a:xfrm>
            <a:off x="1115568" y="5790963"/>
            <a:ext cx="2283714"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m=16 · ef_construction=64</a:t>
            </a:r>
          </a:p>
        </p:txBody>
      </p:sp>
      <p:sp>
        <p:nvSpPr>
          <p:cNvPr id="32" name="TextBox 31"/>
          <p:cNvSpPr txBox="1"/>
          <p:nvPr/>
        </p:nvSpPr>
        <p:spPr>
          <a:xfrm>
            <a:off x="1115568" y="6037851"/>
            <a:ext cx="2283714" cy="356616"/>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HNSW cosine index build parameters</a:t>
            </a:r>
          </a:p>
        </p:txBody>
      </p:sp>
      <p:sp>
        <p:nvSpPr>
          <p:cNvPr id="33" name="TextBox 32"/>
          <p:cNvSpPr txBox="1"/>
          <p:nvPr/>
        </p:nvSpPr>
        <p:spPr>
          <a:xfrm>
            <a:off x="3673602" y="5790963"/>
            <a:ext cx="2283714"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ef_search 100 / 40</a:t>
            </a:r>
          </a:p>
        </p:txBody>
      </p:sp>
      <p:sp>
        <p:nvSpPr>
          <p:cNvPr id="34" name="TextBox 33"/>
          <p:cNvSpPr txBox="1"/>
          <p:nvPr/>
        </p:nvSpPr>
        <p:spPr>
          <a:xfrm>
            <a:off x="3673602" y="6037851"/>
            <a:ext cx="2283714" cy="356616"/>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Per transaction, catalog then cache</a:t>
            </a:r>
          </a:p>
        </p:txBody>
      </p:sp>
      <p:sp>
        <p:nvSpPr>
          <p:cNvPr id="35" name="TextBox 34"/>
          <p:cNvSpPr txBox="1"/>
          <p:nvPr/>
        </p:nvSpPr>
        <p:spPr>
          <a:xfrm>
            <a:off x="6231636" y="5790963"/>
            <a:ext cx="2283714"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RRF k=60, dense 1.0, sparse 0.8</a:t>
            </a:r>
          </a:p>
        </p:txBody>
      </p:sp>
      <p:sp>
        <p:nvSpPr>
          <p:cNvPr id="36" name="TextBox 35"/>
          <p:cNvSpPr txBox="1"/>
          <p:nvPr/>
        </p:nvSpPr>
        <p:spPr>
          <a:xfrm>
            <a:off x="6231636" y="6037851"/>
            <a:ext cx="2283714" cy="356616"/>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Weighted rank fusion</a:t>
            </a:r>
          </a:p>
        </p:txBody>
      </p:sp>
      <p:sp>
        <p:nvSpPr>
          <p:cNvPr id="37" name="TextBox 36"/>
          <p:cNvSpPr txBox="1"/>
          <p:nvPr/>
        </p:nvSpPr>
        <p:spPr>
          <a:xfrm>
            <a:off x="8789670" y="5790963"/>
            <a:ext cx="2283714"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EMBEDDING_THREADS=2</a:t>
            </a:r>
          </a:p>
        </p:txBody>
      </p:sp>
      <p:sp>
        <p:nvSpPr>
          <p:cNvPr id="38" name="TextBox 37"/>
          <p:cNvSpPr txBox="1"/>
          <p:nvPr/>
        </p:nvSpPr>
        <p:spPr>
          <a:xfrm>
            <a:off x="8789670" y="6037851"/>
            <a:ext cx="2283714" cy="356616"/>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ONNX intra-op cap, set by measurement</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sz="2900" b="1">
                <a:solidFill>
                  <a:srgbClr val="704EA6"/>
                </a:solidFill>
                <a:latin typeface="Calibri"/>
                <a:ea typeface="Calibri"/>
                <a:cs typeface="Calibri"/>
              </a:rPr>
              <a:t>Impact &amp; Use Case</a:t>
            </a:r>
            <a:endParaRPr b="1">
              <a:solidFill>
                <a:srgbClr val="704EA6"/>
              </a:solidFill>
            </a:endParaRPr>
          </a:p>
        </p:txBody>
      </p:sp>
      <p:sp>
        <p:nvSpPr>
          <p:cNvPr id="3" name="Rounded Rectangle 2">
            <a:extLst>
              <a:ext uri="{FF2B5EF4-FFF2-40B4-BE49-F238E27FC236}">
                <a16:creationId xmlns:a16="http://schemas.microsoft.com/office/drawing/2014/main" id="{A563F53C-EC31-42E5-967F-42F90639A551}"/>
              </a:ext>
            </a:extLst>
          </p:cNvPr>
          <p:cNvSpPr>
            <a:spLocks noGrp="1"/>
          </p:cNvSpPr>
          <p:nvPr/>
        </p:nvSpPr>
        <p:spPr>
          <a:xfrm>
            <a:off x="841248" y="1608400"/>
            <a:ext cx="4412711" cy="1645920"/>
          </a:xfrm>
          <a:prstGeom prst="roundRect">
            <a:avLst>
              <a:gd name="adj" fmla="val 8000"/>
            </a:avLst>
          </a:prstGeom>
          <a:solidFill>
            <a:srgbClr val="ECE9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2286E1-DA12-4F70-B031-DB908710E1F7}"/>
              </a:ext>
            </a:extLst>
          </p:cNvPr>
          <p:cNvSpPr>
            <a:spLocks noGrp="1"/>
          </p:cNvSpPr>
          <p:nvPr/>
        </p:nvSpPr>
        <p:spPr>
          <a:xfrm>
            <a:off x="1097280" y="1809568"/>
            <a:ext cx="3900647" cy="1280160"/>
          </a:xfrm>
          <a:prstGeom prst="rect">
            <a:avLst/>
          </a:prstGeom>
          <a:noFill/>
        </p:spPr>
        <p:txBody>
          <a:bodyPr wrap="square" lIns="0" tIns="0" rIns="0" bIns="0" anchor="t">
            <a:spAutoFit/>
          </a:bodyPr>
          <a:lstStyle/>
          <a:p>
            <a:pPr algn="l">
              <a:spcBef>
                <a:spcPts val="0"/>
              </a:spcBef>
              <a:spcAft>
                <a:spcPts val="200"/>
              </a:spcAft>
              <a:buNone/>
            </a:pPr>
            <a:r>
              <a:rPr sz="1100" b="1" i="0" dirty="0">
                <a:solidFill>
                  <a:srgbClr val="63637E"/>
                </a:solidFill>
                <a:latin typeface="Calibri"/>
                <a:ea typeface="Calibri"/>
                <a:cs typeface="Calibri"/>
              </a:rPr>
              <a:t>Demonstrated in the project</a:t>
            </a:r>
          </a:p>
          <a:p>
            <a:pPr algn="l">
              <a:spcBef>
                <a:spcPts val="0"/>
              </a:spcBef>
              <a:spcAft>
                <a:spcPts val="600"/>
              </a:spcAft>
              <a:buNone/>
            </a:pPr>
            <a:r>
              <a:rPr sz="2500" b="1" i="0" dirty="0">
                <a:solidFill>
                  <a:srgbClr val="63637E"/>
                </a:solidFill>
                <a:latin typeface="Calibri"/>
                <a:ea typeface="Calibri"/>
                <a:cs typeface="Calibri"/>
              </a:rPr>
              <a:t>9</a:t>
            </a:r>
            <a:r>
              <a:rPr lang="en-IN" sz="2500" b="1" i="0" dirty="0">
                <a:solidFill>
                  <a:srgbClr val="63637E"/>
                </a:solidFill>
                <a:latin typeface="Calibri"/>
                <a:ea typeface="Calibri"/>
                <a:cs typeface="Calibri"/>
              </a:rPr>
              <a:t>0</a:t>
            </a:r>
            <a:r>
              <a:rPr sz="2500" b="1" i="0" dirty="0">
                <a:solidFill>
                  <a:srgbClr val="63637E"/>
                </a:solidFill>
                <a:latin typeface="Calibri"/>
                <a:ea typeface="Calibri"/>
                <a:cs typeface="Calibri"/>
              </a:rPr>
              <a:t>% semantic cache hit rate</a:t>
            </a:r>
          </a:p>
          <a:p>
            <a:pPr algn="l">
              <a:spcBef>
                <a:spcPts val="0"/>
              </a:spcBef>
              <a:spcAft>
                <a:spcPts val="0"/>
              </a:spcAft>
              <a:buNone/>
            </a:pPr>
            <a:r>
              <a:rPr sz="1100" b="0" i="0" dirty="0">
                <a:solidFill>
                  <a:srgbClr val="63637E"/>
                </a:solidFill>
                <a:latin typeface="Calibri"/>
                <a:ea typeface="Calibri"/>
                <a:cs typeface="Calibri"/>
              </a:rPr>
              <a:t>18 of 20 team-written rewordings hit. This is not official ground truth.</a:t>
            </a:r>
          </a:p>
        </p:txBody>
      </p:sp>
      <p:sp>
        <p:nvSpPr>
          <p:cNvPr id="5" name="Right Arrow 4">
            <a:extLst>
              <a:ext uri="{FF2B5EF4-FFF2-40B4-BE49-F238E27FC236}">
                <a16:creationId xmlns:a16="http://schemas.microsoft.com/office/drawing/2014/main" id="{FF32F87C-4368-42EB-98F8-9F0F5EC414C3}"/>
              </a:ext>
            </a:extLst>
          </p:cNvPr>
          <p:cNvSpPr>
            <a:spLocks noGrp="1"/>
          </p:cNvSpPr>
          <p:nvPr/>
        </p:nvSpPr>
        <p:spPr>
          <a:xfrm>
            <a:off x="5363687" y="2339920"/>
            <a:ext cx="384048" cy="182880"/>
          </a:xfrm>
          <a:prstGeom prst="rightArrow">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ounded Rectangle 5">
            <a:extLst>
              <a:ext uri="{FF2B5EF4-FFF2-40B4-BE49-F238E27FC236}">
                <a16:creationId xmlns:a16="http://schemas.microsoft.com/office/drawing/2014/main" id="{B7C7B864-5E8E-4D8A-BF05-EEA29C133DB3}"/>
              </a:ext>
            </a:extLst>
          </p:cNvPr>
          <p:cNvSpPr>
            <a:spLocks noGrp="1"/>
          </p:cNvSpPr>
          <p:nvPr/>
        </p:nvSpPr>
        <p:spPr>
          <a:xfrm>
            <a:off x="5857463" y="1608400"/>
            <a:ext cx="5490240" cy="1645920"/>
          </a:xfrm>
          <a:prstGeom prst="roundRect">
            <a:avLst>
              <a:gd name="adj" fmla="val 8000"/>
            </a:avLst>
          </a:prstGeom>
          <a:solidFill>
            <a:srgbClr val="E8F6F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D8B4B29-7C68-43E7-B822-2FBB9333E11E}"/>
              </a:ext>
            </a:extLst>
          </p:cNvPr>
          <p:cNvSpPr>
            <a:spLocks noGrp="1"/>
          </p:cNvSpPr>
          <p:nvPr/>
        </p:nvSpPr>
        <p:spPr>
          <a:xfrm>
            <a:off x="6113495" y="1809568"/>
            <a:ext cx="4978176" cy="1280160"/>
          </a:xfrm>
          <a:prstGeom prst="rect">
            <a:avLst/>
          </a:prstGeom>
          <a:noFill/>
        </p:spPr>
        <p:txBody>
          <a:bodyPr wrap="square" lIns="0" tIns="0" rIns="0" bIns="0" anchor="t">
            <a:spAutoFit/>
          </a:bodyPr>
          <a:lstStyle/>
          <a:p>
            <a:pPr algn="l">
              <a:spcBef>
                <a:spcPts val="0"/>
              </a:spcBef>
              <a:spcAft>
                <a:spcPts val="200"/>
              </a:spcAft>
              <a:buNone/>
            </a:pPr>
            <a:r>
              <a:rPr sz="1100" b="1" i="0" dirty="0">
                <a:solidFill>
                  <a:srgbClr val="0E7C5E"/>
                </a:solidFill>
                <a:latin typeface="Calibri"/>
                <a:ea typeface="Calibri"/>
                <a:cs typeface="Calibri"/>
              </a:rPr>
              <a:t>Measured latency</a:t>
            </a:r>
          </a:p>
          <a:p>
            <a:pPr algn="l">
              <a:spcBef>
                <a:spcPts val="0"/>
              </a:spcBef>
              <a:spcAft>
                <a:spcPts val="600"/>
              </a:spcAft>
              <a:buNone/>
            </a:pPr>
            <a:r>
              <a:rPr lang="en-IN" sz="2500" b="1" i="0" dirty="0">
                <a:solidFill>
                  <a:srgbClr val="0E7C5E"/>
                </a:solidFill>
                <a:latin typeface="Calibri"/>
                <a:ea typeface="Calibri"/>
                <a:cs typeface="Calibri"/>
              </a:rPr>
              <a:t>318</a:t>
            </a:r>
            <a:r>
              <a:rPr sz="2500" b="1" i="0" dirty="0">
                <a:solidFill>
                  <a:srgbClr val="0E7C5E"/>
                </a:solidFill>
                <a:latin typeface="Calibri"/>
                <a:ea typeface="Calibri"/>
                <a:cs typeface="Calibri"/>
              </a:rPr>
              <a:t> </a:t>
            </a:r>
            <a:r>
              <a:rPr sz="2500" b="1" i="0" dirty="0" err="1">
                <a:solidFill>
                  <a:srgbClr val="0E7C5E"/>
                </a:solidFill>
                <a:latin typeface="Calibri"/>
                <a:ea typeface="Calibri"/>
                <a:cs typeface="Calibri"/>
              </a:rPr>
              <a:t>ms</a:t>
            </a:r>
            <a:r>
              <a:rPr sz="2500" b="1" i="0" dirty="0">
                <a:solidFill>
                  <a:srgbClr val="0E7C5E"/>
                </a:solidFill>
                <a:latin typeface="Calibri"/>
                <a:ea typeface="Calibri"/>
                <a:cs typeface="Calibri"/>
              </a:rPr>
              <a:t> cache-hit P50</a:t>
            </a:r>
          </a:p>
          <a:p>
            <a:pPr algn="l">
              <a:spcBef>
                <a:spcPts val="0"/>
              </a:spcBef>
              <a:spcAft>
                <a:spcPts val="0"/>
              </a:spcAft>
              <a:buNone/>
            </a:pPr>
            <a:r>
              <a:rPr sz="1100" b="0" i="0" dirty="0">
                <a:solidFill>
                  <a:srgbClr val="63637E"/>
                </a:solidFill>
                <a:latin typeface="Calibri"/>
                <a:ea typeface="Calibri"/>
                <a:cs typeface="Calibri"/>
              </a:rPr>
              <a:t>The cold-path P50 is </a:t>
            </a:r>
            <a:r>
              <a:rPr lang="en-IN" sz="1100" b="0" i="0" dirty="0">
                <a:solidFill>
                  <a:srgbClr val="63637E"/>
                </a:solidFill>
                <a:latin typeface="Calibri"/>
                <a:ea typeface="Calibri"/>
                <a:cs typeface="Calibri"/>
              </a:rPr>
              <a:t>10.2</a:t>
            </a:r>
            <a:r>
              <a:rPr sz="1100" b="0" i="0" dirty="0">
                <a:solidFill>
                  <a:srgbClr val="63637E"/>
                </a:solidFill>
                <a:latin typeface="Calibri"/>
                <a:ea typeface="Calibri"/>
                <a:cs typeface="Calibri"/>
              </a:rPr>
              <a:t> s. Cache-hit P95 remains </a:t>
            </a:r>
            <a:r>
              <a:rPr lang="en-IN" sz="1100" b="0" i="0" dirty="0">
                <a:solidFill>
                  <a:srgbClr val="63637E"/>
                </a:solidFill>
                <a:latin typeface="Calibri"/>
                <a:ea typeface="Calibri"/>
                <a:cs typeface="Calibri"/>
              </a:rPr>
              <a:t>above</a:t>
            </a:r>
            <a:r>
              <a:rPr sz="1100" b="0" i="0" dirty="0">
                <a:solidFill>
                  <a:srgbClr val="63637E"/>
                </a:solidFill>
                <a:latin typeface="Calibri"/>
                <a:ea typeface="Calibri"/>
                <a:cs typeface="Calibri"/>
              </a:rPr>
              <a:t> its 300 </a:t>
            </a:r>
            <a:r>
              <a:rPr sz="1100" b="0" i="0" dirty="0" err="1">
                <a:solidFill>
                  <a:srgbClr val="63637E"/>
                </a:solidFill>
                <a:latin typeface="Calibri"/>
                <a:ea typeface="Calibri"/>
                <a:cs typeface="Calibri"/>
              </a:rPr>
              <a:t>ms</a:t>
            </a:r>
            <a:r>
              <a:rPr sz="1100" b="0" i="0" dirty="0">
                <a:solidFill>
                  <a:srgbClr val="63637E"/>
                </a:solidFill>
                <a:latin typeface="Calibri"/>
                <a:ea typeface="Calibri"/>
                <a:cs typeface="Calibri"/>
              </a:rPr>
              <a:t> target.</a:t>
            </a:r>
          </a:p>
        </p:txBody>
      </p:sp>
      <p:sp>
        <p:nvSpPr>
          <p:cNvPr id="8" name="Rounded Rectangle 7">
            <a:extLst>
              <a:ext uri="{FF2B5EF4-FFF2-40B4-BE49-F238E27FC236}">
                <a16:creationId xmlns:a16="http://schemas.microsoft.com/office/drawing/2014/main" id="{9DCA9B9A-75CA-4D6C-B2F2-7816C579BF3C}"/>
              </a:ext>
            </a:extLst>
          </p:cNvPr>
          <p:cNvSpPr>
            <a:spLocks noGrp="1"/>
          </p:cNvSpPr>
          <p:nvPr/>
        </p:nvSpPr>
        <p:spPr>
          <a:xfrm>
            <a:off x="841248" y="3473776"/>
            <a:ext cx="2475738" cy="1298448"/>
          </a:xfrm>
          <a:prstGeom prst="roundRect">
            <a:avLst>
              <a:gd name="adj" fmla="val 8000"/>
            </a:avLst>
          </a:prstGeom>
          <a:solidFill>
            <a:srgbClr val="F6F4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16C9EB9-B35E-4AB8-B61E-8F21902560EB}"/>
              </a:ext>
            </a:extLst>
          </p:cNvPr>
          <p:cNvSpPr>
            <a:spLocks noGrp="1"/>
          </p:cNvSpPr>
          <p:nvPr/>
        </p:nvSpPr>
        <p:spPr>
          <a:xfrm>
            <a:off x="1042416" y="3656655"/>
            <a:ext cx="2073402" cy="274320"/>
          </a:xfrm>
          <a:prstGeom prst="rect">
            <a:avLst/>
          </a:prstGeom>
          <a:noFill/>
        </p:spPr>
        <p:txBody>
          <a:bodyPr wrap="square" lIns="0" tIns="0" rIns="0" bIns="0" anchor="t">
            <a:spAutoFit/>
          </a:bodyPr>
          <a:lstStyle/>
          <a:p>
            <a:pPr algn="l">
              <a:spcBef>
                <a:spcPts val="0"/>
              </a:spcBef>
              <a:spcAft>
                <a:spcPts val="0"/>
              </a:spcAft>
              <a:buNone/>
            </a:pPr>
            <a:r>
              <a:rPr sz="1250" b="1" i="0">
                <a:solidFill>
                  <a:srgbClr val="14142B"/>
                </a:solidFill>
                <a:latin typeface="Calibri"/>
                <a:ea typeface="Calibri"/>
                <a:cs typeface="Calibri"/>
              </a:rPr>
              <a:t>In-app support</a:t>
            </a:r>
          </a:p>
        </p:txBody>
      </p:sp>
      <p:sp>
        <p:nvSpPr>
          <p:cNvPr id="10" name="TextBox 9">
            <a:extLst>
              <a:ext uri="{FF2B5EF4-FFF2-40B4-BE49-F238E27FC236}">
                <a16:creationId xmlns:a16="http://schemas.microsoft.com/office/drawing/2014/main" id="{30E4E6DC-4C36-4086-ADC2-2562D9E7DB28}"/>
              </a:ext>
            </a:extLst>
          </p:cNvPr>
          <p:cNvSpPr>
            <a:spLocks noGrp="1"/>
          </p:cNvSpPr>
          <p:nvPr/>
        </p:nvSpPr>
        <p:spPr>
          <a:xfrm>
            <a:off x="1042416" y="3985840"/>
            <a:ext cx="2073402" cy="713232"/>
          </a:xfrm>
          <a:prstGeom prst="rect">
            <a:avLst/>
          </a:prstGeom>
          <a:noFill/>
        </p:spPr>
        <p:txBody>
          <a:bodyPr wrap="square" lIns="0" tIns="0" rIns="0" bIns="0" anchor="t">
            <a:spAutoFit/>
          </a:bodyPr>
          <a:lstStyle/>
          <a:p>
            <a:pPr algn="l">
              <a:spcBef>
                <a:spcPts val="0"/>
              </a:spcBef>
              <a:spcAft>
                <a:spcPts val="0"/>
              </a:spcAft>
              <a:buNone/>
            </a:pPr>
            <a:r>
              <a:rPr sz="1050" b="0" i="0">
                <a:solidFill>
                  <a:srgbClr val="63637E"/>
                </a:solidFill>
                <a:latin typeface="Calibri"/>
                <a:ea typeface="Calibri"/>
                <a:cs typeface="Calibri"/>
              </a:rPr>
              <a:t>Galaxy help can render ordered actions and catalog-backed Settings buttons.</a:t>
            </a:r>
          </a:p>
        </p:txBody>
      </p:sp>
      <p:sp>
        <p:nvSpPr>
          <p:cNvPr id="11" name="Rounded Rectangle 10">
            <a:extLst>
              <a:ext uri="{FF2B5EF4-FFF2-40B4-BE49-F238E27FC236}">
                <a16:creationId xmlns:a16="http://schemas.microsoft.com/office/drawing/2014/main" id="{6DE0CD14-A896-407E-9F86-3C44C5CCE819}"/>
              </a:ext>
            </a:extLst>
          </p:cNvPr>
          <p:cNvSpPr>
            <a:spLocks noGrp="1"/>
          </p:cNvSpPr>
          <p:nvPr/>
        </p:nvSpPr>
        <p:spPr>
          <a:xfrm>
            <a:off x="3518154" y="3473776"/>
            <a:ext cx="2475738" cy="1298448"/>
          </a:xfrm>
          <a:prstGeom prst="roundRect">
            <a:avLst>
              <a:gd name="adj" fmla="val 8000"/>
            </a:avLst>
          </a:prstGeom>
          <a:solidFill>
            <a:srgbClr val="F6F4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939CAE4-3D7E-4117-81CF-F2ACC0DBCDEE}"/>
              </a:ext>
            </a:extLst>
          </p:cNvPr>
          <p:cNvSpPr>
            <a:spLocks noGrp="1"/>
          </p:cNvSpPr>
          <p:nvPr/>
        </p:nvSpPr>
        <p:spPr>
          <a:xfrm>
            <a:off x="3719322" y="3656655"/>
            <a:ext cx="2073402" cy="274320"/>
          </a:xfrm>
          <a:prstGeom prst="rect">
            <a:avLst/>
          </a:prstGeom>
          <a:noFill/>
        </p:spPr>
        <p:txBody>
          <a:bodyPr wrap="square" lIns="0" tIns="0" rIns="0" bIns="0" anchor="t">
            <a:spAutoFit/>
          </a:bodyPr>
          <a:lstStyle/>
          <a:p>
            <a:pPr algn="l">
              <a:spcBef>
                <a:spcPts val="0"/>
              </a:spcBef>
              <a:spcAft>
                <a:spcPts val="0"/>
              </a:spcAft>
              <a:buNone/>
            </a:pPr>
            <a:r>
              <a:rPr sz="1250" b="1" i="0">
                <a:solidFill>
                  <a:srgbClr val="14142B"/>
                </a:solidFill>
                <a:latin typeface="Calibri"/>
                <a:ea typeface="Calibri"/>
                <a:cs typeface="Calibri"/>
              </a:rPr>
              <a:t>Support agent assist</a:t>
            </a:r>
          </a:p>
        </p:txBody>
      </p:sp>
      <p:sp>
        <p:nvSpPr>
          <p:cNvPr id="13" name="TextBox 12">
            <a:extLst>
              <a:ext uri="{FF2B5EF4-FFF2-40B4-BE49-F238E27FC236}">
                <a16:creationId xmlns:a16="http://schemas.microsoft.com/office/drawing/2014/main" id="{572D4C73-2FE6-4610-B75F-20684C1B09DE}"/>
              </a:ext>
            </a:extLst>
          </p:cNvPr>
          <p:cNvSpPr>
            <a:spLocks noGrp="1"/>
          </p:cNvSpPr>
          <p:nvPr/>
        </p:nvSpPr>
        <p:spPr>
          <a:xfrm>
            <a:off x="3719322" y="3985840"/>
            <a:ext cx="2073402" cy="713232"/>
          </a:xfrm>
          <a:prstGeom prst="rect">
            <a:avLst/>
          </a:prstGeom>
          <a:noFill/>
        </p:spPr>
        <p:txBody>
          <a:bodyPr wrap="square" lIns="0" tIns="0" rIns="0" bIns="0" anchor="t">
            <a:spAutoFit/>
          </a:bodyPr>
          <a:lstStyle/>
          <a:p>
            <a:pPr algn="l">
              <a:spcBef>
                <a:spcPts val="0"/>
              </a:spcBef>
              <a:spcAft>
                <a:spcPts val="0"/>
              </a:spcAft>
              <a:buNone/>
            </a:pPr>
            <a:r>
              <a:rPr sz="1050" b="0" i="0">
                <a:solidFill>
                  <a:srgbClr val="63637E"/>
                </a:solidFill>
                <a:latin typeface="Calibri"/>
                <a:ea typeface="Calibri"/>
                <a:cs typeface="Calibri"/>
              </a:rPr>
              <a:t>A support agent can review a grounded draft with confidence and source-derived steps.</a:t>
            </a:r>
          </a:p>
        </p:txBody>
      </p:sp>
      <p:sp>
        <p:nvSpPr>
          <p:cNvPr id="14" name="Rounded Rectangle 13">
            <a:extLst>
              <a:ext uri="{FF2B5EF4-FFF2-40B4-BE49-F238E27FC236}">
                <a16:creationId xmlns:a16="http://schemas.microsoft.com/office/drawing/2014/main" id="{A38AFFC2-8BBA-4025-8684-E5BE0732E6D3}"/>
              </a:ext>
            </a:extLst>
          </p:cNvPr>
          <p:cNvSpPr>
            <a:spLocks noGrp="1"/>
          </p:cNvSpPr>
          <p:nvPr/>
        </p:nvSpPr>
        <p:spPr>
          <a:xfrm>
            <a:off x="6195060" y="3473776"/>
            <a:ext cx="2475738" cy="1298448"/>
          </a:xfrm>
          <a:prstGeom prst="roundRect">
            <a:avLst>
              <a:gd name="adj" fmla="val 8000"/>
            </a:avLst>
          </a:prstGeom>
          <a:solidFill>
            <a:srgbClr val="F6F4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3049E89-6D1D-4DDB-A150-8A69C331E26F}"/>
              </a:ext>
            </a:extLst>
          </p:cNvPr>
          <p:cNvSpPr>
            <a:spLocks noGrp="1"/>
          </p:cNvSpPr>
          <p:nvPr/>
        </p:nvSpPr>
        <p:spPr>
          <a:xfrm>
            <a:off x="6396228" y="3656655"/>
            <a:ext cx="2073402" cy="274320"/>
          </a:xfrm>
          <a:prstGeom prst="rect">
            <a:avLst/>
          </a:prstGeom>
          <a:noFill/>
        </p:spPr>
        <p:txBody>
          <a:bodyPr wrap="square" lIns="0" tIns="0" rIns="0" bIns="0" anchor="t">
            <a:spAutoFit/>
          </a:bodyPr>
          <a:lstStyle/>
          <a:p>
            <a:pPr algn="l">
              <a:spcBef>
                <a:spcPts val="0"/>
              </a:spcBef>
              <a:spcAft>
                <a:spcPts val="0"/>
              </a:spcAft>
              <a:buNone/>
            </a:pPr>
            <a:r>
              <a:rPr sz="1250" b="1" i="0">
                <a:solidFill>
                  <a:srgbClr val="14142B"/>
                </a:solidFill>
                <a:latin typeface="Calibri"/>
                <a:ea typeface="Calibri"/>
                <a:cs typeface="Calibri"/>
              </a:rPr>
              <a:t>Assistant backend</a:t>
            </a:r>
          </a:p>
        </p:txBody>
      </p:sp>
      <p:sp>
        <p:nvSpPr>
          <p:cNvPr id="16" name="TextBox 15">
            <a:extLst>
              <a:ext uri="{FF2B5EF4-FFF2-40B4-BE49-F238E27FC236}">
                <a16:creationId xmlns:a16="http://schemas.microsoft.com/office/drawing/2014/main" id="{9E2F55FE-AA69-4C41-9081-6022C6C3ADF6}"/>
              </a:ext>
            </a:extLst>
          </p:cNvPr>
          <p:cNvSpPr>
            <a:spLocks noGrp="1"/>
          </p:cNvSpPr>
          <p:nvPr/>
        </p:nvSpPr>
        <p:spPr>
          <a:xfrm>
            <a:off x="6396228" y="3985840"/>
            <a:ext cx="2073402" cy="713232"/>
          </a:xfrm>
          <a:prstGeom prst="rect">
            <a:avLst/>
          </a:prstGeom>
          <a:noFill/>
        </p:spPr>
        <p:txBody>
          <a:bodyPr wrap="square" lIns="0" tIns="0" rIns="0" bIns="0" anchor="t">
            <a:spAutoFit/>
          </a:bodyPr>
          <a:lstStyle/>
          <a:p>
            <a:pPr algn="l">
              <a:spcBef>
                <a:spcPts val="0"/>
              </a:spcBef>
              <a:spcAft>
                <a:spcPts val="0"/>
              </a:spcAft>
              <a:buNone/>
            </a:pPr>
            <a:r>
              <a:rPr sz="1050" b="0" i="0">
                <a:solidFill>
                  <a:srgbClr val="63637E"/>
                </a:solidFill>
                <a:latin typeface="Calibri"/>
                <a:ea typeface="Calibri"/>
                <a:cs typeface="Calibri"/>
              </a:rPr>
              <a:t>Strict JSON, explicit fallbacks and request-level trace fields support downstream clients.</a:t>
            </a:r>
          </a:p>
        </p:txBody>
      </p:sp>
      <p:sp>
        <p:nvSpPr>
          <p:cNvPr id="17" name="Rounded Rectangle 16">
            <a:extLst>
              <a:ext uri="{FF2B5EF4-FFF2-40B4-BE49-F238E27FC236}">
                <a16:creationId xmlns:a16="http://schemas.microsoft.com/office/drawing/2014/main" id="{4446282E-12B9-45EE-B699-D194DA20989C}"/>
              </a:ext>
            </a:extLst>
          </p:cNvPr>
          <p:cNvSpPr>
            <a:spLocks noGrp="1"/>
          </p:cNvSpPr>
          <p:nvPr/>
        </p:nvSpPr>
        <p:spPr>
          <a:xfrm>
            <a:off x="8871966" y="3473776"/>
            <a:ext cx="2475738" cy="1298448"/>
          </a:xfrm>
          <a:prstGeom prst="roundRect">
            <a:avLst>
              <a:gd name="adj" fmla="val 8000"/>
            </a:avLst>
          </a:prstGeom>
          <a:solidFill>
            <a:srgbClr val="F6F4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F2C14486-DFEB-49E6-A212-DA84445DD42F}"/>
              </a:ext>
            </a:extLst>
          </p:cNvPr>
          <p:cNvSpPr>
            <a:spLocks noGrp="1"/>
          </p:cNvSpPr>
          <p:nvPr/>
        </p:nvSpPr>
        <p:spPr>
          <a:xfrm>
            <a:off x="9073134" y="3656655"/>
            <a:ext cx="2073402" cy="274320"/>
          </a:xfrm>
          <a:prstGeom prst="rect">
            <a:avLst/>
          </a:prstGeom>
          <a:noFill/>
        </p:spPr>
        <p:txBody>
          <a:bodyPr wrap="square" lIns="0" tIns="0" rIns="0" bIns="0" anchor="t">
            <a:spAutoFit/>
          </a:bodyPr>
          <a:lstStyle/>
          <a:p>
            <a:pPr algn="l">
              <a:spcBef>
                <a:spcPts val="0"/>
              </a:spcBef>
              <a:spcAft>
                <a:spcPts val="0"/>
              </a:spcAft>
              <a:buNone/>
            </a:pPr>
            <a:r>
              <a:rPr sz="1250" b="1" i="0">
                <a:solidFill>
                  <a:srgbClr val="14142B"/>
                </a:solidFill>
                <a:latin typeface="Calibri"/>
                <a:ea typeface="Calibri"/>
                <a:cs typeface="Calibri"/>
              </a:rPr>
              <a:t>Broader reuse</a:t>
            </a:r>
          </a:p>
        </p:txBody>
      </p:sp>
      <p:sp>
        <p:nvSpPr>
          <p:cNvPr id="19" name="TextBox 18">
            <a:extLst>
              <a:ext uri="{FF2B5EF4-FFF2-40B4-BE49-F238E27FC236}">
                <a16:creationId xmlns:a16="http://schemas.microsoft.com/office/drawing/2014/main" id="{BC3D426B-C6FD-46A8-A5B1-66A40F1A1ACF}"/>
              </a:ext>
            </a:extLst>
          </p:cNvPr>
          <p:cNvSpPr>
            <a:spLocks noGrp="1"/>
          </p:cNvSpPr>
          <p:nvPr/>
        </p:nvSpPr>
        <p:spPr>
          <a:xfrm>
            <a:off x="9073134" y="3985840"/>
            <a:ext cx="2073402" cy="713232"/>
          </a:xfrm>
          <a:prstGeom prst="rect">
            <a:avLst/>
          </a:prstGeom>
          <a:noFill/>
        </p:spPr>
        <p:txBody>
          <a:bodyPr wrap="square" lIns="0" tIns="0" rIns="0" bIns="0" anchor="t">
            <a:spAutoFit/>
          </a:bodyPr>
          <a:lstStyle/>
          <a:p>
            <a:pPr algn="l">
              <a:spcBef>
                <a:spcPts val="0"/>
              </a:spcBef>
              <a:spcAft>
                <a:spcPts val="0"/>
              </a:spcAft>
              <a:buNone/>
            </a:pPr>
            <a:r>
              <a:rPr sz="1050" b="0" i="0">
                <a:solidFill>
                  <a:srgbClr val="63637E"/>
                </a:solidFill>
                <a:latin typeface="Calibri"/>
                <a:ea typeface="Calibri"/>
                <a:cs typeface="Calibri"/>
              </a:rPr>
              <a:t>Validated plans can serve repeated wording without another model call when the ambiguity gate accepts the match.</a:t>
            </a:r>
          </a:p>
        </p:txBody>
      </p:sp>
      <p:sp>
        <p:nvSpPr>
          <p:cNvPr id="20" name="Rounded Rectangle 19"/>
          <p:cNvSpPr/>
          <p:nvPr/>
        </p:nvSpPr>
        <p:spPr>
          <a:xfrm>
            <a:off x="841248" y="4973392"/>
            <a:ext cx="10506456" cy="1463040"/>
          </a:xfrm>
          <a:prstGeom prst="roundRect">
            <a:avLst>
              <a:gd name="adj" fmla="val 10000"/>
            </a:avLst>
          </a:prstGeom>
          <a:solidFill>
            <a:srgbClr val="F6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15568" y="5156272"/>
            <a:ext cx="9957816" cy="201168"/>
          </a:xfrm>
          <a:prstGeom prst="rect">
            <a:avLst/>
          </a:prstGeom>
          <a:noFill/>
        </p:spPr>
        <p:txBody>
          <a:bodyPr wrap="square" lIns="0" tIns="0" rIns="0" bIns="0" anchor="t">
            <a:spAutoFit/>
          </a:bodyPr>
          <a:lstStyle/>
          <a:p>
            <a:pPr algn="l">
              <a:spcBef>
                <a:spcPts val="0"/>
              </a:spcBef>
              <a:spcAft>
                <a:spcPts val="0"/>
              </a:spcAft>
            </a:pPr>
            <a:r>
              <a:rPr sz="900" b="1" i="0">
                <a:solidFill>
                  <a:srgbClr val="704EA6"/>
                </a:solidFill>
                <a:latin typeface="Calibri"/>
              </a:rPr>
              <a:t>WHAT A CACHE HIT COSTS, AND WHAT IT STILL CHECKS</a:t>
            </a:r>
          </a:p>
        </p:txBody>
      </p:sp>
      <p:sp>
        <p:nvSpPr>
          <p:cNvPr id="22" name="TextBox 21"/>
          <p:cNvSpPr txBox="1"/>
          <p:nvPr/>
        </p:nvSpPr>
        <p:spPr>
          <a:xfrm>
            <a:off x="1115568" y="5448880"/>
            <a:ext cx="2283714"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$0.00</a:t>
            </a:r>
          </a:p>
        </p:txBody>
      </p:sp>
      <p:sp>
        <p:nvSpPr>
          <p:cNvPr id="23" name="TextBox 22"/>
          <p:cNvSpPr txBox="1"/>
          <p:nvPr/>
        </p:nvSpPr>
        <p:spPr>
          <a:xfrm>
            <a:off x="1115568" y="5695767"/>
            <a:ext cx="2283714" cy="429768"/>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No model call is made when the cache answers</a:t>
            </a:r>
          </a:p>
        </p:txBody>
      </p:sp>
      <p:sp>
        <p:nvSpPr>
          <p:cNvPr id="24" name="TextBox 23"/>
          <p:cNvSpPr txBox="1"/>
          <p:nvPr/>
        </p:nvSpPr>
        <p:spPr>
          <a:xfrm>
            <a:off x="3673602" y="5448880"/>
            <a:ext cx="2283714"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2 → 0</a:t>
            </a:r>
          </a:p>
        </p:txBody>
      </p:sp>
      <p:sp>
        <p:nvSpPr>
          <p:cNvPr id="25" name="TextBox 24"/>
          <p:cNvSpPr txBox="1"/>
          <p:nvPr/>
        </p:nvSpPr>
        <p:spPr>
          <a:xfrm>
            <a:off x="3673602" y="5695767"/>
            <a:ext cx="2283714" cy="429768"/>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Gemini stages skipped on a hit; both run on a miss</a:t>
            </a:r>
          </a:p>
        </p:txBody>
      </p:sp>
      <p:sp>
        <p:nvSpPr>
          <p:cNvPr id="26" name="TextBox 25"/>
          <p:cNvSpPr txBox="1"/>
          <p:nvPr/>
        </p:nvSpPr>
        <p:spPr>
          <a:xfrm>
            <a:off x="6231636" y="5448880"/>
            <a:ext cx="2283714"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0.78 + 0.05</a:t>
            </a:r>
          </a:p>
        </p:txBody>
      </p:sp>
      <p:sp>
        <p:nvSpPr>
          <p:cNvPr id="27" name="TextBox 26"/>
          <p:cNvSpPr txBox="1"/>
          <p:nvPr/>
        </p:nvSpPr>
        <p:spPr>
          <a:xfrm>
            <a:off x="6231636" y="5695767"/>
            <a:ext cx="2283714" cy="429768"/>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Similarity floor and runner-up margin, both required</a:t>
            </a:r>
          </a:p>
        </p:txBody>
      </p:sp>
      <p:sp>
        <p:nvSpPr>
          <p:cNvPr id="28" name="TextBox 27"/>
          <p:cNvSpPr txBox="1"/>
          <p:nvPr/>
        </p:nvSpPr>
        <p:spPr>
          <a:xfrm>
            <a:off x="8789670" y="5448880"/>
            <a:ext cx="2283714"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578</a:t>
            </a:r>
          </a:p>
        </p:txBody>
      </p:sp>
      <p:sp>
        <p:nvSpPr>
          <p:cNvPr id="29" name="TextBox 28"/>
          <p:cNvSpPr txBox="1"/>
          <p:nvPr/>
        </p:nvSpPr>
        <p:spPr>
          <a:xfrm>
            <a:off x="8789670" y="5695767"/>
            <a:ext cx="2283714" cy="429768"/>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Catalog URIs re-checked before a cached plan is served</a:t>
            </a:r>
          </a:p>
        </p:txBody>
      </p:sp>
      <p:sp>
        <p:nvSpPr>
          <p:cNvPr id="30" name="TextBox 29"/>
          <p:cNvSpPr txBox="1"/>
          <p:nvPr/>
        </p:nvSpPr>
        <p:spPr>
          <a:xfrm>
            <a:off x="1115568" y="6125536"/>
            <a:ext cx="9957816" cy="237744"/>
          </a:xfrm>
          <a:prstGeom prst="rect">
            <a:avLst/>
          </a:prstGeom>
          <a:noFill/>
        </p:spPr>
        <p:txBody>
          <a:bodyPr wrap="square" lIns="0" tIns="0" rIns="0" bIns="0" anchor="t">
            <a:spAutoFit/>
          </a:bodyPr>
          <a:lstStyle/>
          <a:p>
            <a:pPr algn="l">
              <a:spcBef>
                <a:spcPts val="0"/>
              </a:spcBef>
              <a:spcAft>
                <a:spcPts val="0"/>
              </a:spcAft>
            </a:pPr>
            <a:r>
              <a:rPr sz="950" b="0" i="1">
                <a:solidFill>
                  <a:srgbClr val="63637E"/>
                </a:solidFill>
                <a:latin typeface="Calibri"/>
              </a:rPr>
              <a:t>Reuse never trades safety for speed: a cached plan is re-validated on read, not merely on write, and is discarded if it no longer passes.</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buNone/>
            </a:pPr>
            <a:r>
              <a:rPr sz="2900" b="1">
                <a:solidFill>
                  <a:srgbClr val="704EA6"/>
                </a:solidFill>
                <a:latin typeface="Calibri"/>
                <a:ea typeface="Calibri"/>
                <a:cs typeface="Calibri"/>
              </a:rPr>
              <a:t>Innovation, Results &amp; Limitations</a:t>
            </a:r>
            <a:endParaRPr sz="4400" b="1">
              <a:solidFill>
                <a:srgbClr val="704EA6"/>
              </a:solidFill>
            </a:endParaRPr>
          </a:p>
        </p:txBody>
      </p:sp>
      <p:sp>
        <p:nvSpPr>
          <p:cNvPr id="3" name="Rounded Rectangle 2">
            <a:extLst>
              <a:ext uri="{FF2B5EF4-FFF2-40B4-BE49-F238E27FC236}">
                <a16:creationId xmlns:a16="http://schemas.microsoft.com/office/drawing/2014/main" id="{3DA668A9-56A8-495F-BBA9-ADA98C77F938}"/>
              </a:ext>
            </a:extLst>
          </p:cNvPr>
          <p:cNvSpPr>
            <a:spLocks noGrp="1"/>
          </p:cNvSpPr>
          <p:nvPr/>
        </p:nvSpPr>
        <p:spPr>
          <a:xfrm>
            <a:off x="841248" y="1479450"/>
            <a:ext cx="6146276" cy="3529584"/>
          </a:xfrm>
          <a:prstGeom prst="roundRect">
            <a:avLst>
              <a:gd name="adj" fmla="val 8000"/>
            </a:avLst>
          </a:prstGeom>
          <a:solidFill>
            <a:srgbClr val="F6F4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9DFD4BE-4991-43A3-9256-B78DE13F148F}"/>
              </a:ext>
            </a:extLst>
          </p:cNvPr>
          <p:cNvSpPr>
            <a:spLocks noGrp="1"/>
          </p:cNvSpPr>
          <p:nvPr/>
        </p:nvSpPr>
        <p:spPr>
          <a:xfrm>
            <a:off x="1097280" y="1662330"/>
            <a:ext cx="5634212" cy="274320"/>
          </a:xfrm>
          <a:prstGeom prst="rect">
            <a:avLst/>
          </a:prstGeom>
          <a:noFill/>
        </p:spPr>
        <p:txBody>
          <a:bodyPr wrap="square" lIns="0" tIns="0" rIns="0" bIns="0" anchor="t">
            <a:spAutoFit/>
          </a:bodyPr>
          <a:lstStyle/>
          <a:p>
            <a:pPr algn="l">
              <a:spcBef>
                <a:spcPts val="0"/>
              </a:spcBef>
              <a:spcAft>
                <a:spcPts val="0"/>
              </a:spcAft>
              <a:buNone/>
            </a:pPr>
            <a:r>
              <a:rPr sz="1350" b="1" i="0">
                <a:solidFill>
                  <a:srgbClr val="14142B"/>
                </a:solidFill>
                <a:latin typeface="Calibri"/>
                <a:ea typeface="Calibri"/>
                <a:cs typeface="Calibri"/>
              </a:rPr>
              <a:t>Generated benchmark report</a:t>
            </a:r>
          </a:p>
        </p:txBody>
      </p:sp>
      <p:sp>
        <p:nvSpPr>
          <p:cNvPr id="5" name="TextBox 4">
            <a:extLst>
              <a:ext uri="{FF2B5EF4-FFF2-40B4-BE49-F238E27FC236}">
                <a16:creationId xmlns:a16="http://schemas.microsoft.com/office/drawing/2014/main" id="{F8B523E9-15A9-40E6-ACF7-82BE34BFA9C5}"/>
              </a:ext>
            </a:extLst>
          </p:cNvPr>
          <p:cNvSpPr>
            <a:spLocks noGrp="1"/>
          </p:cNvSpPr>
          <p:nvPr/>
        </p:nvSpPr>
        <p:spPr>
          <a:xfrm>
            <a:off x="1097280" y="2046378"/>
            <a:ext cx="3318989" cy="310896"/>
          </a:xfrm>
          <a:prstGeom prst="rect">
            <a:avLst/>
          </a:prstGeom>
          <a:noFill/>
        </p:spPr>
        <p:txBody>
          <a:bodyPr wrap="square" lIns="0" tIns="0" rIns="0" bIns="0" anchor="t">
            <a:spAutoFit/>
          </a:bodyPr>
          <a:lstStyle/>
          <a:p>
            <a:pPr algn="l">
              <a:spcBef>
                <a:spcPts val="0"/>
              </a:spcBef>
              <a:spcAft>
                <a:spcPts val="0"/>
              </a:spcAft>
              <a:buNone/>
            </a:pPr>
            <a:r>
              <a:rPr sz="1100" b="0" i="0" dirty="0">
                <a:solidFill>
                  <a:srgbClr val="14142B"/>
                </a:solidFill>
                <a:latin typeface="Calibri"/>
                <a:ea typeface="Calibri"/>
                <a:cs typeface="Calibri"/>
              </a:rPr>
              <a:t>Schema-valid outputs</a:t>
            </a:r>
          </a:p>
        </p:txBody>
      </p:sp>
      <p:sp>
        <p:nvSpPr>
          <p:cNvPr id="6" name="TextBox 5">
            <a:extLst>
              <a:ext uri="{FF2B5EF4-FFF2-40B4-BE49-F238E27FC236}">
                <a16:creationId xmlns:a16="http://schemas.microsoft.com/office/drawing/2014/main" id="{7FF878D2-4AA9-48C1-BBAC-7E48DFA6E040}"/>
              </a:ext>
            </a:extLst>
          </p:cNvPr>
          <p:cNvSpPr>
            <a:spLocks noGrp="1"/>
          </p:cNvSpPr>
          <p:nvPr/>
        </p:nvSpPr>
        <p:spPr>
          <a:xfrm>
            <a:off x="4416269" y="2046378"/>
            <a:ext cx="1106329" cy="310896"/>
          </a:xfrm>
          <a:prstGeom prst="rect">
            <a:avLst/>
          </a:prstGeom>
          <a:noFill/>
        </p:spPr>
        <p:txBody>
          <a:bodyPr wrap="square" lIns="0" tIns="0" rIns="0" bIns="0" anchor="t">
            <a:spAutoFit/>
          </a:bodyPr>
          <a:lstStyle/>
          <a:p>
            <a:pPr algn="l">
              <a:spcBef>
                <a:spcPts val="0"/>
              </a:spcBef>
              <a:spcAft>
                <a:spcPts val="0"/>
              </a:spcAft>
              <a:buNone/>
            </a:pPr>
            <a:r>
              <a:rPr sz="1100" b="0" i="0">
                <a:solidFill>
                  <a:srgbClr val="63637E"/>
                </a:solidFill>
                <a:latin typeface="Calibri"/>
                <a:ea typeface="Calibri"/>
                <a:cs typeface="Calibri"/>
              </a:rPr>
              <a:t>≥ 99%</a:t>
            </a:r>
          </a:p>
        </p:txBody>
      </p:sp>
      <p:sp>
        <p:nvSpPr>
          <p:cNvPr id="7" name="TextBox 6">
            <a:extLst>
              <a:ext uri="{FF2B5EF4-FFF2-40B4-BE49-F238E27FC236}">
                <a16:creationId xmlns:a16="http://schemas.microsoft.com/office/drawing/2014/main" id="{ACF437B0-2A0B-4A4D-A225-0ED2794BB0BC}"/>
              </a:ext>
            </a:extLst>
          </p:cNvPr>
          <p:cNvSpPr>
            <a:spLocks noGrp="1"/>
          </p:cNvSpPr>
          <p:nvPr/>
        </p:nvSpPr>
        <p:spPr>
          <a:xfrm>
            <a:off x="5522599" y="2046378"/>
            <a:ext cx="1106329" cy="310896"/>
          </a:xfrm>
          <a:prstGeom prst="rect">
            <a:avLst/>
          </a:prstGeom>
          <a:noFill/>
        </p:spPr>
        <p:txBody>
          <a:bodyPr wrap="square" lIns="0" tIns="0" rIns="0" bIns="0" anchor="t">
            <a:spAutoFit/>
          </a:bodyPr>
          <a:lstStyle/>
          <a:p>
            <a:pPr algn="l">
              <a:spcBef>
                <a:spcPts val="0"/>
              </a:spcBef>
              <a:spcAft>
                <a:spcPts val="0"/>
              </a:spcAft>
              <a:buNone/>
            </a:pPr>
            <a:r>
              <a:rPr sz="1100" b="1" i="0">
                <a:solidFill>
                  <a:srgbClr val="0E7C5E"/>
                </a:solidFill>
                <a:latin typeface="Calibri"/>
                <a:ea typeface="Calibri"/>
                <a:cs typeface="Calibri"/>
              </a:rPr>
              <a:t>100%</a:t>
            </a:r>
          </a:p>
        </p:txBody>
      </p:sp>
      <p:sp>
        <p:nvSpPr>
          <p:cNvPr id="8" name="TextBox 7">
            <a:extLst>
              <a:ext uri="{FF2B5EF4-FFF2-40B4-BE49-F238E27FC236}">
                <a16:creationId xmlns:a16="http://schemas.microsoft.com/office/drawing/2014/main" id="{C876D734-959E-4301-AF3C-04931CDF9253}"/>
              </a:ext>
            </a:extLst>
          </p:cNvPr>
          <p:cNvSpPr>
            <a:spLocks noGrp="1"/>
          </p:cNvSpPr>
          <p:nvPr/>
        </p:nvSpPr>
        <p:spPr>
          <a:xfrm>
            <a:off x="6585188" y="2046378"/>
            <a:ext cx="274320" cy="310896"/>
          </a:xfrm>
          <a:prstGeom prst="rect">
            <a:avLst/>
          </a:prstGeom>
          <a:noFill/>
        </p:spPr>
        <p:txBody>
          <a:bodyPr wrap="square" lIns="0" tIns="0" rIns="0" bIns="0" anchor="t">
            <a:spAutoFit/>
          </a:bodyPr>
          <a:lstStyle/>
          <a:p>
            <a:pPr algn="l">
              <a:spcBef>
                <a:spcPts val="0"/>
              </a:spcBef>
              <a:spcAft>
                <a:spcPts val="0"/>
              </a:spcAft>
              <a:buNone/>
            </a:pPr>
            <a:r>
              <a:rPr sz="1200" b="1" i="0">
                <a:solidFill>
                  <a:srgbClr val="0E7C5E"/>
                </a:solidFill>
                <a:latin typeface="Calibri"/>
                <a:ea typeface="Calibri"/>
                <a:cs typeface="Calibri"/>
              </a:rPr>
              <a:t>✓</a:t>
            </a:r>
          </a:p>
        </p:txBody>
      </p:sp>
      <p:sp>
        <p:nvSpPr>
          <p:cNvPr id="9" name="TextBox 8">
            <a:extLst>
              <a:ext uri="{FF2B5EF4-FFF2-40B4-BE49-F238E27FC236}">
                <a16:creationId xmlns:a16="http://schemas.microsoft.com/office/drawing/2014/main" id="{D9CE6F89-32D5-4BCE-AD43-8C915A4F3E62}"/>
              </a:ext>
            </a:extLst>
          </p:cNvPr>
          <p:cNvSpPr>
            <a:spLocks noGrp="1"/>
          </p:cNvSpPr>
          <p:nvPr/>
        </p:nvSpPr>
        <p:spPr>
          <a:xfrm>
            <a:off x="1097280" y="2439570"/>
            <a:ext cx="3318989" cy="310896"/>
          </a:xfrm>
          <a:prstGeom prst="rect">
            <a:avLst/>
          </a:prstGeom>
          <a:noFill/>
        </p:spPr>
        <p:txBody>
          <a:bodyPr wrap="square" lIns="0" tIns="0" rIns="0" bIns="0" anchor="t">
            <a:spAutoFit/>
          </a:bodyPr>
          <a:lstStyle/>
          <a:p>
            <a:pPr algn="l">
              <a:spcBef>
                <a:spcPts val="0"/>
              </a:spcBef>
              <a:spcAft>
                <a:spcPts val="0"/>
              </a:spcAft>
              <a:buNone/>
            </a:pPr>
            <a:r>
              <a:rPr sz="1100" b="0" i="0">
                <a:solidFill>
                  <a:srgbClr val="14142B"/>
                </a:solidFill>
                <a:latin typeface="Calibri"/>
                <a:ea typeface="Calibri"/>
                <a:cs typeface="Calibri"/>
              </a:rPr>
              <a:t>Rule compliance</a:t>
            </a:r>
          </a:p>
        </p:txBody>
      </p:sp>
      <p:sp>
        <p:nvSpPr>
          <p:cNvPr id="10" name="TextBox 9">
            <a:extLst>
              <a:ext uri="{FF2B5EF4-FFF2-40B4-BE49-F238E27FC236}">
                <a16:creationId xmlns:a16="http://schemas.microsoft.com/office/drawing/2014/main" id="{561723C9-7B23-47F0-A8B5-FC3BE3289CBA}"/>
              </a:ext>
            </a:extLst>
          </p:cNvPr>
          <p:cNvSpPr>
            <a:spLocks noGrp="1"/>
          </p:cNvSpPr>
          <p:nvPr/>
        </p:nvSpPr>
        <p:spPr>
          <a:xfrm>
            <a:off x="4416269" y="2439570"/>
            <a:ext cx="1106329" cy="310896"/>
          </a:xfrm>
          <a:prstGeom prst="rect">
            <a:avLst/>
          </a:prstGeom>
          <a:noFill/>
        </p:spPr>
        <p:txBody>
          <a:bodyPr wrap="square" lIns="0" tIns="0" rIns="0" bIns="0" anchor="t">
            <a:spAutoFit/>
          </a:bodyPr>
          <a:lstStyle/>
          <a:p>
            <a:pPr algn="l">
              <a:spcBef>
                <a:spcPts val="0"/>
              </a:spcBef>
              <a:spcAft>
                <a:spcPts val="0"/>
              </a:spcAft>
              <a:buNone/>
            </a:pPr>
            <a:r>
              <a:rPr sz="1100" b="0" i="0">
                <a:solidFill>
                  <a:srgbClr val="63637E"/>
                </a:solidFill>
                <a:latin typeface="Calibri"/>
                <a:ea typeface="Calibri"/>
                <a:cs typeface="Calibri"/>
              </a:rPr>
              <a:t>≥ 95%</a:t>
            </a:r>
          </a:p>
        </p:txBody>
      </p:sp>
      <p:sp>
        <p:nvSpPr>
          <p:cNvPr id="11" name="TextBox 10">
            <a:extLst>
              <a:ext uri="{FF2B5EF4-FFF2-40B4-BE49-F238E27FC236}">
                <a16:creationId xmlns:a16="http://schemas.microsoft.com/office/drawing/2014/main" id="{FFACDD87-8078-4D15-928F-B06EE6CD63BF}"/>
              </a:ext>
            </a:extLst>
          </p:cNvPr>
          <p:cNvSpPr>
            <a:spLocks noGrp="1"/>
          </p:cNvSpPr>
          <p:nvPr/>
        </p:nvSpPr>
        <p:spPr>
          <a:xfrm>
            <a:off x="5522599" y="2439570"/>
            <a:ext cx="1106329" cy="310896"/>
          </a:xfrm>
          <a:prstGeom prst="rect">
            <a:avLst/>
          </a:prstGeom>
          <a:noFill/>
        </p:spPr>
        <p:txBody>
          <a:bodyPr wrap="square" lIns="0" tIns="0" rIns="0" bIns="0" anchor="t">
            <a:spAutoFit/>
          </a:bodyPr>
          <a:lstStyle/>
          <a:p>
            <a:pPr algn="l">
              <a:spcBef>
                <a:spcPts val="0"/>
              </a:spcBef>
              <a:spcAft>
                <a:spcPts val="0"/>
              </a:spcAft>
              <a:buNone/>
            </a:pPr>
            <a:r>
              <a:rPr sz="1100" b="1" i="0">
                <a:solidFill>
                  <a:srgbClr val="0E7C5E"/>
                </a:solidFill>
                <a:latin typeface="Calibri"/>
                <a:ea typeface="Calibri"/>
                <a:cs typeface="Calibri"/>
              </a:rPr>
              <a:t>100%</a:t>
            </a:r>
          </a:p>
        </p:txBody>
      </p:sp>
      <p:sp>
        <p:nvSpPr>
          <p:cNvPr id="12" name="TextBox 11">
            <a:extLst>
              <a:ext uri="{FF2B5EF4-FFF2-40B4-BE49-F238E27FC236}">
                <a16:creationId xmlns:a16="http://schemas.microsoft.com/office/drawing/2014/main" id="{32DD64DC-A390-46BD-AC07-41ACDC6D7FA5}"/>
              </a:ext>
            </a:extLst>
          </p:cNvPr>
          <p:cNvSpPr>
            <a:spLocks noGrp="1"/>
          </p:cNvSpPr>
          <p:nvPr/>
        </p:nvSpPr>
        <p:spPr>
          <a:xfrm>
            <a:off x="6585188" y="2439570"/>
            <a:ext cx="274320" cy="310896"/>
          </a:xfrm>
          <a:prstGeom prst="rect">
            <a:avLst/>
          </a:prstGeom>
          <a:noFill/>
        </p:spPr>
        <p:txBody>
          <a:bodyPr wrap="square" lIns="0" tIns="0" rIns="0" bIns="0" anchor="t">
            <a:spAutoFit/>
          </a:bodyPr>
          <a:lstStyle/>
          <a:p>
            <a:pPr algn="l">
              <a:spcBef>
                <a:spcPts val="0"/>
              </a:spcBef>
              <a:spcAft>
                <a:spcPts val="0"/>
              </a:spcAft>
              <a:buNone/>
            </a:pPr>
            <a:r>
              <a:rPr sz="1200" b="1" i="0">
                <a:solidFill>
                  <a:srgbClr val="0E7C5E"/>
                </a:solidFill>
                <a:latin typeface="Calibri"/>
                <a:ea typeface="Calibri"/>
                <a:cs typeface="Calibri"/>
              </a:rPr>
              <a:t>✓</a:t>
            </a:r>
          </a:p>
        </p:txBody>
      </p:sp>
      <p:sp>
        <p:nvSpPr>
          <p:cNvPr id="13" name="TextBox 12">
            <a:extLst>
              <a:ext uri="{FF2B5EF4-FFF2-40B4-BE49-F238E27FC236}">
                <a16:creationId xmlns:a16="http://schemas.microsoft.com/office/drawing/2014/main" id="{FCB593D2-86B7-46B0-98F7-710042DCE28B}"/>
              </a:ext>
            </a:extLst>
          </p:cNvPr>
          <p:cNvSpPr>
            <a:spLocks noGrp="1"/>
          </p:cNvSpPr>
          <p:nvPr/>
        </p:nvSpPr>
        <p:spPr>
          <a:xfrm>
            <a:off x="1097280" y="2832762"/>
            <a:ext cx="3318989" cy="310896"/>
          </a:xfrm>
          <a:prstGeom prst="rect">
            <a:avLst/>
          </a:prstGeom>
          <a:noFill/>
        </p:spPr>
        <p:txBody>
          <a:bodyPr wrap="square" lIns="0" tIns="0" rIns="0" bIns="0" anchor="t">
            <a:spAutoFit/>
          </a:bodyPr>
          <a:lstStyle/>
          <a:p>
            <a:pPr algn="l">
              <a:spcBef>
                <a:spcPts val="0"/>
              </a:spcBef>
              <a:spcAft>
                <a:spcPts val="0"/>
              </a:spcAft>
              <a:buNone/>
            </a:pPr>
            <a:r>
              <a:rPr sz="1100" b="0" i="0">
                <a:solidFill>
                  <a:srgbClr val="14142B"/>
                </a:solidFill>
                <a:latin typeface="Calibri"/>
                <a:ea typeface="Calibri"/>
                <a:cs typeface="Calibri"/>
              </a:rPr>
              <a:t>Absolute URL leaks</a:t>
            </a:r>
          </a:p>
        </p:txBody>
      </p:sp>
      <p:sp>
        <p:nvSpPr>
          <p:cNvPr id="14" name="TextBox 13">
            <a:extLst>
              <a:ext uri="{FF2B5EF4-FFF2-40B4-BE49-F238E27FC236}">
                <a16:creationId xmlns:a16="http://schemas.microsoft.com/office/drawing/2014/main" id="{98AA0E7F-76F8-4797-BA60-CEA6BCF034C5}"/>
              </a:ext>
            </a:extLst>
          </p:cNvPr>
          <p:cNvSpPr>
            <a:spLocks noGrp="1"/>
          </p:cNvSpPr>
          <p:nvPr/>
        </p:nvSpPr>
        <p:spPr>
          <a:xfrm>
            <a:off x="4416269" y="2832762"/>
            <a:ext cx="1106329" cy="310896"/>
          </a:xfrm>
          <a:prstGeom prst="rect">
            <a:avLst/>
          </a:prstGeom>
          <a:noFill/>
        </p:spPr>
        <p:txBody>
          <a:bodyPr wrap="square" lIns="0" tIns="0" rIns="0" bIns="0" anchor="t">
            <a:spAutoFit/>
          </a:bodyPr>
          <a:lstStyle/>
          <a:p>
            <a:pPr algn="l">
              <a:spcBef>
                <a:spcPts val="0"/>
              </a:spcBef>
              <a:spcAft>
                <a:spcPts val="0"/>
              </a:spcAft>
              <a:buNone/>
            </a:pPr>
            <a:r>
              <a:rPr sz="1100" b="0" i="0">
                <a:solidFill>
                  <a:srgbClr val="63637E"/>
                </a:solidFill>
                <a:latin typeface="Calibri"/>
                <a:ea typeface="Calibri"/>
                <a:cs typeface="Calibri"/>
              </a:rPr>
              <a:t>0</a:t>
            </a:r>
          </a:p>
        </p:txBody>
      </p:sp>
      <p:sp>
        <p:nvSpPr>
          <p:cNvPr id="15" name="TextBox 14">
            <a:extLst>
              <a:ext uri="{FF2B5EF4-FFF2-40B4-BE49-F238E27FC236}">
                <a16:creationId xmlns:a16="http://schemas.microsoft.com/office/drawing/2014/main" id="{1447D311-85CC-4261-BE86-7FB4A79F67A7}"/>
              </a:ext>
            </a:extLst>
          </p:cNvPr>
          <p:cNvSpPr>
            <a:spLocks noGrp="1"/>
          </p:cNvSpPr>
          <p:nvPr/>
        </p:nvSpPr>
        <p:spPr>
          <a:xfrm>
            <a:off x="5522599" y="2832762"/>
            <a:ext cx="1106329" cy="310896"/>
          </a:xfrm>
          <a:prstGeom prst="rect">
            <a:avLst/>
          </a:prstGeom>
          <a:noFill/>
        </p:spPr>
        <p:txBody>
          <a:bodyPr wrap="square" lIns="0" tIns="0" rIns="0" bIns="0" anchor="t">
            <a:spAutoFit/>
          </a:bodyPr>
          <a:lstStyle/>
          <a:p>
            <a:pPr algn="l">
              <a:spcBef>
                <a:spcPts val="0"/>
              </a:spcBef>
              <a:spcAft>
                <a:spcPts val="0"/>
              </a:spcAft>
              <a:buNone/>
            </a:pPr>
            <a:r>
              <a:rPr sz="1100" b="1" i="0">
                <a:solidFill>
                  <a:srgbClr val="0E7C5E"/>
                </a:solidFill>
                <a:latin typeface="Calibri"/>
                <a:ea typeface="Calibri"/>
                <a:cs typeface="Calibri"/>
              </a:rPr>
              <a:t>0</a:t>
            </a:r>
          </a:p>
        </p:txBody>
      </p:sp>
      <p:sp>
        <p:nvSpPr>
          <p:cNvPr id="16" name="TextBox 15">
            <a:extLst>
              <a:ext uri="{FF2B5EF4-FFF2-40B4-BE49-F238E27FC236}">
                <a16:creationId xmlns:a16="http://schemas.microsoft.com/office/drawing/2014/main" id="{9F863637-5992-4A65-AFCD-6B4D30069D3B}"/>
              </a:ext>
            </a:extLst>
          </p:cNvPr>
          <p:cNvSpPr>
            <a:spLocks noGrp="1"/>
          </p:cNvSpPr>
          <p:nvPr/>
        </p:nvSpPr>
        <p:spPr>
          <a:xfrm>
            <a:off x="6585188" y="2832762"/>
            <a:ext cx="274320" cy="310896"/>
          </a:xfrm>
          <a:prstGeom prst="rect">
            <a:avLst/>
          </a:prstGeom>
          <a:noFill/>
        </p:spPr>
        <p:txBody>
          <a:bodyPr wrap="square" lIns="0" tIns="0" rIns="0" bIns="0" anchor="t">
            <a:spAutoFit/>
          </a:bodyPr>
          <a:lstStyle/>
          <a:p>
            <a:pPr algn="l">
              <a:spcBef>
                <a:spcPts val="0"/>
              </a:spcBef>
              <a:spcAft>
                <a:spcPts val="0"/>
              </a:spcAft>
              <a:buNone/>
            </a:pPr>
            <a:r>
              <a:rPr sz="1200" b="1" i="0">
                <a:solidFill>
                  <a:srgbClr val="0E7C5E"/>
                </a:solidFill>
                <a:latin typeface="Calibri"/>
                <a:ea typeface="Calibri"/>
                <a:cs typeface="Calibri"/>
              </a:rPr>
              <a:t>✓</a:t>
            </a:r>
          </a:p>
        </p:txBody>
      </p:sp>
      <p:sp>
        <p:nvSpPr>
          <p:cNvPr id="17" name="TextBox 16">
            <a:extLst>
              <a:ext uri="{FF2B5EF4-FFF2-40B4-BE49-F238E27FC236}">
                <a16:creationId xmlns:a16="http://schemas.microsoft.com/office/drawing/2014/main" id="{3E4250E1-26E8-45EB-923B-D1141CE80D97}"/>
              </a:ext>
            </a:extLst>
          </p:cNvPr>
          <p:cNvSpPr>
            <a:spLocks noGrp="1"/>
          </p:cNvSpPr>
          <p:nvPr/>
        </p:nvSpPr>
        <p:spPr>
          <a:xfrm>
            <a:off x="1097280" y="3225954"/>
            <a:ext cx="3318989" cy="310896"/>
          </a:xfrm>
          <a:prstGeom prst="rect">
            <a:avLst/>
          </a:prstGeom>
          <a:noFill/>
        </p:spPr>
        <p:txBody>
          <a:bodyPr wrap="square" lIns="0" tIns="0" rIns="0" bIns="0" anchor="t">
            <a:spAutoFit/>
          </a:bodyPr>
          <a:lstStyle/>
          <a:p>
            <a:pPr algn="l">
              <a:spcBef>
                <a:spcPts val="0"/>
              </a:spcBef>
              <a:spcAft>
                <a:spcPts val="0"/>
              </a:spcAft>
              <a:buNone/>
            </a:pPr>
            <a:r>
              <a:rPr sz="1100" b="0" i="0">
                <a:solidFill>
                  <a:srgbClr val="14142B"/>
                </a:solidFill>
                <a:latin typeface="Calibri"/>
                <a:ea typeface="Calibri"/>
                <a:cs typeface="Calibri"/>
              </a:rPr>
              <a:t>Catalog URI validity</a:t>
            </a:r>
          </a:p>
        </p:txBody>
      </p:sp>
      <p:sp>
        <p:nvSpPr>
          <p:cNvPr id="18" name="TextBox 17">
            <a:extLst>
              <a:ext uri="{FF2B5EF4-FFF2-40B4-BE49-F238E27FC236}">
                <a16:creationId xmlns:a16="http://schemas.microsoft.com/office/drawing/2014/main" id="{D4CEE814-1B4D-4540-AD5B-2888C6D15A6F}"/>
              </a:ext>
            </a:extLst>
          </p:cNvPr>
          <p:cNvSpPr>
            <a:spLocks noGrp="1"/>
          </p:cNvSpPr>
          <p:nvPr/>
        </p:nvSpPr>
        <p:spPr>
          <a:xfrm>
            <a:off x="4416269" y="3225954"/>
            <a:ext cx="1106329" cy="310896"/>
          </a:xfrm>
          <a:prstGeom prst="rect">
            <a:avLst/>
          </a:prstGeom>
          <a:noFill/>
        </p:spPr>
        <p:txBody>
          <a:bodyPr wrap="square" lIns="0" tIns="0" rIns="0" bIns="0" anchor="t">
            <a:spAutoFit/>
          </a:bodyPr>
          <a:lstStyle/>
          <a:p>
            <a:pPr algn="l">
              <a:spcBef>
                <a:spcPts val="0"/>
              </a:spcBef>
              <a:spcAft>
                <a:spcPts val="0"/>
              </a:spcAft>
              <a:buNone/>
            </a:pPr>
            <a:r>
              <a:rPr sz="1100" b="0" i="0" dirty="0">
                <a:solidFill>
                  <a:srgbClr val="63637E"/>
                </a:solidFill>
                <a:latin typeface="Calibri"/>
                <a:ea typeface="Calibri"/>
                <a:cs typeface="Calibri"/>
              </a:rPr>
              <a:t>100%</a:t>
            </a:r>
          </a:p>
        </p:txBody>
      </p:sp>
      <p:sp>
        <p:nvSpPr>
          <p:cNvPr id="19" name="TextBox 18">
            <a:extLst>
              <a:ext uri="{FF2B5EF4-FFF2-40B4-BE49-F238E27FC236}">
                <a16:creationId xmlns:a16="http://schemas.microsoft.com/office/drawing/2014/main" id="{2062E350-FC68-4DD4-A34A-63CA54E116C8}"/>
              </a:ext>
            </a:extLst>
          </p:cNvPr>
          <p:cNvSpPr>
            <a:spLocks noGrp="1"/>
          </p:cNvSpPr>
          <p:nvPr/>
        </p:nvSpPr>
        <p:spPr>
          <a:xfrm>
            <a:off x="5522599" y="3225954"/>
            <a:ext cx="1106329" cy="310896"/>
          </a:xfrm>
          <a:prstGeom prst="rect">
            <a:avLst/>
          </a:prstGeom>
          <a:noFill/>
        </p:spPr>
        <p:txBody>
          <a:bodyPr wrap="square" lIns="0" tIns="0" rIns="0" bIns="0" anchor="t">
            <a:spAutoFit/>
          </a:bodyPr>
          <a:lstStyle/>
          <a:p>
            <a:pPr algn="l">
              <a:spcBef>
                <a:spcPts val="0"/>
              </a:spcBef>
              <a:spcAft>
                <a:spcPts val="0"/>
              </a:spcAft>
              <a:buNone/>
            </a:pPr>
            <a:r>
              <a:rPr sz="1100" b="1" i="0">
                <a:solidFill>
                  <a:srgbClr val="0E7C5E"/>
                </a:solidFill>
                <a:latin typeface="Calibri"/>
                <a:ea typeface="Calibri"/>
                <a:cs typeface="Calibri"/>
              </a:rPr>
              <a:t>100%</a:t>
            </a:r>
          </a:p>
        </p:txBody>
      </p:sp>
      <p:sp>
        <p:nvSpPr>
          <p:cNvPr id="20" name="TextBox 19">
            <a:extLst>
              <a:ext uri="{FF2B5EF4-FFF2-40B4-BE49-F238E27FC236}">
                <a16:creationId xmlns:a16="http://schemas.microsoft.com/office/drawing/2014/main" id="{EC876DFE-0601-4A85-BE99-D6DBC57D9B34}"/>
              </a:ext>
            </a:extLst>
          </p:cNvPr>
          <p:cNvSpPr>
            <a:spLocks noGrp="1"/>
          </p:cNvSpPr>
          <p:nvPr/>
        </p:nvSpPr>
        <p:spPr>
          <a:xfrm>
            <a:off x="6585188" y="3225954"/>
            <a:ext cx="274320" cy="310896"/>
          </a:xfrm>
          <a:prstGeom prst="rect">
            <a:avLst/>
          </a:prstGeom>
          <a:noFill/>
        </p:spPr>
        <p:txBody>
          <a:bodyPr wrap="square" lIns="0" tIns="0" rIns="0" bIns="0" anchor="t">
            <a:spAutoFit/>
          </a:bodyPr>
          <a:lstStyle/>
          <a:p>
            <a:pPr algn="l">
              <a:spcBef>
                <a:spcPts val="0"/>
              </a:spcBef>
              <a:spcAft>
                <a:spcPts val="0"/>
              </a:spcAft>
              <a:buNone/>
            </a:pPr>
            <a:r>
              <a:rPr sz="1200" b="1" i="0">
                <a:solidFill>
                  <a:srgbClr val="0E7C5E"/>
                </a:solidFill>
                <a:latin typeface="Calibri"/>
                <a:ea typeface="Calibri"/>
                <a:cs typeface="Calibri"/>
              </a:rPr>
              <a:t>✓</a:t>
            </a:r>
          </a:p>
        </p:txBody>
      </p:sp>
      <p:sp>
        <p:nvSpPr>
          <p:cNvPr id="21" name="TextBox 20">
            <a:extLst>
              <a:ext uri="{FF2B5EF4-FFF2-40B4-BE49-F238E27FC236}">
                <a16:creationId xmlns:a16="http://schemas.microsoft.com/office/drawing/2014/main" id="{1A444328-937F-46C0-9951-7854C80B6527}"/>
              </a:ext>
            </a:extLst>
          </p:cNvPr>
          <p:cNvSpPr>
            <a:spLocks noGrp="1"/>
          </p:cNvSpPr>
          <p:nvPr/>
        </p:nvSpPr>
        <p:spPr>
          <a:xfrm>
            <a:off x="1097280" y="3619146"/>
            <a:ext cx="3318989" cy="310896"/>
          </a:xfrm>
          <a:prstGeom prst="rect">
            <a:avLst/>
          </a:prstGeom>
          <a:noFill/>
        </p:spPr>
        <p:txBody>
          <a:bodyPr wrap="square" lIns="0" tIns="0" rIns="0" bIns="0" anchor="t">
            <a:spAutoFit/>
          </a:bodyPr>
          <a:lstStyle/>
          <a:p>
            <a:pPr algn="l">
              <a:spcBef>
                <a:spcPts val="0"/>
              </a:spcBef>
              <a:spcAft>
                <a:spcPts val="0"/>
              </a:spcAft>
              <a:buNone/>
            </a:pPr>
            <a:r>
              <a:rPr sz="1100" b="0" i="0">
                <a:solidFill>
                  <a:srgbClr val="14142B"/>
                </a:solidFill>
                <a:latin typeface="Calibri"/>
                <a:ea typeface="Calibri"/>
                <a:cs typeface="Calibri"/>
              </a:rPr>
              <a:t>Paraphrase cache hit rate</a:t>
            </a:r>
          </a:p>
        </p:txBody>
      </p:sp>
      <p:sp>
        <p:nvSpPr>
          <p:cNvPr id="22" name="TextBox 21">
            <a:extLst>
              <a:ext uri="{FF2B5EF4-FFF2-40B4-BE49-F238E27FC236}">
                <a16:creationId xmlns:a16="http://schemas.microsoft.com/office/drawing/2014/main" id="{886A0706-7AB1-4AF9-A070-0AD27A116DB6}"/>
              </a:ext>
            </a:extLst>
          </p:cNvPr>
          <p:cNvSpPr>
            <a:spLocks noGrp="1"/>
          </p:cNvSpPr>
          <p:nvPr/>
        </p:nvSpPr>
        <p:spPr>
          <a:xfrm>
            <a:off x="4416269" y="3619146"/>
            <a:ext cx="1106329" cy="310896"/>
          </a:xfrm>
          <a:prstGeom prst="rect">
            <a:avLst/>
          </a:prstGeom>
          <a:noFill/>
        </p:spPr>
        <p:txBody>
          <a:bodyPr wrap="square" lIns="0" tIns="0" rIns="0" bIns="0" anchor="t">
            <a:spAutoFit/>
          </a:bodyPr>
          <a:lstStyle/>
          <a:p>
            <a:pPr algn="l">
              <a:spcBef>
                <a:spcPts val="0"/>
              </a:spcBef>
              <a:spcAft>
                <a:spcPts val="0"/>
              </a:spcAft>
              <a:buNone/>
            </a:pPr>
            <a:r>
              <a:rPr sz="1100" b="0" i="0">
                <a:solidFill>
                  <a:srgbClr val="63637E"/>
                </a:solidFill>
                <a:latin typeface="Calibri"/>
                <a:ea typeface="Calibri"/>
                <a:cs typeface="Calibri"/>
              </a:rPr>
              <a:t>≥ 80%</a:t>
            </a:r>
          </a:p>
        </p:txBody>
      </p:sp>
      <p:sp>
        <p:nvSpPr>
          <p:cNvPr id="23" name="TextBox 22">
            <a:extLst>
              <a:ext uri="{FF2B5EF4-FFF2-40B4-BE49-F238E27FC236}">
                <a16:creationId xmlns:a16="http://schemas.microsoft.com/office/drawing/2014/main" id="{529D2901-5B39-4874-938A-FD4853E870C5}"/>
              </a:ext>
            </a:extLst>
          </p:cNvPr>
          <p:cNvSpPr>
            <a:spLocks noGrp="1"/>
          </p:cNvSpPr>
          <p:nvPr/>
        </p:nvSpPr>
        <p:spPr>
          <a:xfrm>
            <a:off x="5522599" y="3619146"/>
            <a:ext cx="1106329" cy="310896"/>
          </a:xfrm>
          <a:prstGeom prst="rect">
            <a:avLst/>
          </a:prstGeom>
          <a:noFill/>
        </p:spPr>
        <p:txBody>
          <a:bodyPr wrap="square" lIns="0" tIns="0" rIns="0" bIns="0" anchor="t">
            <a:spAutoFit/>
          </a:bodyPr>
          <a:lstStyle/>
          <a:p>
            <a:pPr algn="l">
              <a:spcBef>
                <a:spcPts val="0"/>
              </a:spcBef>
              <a:spcAft>
                <a:spcPts val="0"/>
              </a:spcAft>
              <a:buNone/>
            </a:pPr>
            <a:r>
              <a:rPr sz="1100" b="1" i="0">
                <a:solidFill>
                  <a:srgbClr val="0E7C5E"/>
                </a:solidFill>
                <a:latin typeface="Calibri"/>
                <a:ea typeface="Calibri"/>
                <a:cs typeface="Calibri"/>
              </a:rPr>
              <a:t>90%*</a:t>
            </a:r>
          </a:p>
        </p:txBody>
      </p:sp>
      <p:sp>
        <p:nvSpPr>
          <p:cNvPr id="24" name="TextBox 23">
            <a:extLst>
              <a:ext uri="{FF2B5EF4-FFF2-40B4-BE49-F238E27FC236}">
                <a16:creationId xmlns:a16="http://schemas.microsoft.com/office/drawing/2014/main" id="{A73C21FC-2C8E-495A-B955-F66262CF755E}"/>
              </a:ext>
            </a:extLst>
          </p:cNvPr>
          <p:cNvSpPr>
            <a:spLocks noGrp="1"/>
          </p:cNvSpPr>
          <p:nvPr/>
        </p:nvSpPr>
        <p:spPr>
          <a:xfrm>
            <a:off x="6585188" y="3619146"/>
            <a:ext cx="274320" cy="310896"/>
          </a:xfrm>
          <a:prstGeom prst="rect">
            <a:avLst/>
          </a:prstGeom>
          <a:noFill/>
        </p:spPr>
        <p:txBody>
          <a:bodyPr wrap="square" lIns="0" tIns="0" rIns="0" bIns="0" anchor="t">
            <a:spAutoFit/>
          </a:bodyPr>
          <a:lstStyle/>
          <a:p>
            <a:pPr algn="l">
              <a:spcBef>
                <a:spcPts val="0"/>
              </a:spcBef>
              <a:spcAft>
                <a:spcPts val="0"/>
              </a:spcAft>
              <a:buNone/>
            </a:pPr>
            <a:r>
              <a:rPr sz="1200" b="1" i="0">
                <a:solidFill>
                  <a:srgbClr val="0E7C5E"/>
                </a:solidFill>
                <a:latin typeface="Calibri"/>
                <a:ea typeface="Calibri"/>
                <a:cs typeface="Calibri"/>
              </a:rPr>
              <a:t>✓</a:t>
            </a:r>
          </a:p>
        </p:txBody>
      </p:sp>
      <p:sp>
        <p:nvSpPr>
          <p:cNvPr id="25" name="TextBox 24">
            <a:extLst>
              <a:ext uri="{FF2B5EF4-FFF2-40B4-BE49-F238E27FC236}">
                <a16:creationId xmlns:a16="http://schemas.microsoft.com/office/drawing/2014/main" id="{09986515-3661-4636-AC8F-2FFA8131D442}"/>
              </a:ext>
            </a:extLst>
          </p:cNvPr>
          <p:cNvSpPr>
            <a:spLocks noGrp="1"/>
          </p:cNvSpPr>
          <p:nvPr/>
        </p:nvSpPr>
        <p:spPr>
          <a:xfrm>
            <a:off x="1097280" y="4012338"/>
            <a:ext cx="3318989" cy="310896"/>
          </a:xfrm>
          <a:prstGeom prst="rect">
            <a:avLst/>
          </a:prstGeom>
          <a:noFill/>
        </p:spPr>
        <p:txBody>
          <a:bodyPr wrap="square" lIns="0" tIns="0" rIns="0" bIns="0" anchor="t">
            <a:spAutoFit/>
          </a:bodyPr>
          <a:lstStyle/>
          <a:p>
            <a:pPr algn="l">
              <a:spcBef>
                <a:spcPts val="0"/>
              </a:spcBef>
              <a:spcAft>
                <a:spcPts val="0"/>
              </a:spcAft>
              <a:buNone/>
            </a:pPr>
            <a:r>
              <a:rPr sz="1100" b="0" i="0">
                <a:solidFill>
                  <a:srgbClr val="14142B"/>
                </a:solidFill>
                <a:latin typeface="Calibri"/>
                <a:ea typeface="Calibri"/>
                <a:cs typeface="Calibri"/>
              </a:rPr>
              <a:t>Cache-hit P95</a:t>
            </a:r>
          </a:p>
        </p:txBody>
      </p:sp>
      <p:sp>
        <p:nvSpPr>
          <p:cNvPr id="26" name="TextBox 25">
            <a:extLst>
              <a:ext uri="{FF2B5EF4-FFF2-40B4-BE49-F238E27FC236}">
                <a16:creationId xmlns:a16="http://schemas.microsoft.com/office/drawing/2014/main" id="{5B251F66-E3DF-4F4E-8AE7-652440370D93}"/>
              </a:ext>
            </a:extLst>
          </p:cNvPr>
          <p:cNvSpPr>
            <a:spLocks noGrp="1"/>
          </p:cNvSpPr>
          <p:nvPr/>
        </p:nvSpPr>
        <p:spPr>
          <a:xfrm>
            <a:off x="4416269" y="4012338"/>
            <a:ext cx="1106329" cy="310896"/>
          </a:xfrm>
          <a:prstGeom prst="rect">
            <a:avLst/>
          </a:prstGeom>
          <a:noFill/>
        </p:spPr>
        <p:txBody>
          <a:bodyPr wrap="square" lIns="0" tIns="0" rIns="0" bIns="0" anchor="t">
            <a:spAutoFit/>
          </a:bodyPr>
          <a:lstStyle/>
          <a:p>
            <a:pPr algn="l">
              <a:spcBef>
                <a:spcPts val="0"/>
              </a:spcBef>
              <a:spcAft>
                <a:spcPts val="0"/>
              </a:spcAft>
              <a:buNone/>
            </a:pPr>
            <a:r>
              <a:rPr sz="1100" b="0" i="0">
                <a:solidFill>
                  <a:srgbClr val="63637E"/>
                </a:solidFill>
                <a:latin typeface="Calibri"/>
                <a:ea typeface="Calibri"/>
                <a:cs typeface="Calibri"/>
              </a:rPr>
              <a:t>≤ 300 ms</a:t>
            </a:r>
          </a:p>
        </p:txBody>
      </p:sp>
      <p:sp>
        <p:nvSpPr>
          <p:cNvPr id="27" name="TextBox 26">
            <a:extLst>
              <a:ext uri="{FF2B5EF4-FFF2-40B4-BE49-F238E27FC236}">
                <a16:creationId xmlns:a16="http://schemas.microsoft.com/office/drawing/2014/main" id="{42E69F8D-2052-4826-B96E-B3782D1D0533}"/>
              </a:ext>
            </a:extLst>
          </p:cNvPr>
          <p:cNvSpPr>
            <a:spLocks noGrp="1"/>
          </p:cNvSpPr>
          <p:nvPr/>
        </p:nvSpPr>
        <p:spPr>
          <a:xfrm>
            <a:off x="5522599" y="4012338"/>
            <a:ext cx="1106329" cy="310896"/>
          </a:xfrm>
          <a:prstGeom prst="rect">
            <a:avLst/>
          </a:prstGeom>
          <a:noFill/>
        </p:spPr>
        <p:txBody>
          <a:bodyPr wrap="square" lIns="0" tIns="0" rIns="0" bIns="0" anchor="t">
            <a:spAutoFit/>
          </a:bodyPr>
          <a:lstStyle/>
          <a:p>
            <a:pPr algn="l">
              <a:spcBef>
                <a:spcPts val="0"/>
              </a:spcBef>
              <a:spcAft>
                <a:spcPts val="0"/>
              </a:spcAft>
              <a:buNone/>
            </a:pPr>
            <a:r>
              <a:rPr sz="1100" b="1" i="0">
                <a:solidFill>
                  <a:srgbClr val="0E7C5E"/>
                </a:solidFill>
                <a:latin typeface="Calibri"/>
                <a:ea typeface="Calibri"/>
                <a:cs typeface="Calibri"/>
              </a:rPr>
              <a:t>1235 / 537 ms</a:t>
            </a:r>
          </a:p>
        </p:txBody>
      </p:sp>
      <p:sp>
        <p:nvSpPr>
          <p:cNvPr id="28" name="TextBox 27">
            <a:extLst>
              <a:ext uri="{FF2B5EF4-FFF2-40B4-BE49-F238E27FC236}">
                <a16:creationId xmlns:a16="http://schemas.microsoft.com/office/drawing/2014/main" id="{3AB89A2C-B25B-4026-8CEC-C2788BA7E13E}"/>
              </a:ext>
            </a:extLst>
          </p:cNvPr>
          <p:cNvSpPr>
            <a:spLocks noGrp="1"/>
          </p:cNvSpPr>
          <p:nvPr/>
        </p:nvSpPr>
        <p:spPr>
          <a:xfrm>
            <a:off x="6585188" y="4012338"/>
            <a:ext cx="274320" cy="310896"/>
          </a:xfrm>
          <a:prstGeom prst="rect">
            <a:avLst/>
          </a:prstGeom>
          <a:noFill/>
        </p:spPr>
        <p:txBody>
          <a:bodyPr wrap="square" lIns="0" tIns="0" rIns="0" bIns="0" anchor="t">
            <a:spAutoFit/>
          </a:bodyPr>
          <a:lstStyle/>
          <a:p>
            <a:pPr algn="l">
              <a:spcBef>
                <a:spcPts val="0"/>
              </a:spcBef>
              <a:spcAft>
                <a:spcPts val="0"/>
              </a:spcAft>
              <a:buNone/>
            </a:pPr>
            <a:r>
              <a:rPr sz="1200" b="1" i="0">
                <a:solidFill>
                  <a:srgbClr val="0E7C5E"/>
                </a:solidFill>
                <a:latin typeface="Calibri"/>
                <a:ea typeface="Calibri"/>
                <a:cs typeface="Calibri"/>
              </a:rPr>
              <a:t>✗</a:t>
            </a:r>
          </a:p>
        </p:txBody>
      </p:sp>
      <p:sp>
        <p:nvSpPr>
          <p:cNvPr id="37" name="Rounded Rectangle 36">
            <a:extLst>
              <a:ext uri="{FF2B5EF4-FFF2-40B4-BE49-F238E27FC236}">
                <a16:creationId xmlns:a16="http://schemas.microsoft.com/office/drawing/2014/main" id="{97584089-4F09-4CBA-8ADB-2E6DC6982D26}"/>
              </a:ext>
            </a:extLst>
          </p:cNvPr>
          <p:cNvSpPr>
            <a:spLocks noGrp="1"/>
          </p:cNvSpPr>
          <p:nvPr/>
        </p:nvSpPr>
        <p:spPr>
          <a:xfrm>
            <a:off x="7225268" y="1479450"/>
            <a:ext cx="4122435" cy="1847088"/>
          </a:xfrm>
          <a:prstGeom prst="roundRect">
            <a:avLst>
              <a:gd name="adj" fmla="val 8000"/>
            </a:avLst>
          </a:prstGeom>
          <a:solidFill>
            <a:srgbClr val="FDF3E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362C4866-1051-4A23-AFCF-90DACC91582D}"/>
              </a:ext>
            </a:extLst>
          </p:cNvPr>
          <p:cNvSpPr>
            <a:spLocks noGrp="1"/>
          </p:cNvSpPr>
          <p:nvPr/>
        </p:nvSpPr>
        <p:spPr>
          <a:xfrm>
            <a:off x="7463012" y="1662330"/>
            <a:ext cx="3646947" cy="1536700"/>
          </a:xfrm>
          <a:prstGeom prst="rect">
            <a:avLst/>
          </a:prstGeom>
          <a:noFill/>
        </p:spPr>
        <p:txBody>
          <a:bodyPr wrap="square" lIns="0" tIns="0" rIns="0" bIns="0" anchor="t">
            <a:spAutoFit/>
          </a:bodyPr>
          <a:lstStyle/>
          <a:p>
            <a:pPr algn="l">
              <a:spcBef>
                <a:spcPts val="0"/>
              </a:spcBef>
              <a:spcAft>
                <a:spcPts val="600"/>
              </a:spcAft>
              <a:buNone/>
            </a:pPr>
            <a:r>
              <a:rPr sz="1300" b="1" i="0">
                <a:solidFill>
                  <a:srgbClr val="A14B0A"/>
                </a:solidFill>
                <a:latin typeface="Calibri"/>
                <a:ea typeface="Calibri"/>
                <a:cs typeface="Calibri"/>
              </a:rPr>
              <a:t>Known limitations</a:t>
            </a:r>
          </a:p>
          <a:p>
            <a:pPr algn="l">
              <a:spcBef>
                <a:spcPts val="0"/>
              </a:spcBef>
              <a:spcAft>
                <a:spcPts val="200"/>
              </a:spcAft>
              <a:buNone/>
            </a:pPr>
            <a:r>
              <a:rPr sz="1100" b="1" i="0">
                <a:solidFill>
                  <a:srgbClr val="A14B0A"/>
                </a:solidFill>
                <a:latin typeface="Calibri"/>
                <a:ea typeface="Calibri"/>
                <a:cs typeface="Calibri"/>
              </a:rPr>
              <a:t>Human step accuracy and deeplink relevance are unmeasured.</a:t>
            </a:r>
          </a:p>
          <a:p>
            <a:pPr algn="l">
              <a:spcBef>
                <a:spcPts val="0"/>
              </a:spcBef>
              <a:spcAft>
                <a:spcPts val="600"/>
              </a:spcAft>
              <a:buNone/>
            </a:pPr>
            <a:r>
              <a:rPr sz="1050" b="0" i="0">
                <a:solidFill>
                  <a:srgbClr val="63637E"/>
                </a:solidFill>
                <a:latin typeface="Calibri"/>
                <a:ea typeface="Calibri"/>
                <a:cs typeface="Calibri"/>
              </a:rPr>
              <a:t>The 90% cache result uses team-written rewordings, not official ground truth.</a:t>
            </a:r>
          </a:p>
          <a:p>
            <a:pPr algn="l">
              <a:spcBef>
                <a:spcPts val="0"/>
              </a:spcBef>
              <a:spcAft>
                <a:spcPts val="200"/>
              </a:spcAft>
              <a:buNone/>
            </a:pPr>
            <a:r>
              <a:rPr sz="1100" b="1" i="0">
                <a:solidFill>
                  <a:srgbClr val="A14B0A"/>
                </a:solidFill>
                <a:latin typeface="Calibri"/>
                <a:ea typeface="Calibri"/>
                <a:cs typeface="Calibri"/>
              </a:rPr>
              <a:t>Auto-action deeplink coverage is 62.5%.</a:t>
            </a:r>
          </a:p>
          <a:p>
            <a:pPr algn="l">
              <a:spcBef>
                <a:spcPts val="0"/>
              </a:spcBef>
              <a:spcAft>
                <a:spcPts val="0"/>
              </a:spcAft>
              <a:buNone/>
            </a:pPr>
            <a:r>
              <a:rPr sz="1050" b="0" i="0">
                <a:solidFill>
                  <a:srgbClr val="63637E"/>
                </a:solidFill>
                <a:latin typeface="Calibri"/>
                <a:ea typeface="Calibri"/>
                <a:cs typeface="Calibri"/>
              </a:rPr>
              <a:t>Short and multi-intent complaints need stronger handling.</a:t>
            </a:r>
          </a:p>
          <a:p>
            <a:pPr algn="l">
              <a:spcBef>
                <a:spcPts val="0"/>
              </a:spcBef>
              <a:spcAft>
                <a:spcPts val="0"/>
              </a:spcAft>
              <a:buNone/>
            </a:pPr>
            <a:r>
              <a:rPr sz="1050" b="0" i="0">
                <a:solidFill>
                  <a:srgbClr val="63637E"/>
                </a:solidFill>
                <a:latin typeface="Calibri"/>
                <a:ea typeface="Calibri"/>
                <a:cs typeface="Calibri"/>
              </a:rPr>
              <a:t>The benchmark cost section still describes the earlier mock path, so cost claims are excluded.</a:t>
            </a:r>
          </a:p>
        </p:txBody>
      </p:sp>
      <p:sp>
        <p:nvSpPr>
          <p:cNvPr id="39" name="Rounded Rectangle 38">
            <a:extLst>
              <a:ext uri="{FF2B5EF4-FFF2-40B4-BE49-F238E27FC236}">
                <a16:creationId xmlns:a16="http://schemas.microsoft.com/office/drawing/2014/main" id="{151FEF49-3056-4352-9CB1-E4B02887E84D}"/>
              </a:ext>
            </a:extLst>
          </p:cNvPr>
          <p:cNvSpPr>
            <a:spLocks noGrp="1"/>
          </p:cNvSpPr>
          <p:nvPr/>
        </p:nvSpPr>
        <p:spPr>
          <a:xfrm>
            <a:off x="7225268" y="3527706"/>
            <a:ext cx="4122435" cy="1481328"/>
          </a:xfrm>
          <a:prstGeom prst="roundRect">
            <a:avLst>
              <a:gd name="adj" fmla="val 8000"/>
            </a:avLst>
          </a:prstGeom>
          <a:solidFill>
            <a:srgbClr val="E8F6F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549A5B2F-59E3-4B13-ACB9-9C508DD1338B}"/>
              </a:ext>
            </a:extLst>
          </p:cNvPr>
          <p:cNvSpPr>
            <a:spLocks noGrp="1"/>
          </p:cNvSpPr>
          <p:nvPr/>
        </p:nvSpPr>
        <p:spPr>
          <a:xfrm>
            <a:off x="7463012" y="3710586"/>
            <a:ext cx="3646947" cy="1481328"/>
          </a:xfrm>
          <a:prstGeom prst="rect">
            <a:avLst/>
          </a:prstGeom>
          <a:noFill/>
        </p:spPr>
        <p:txBody>
          <a:bodyPr wrap="square" lIns="0" tIns="0" rIns="0" bIns="0" anchor="t">
            <a:spAutoFit/>
          </a:bodyPr>
          <a:lstStyle/>
          <a:p>
            <a:pPr algn="l">
              <a:spcBef>
                <a:spcPts val="0"/>
              </a:spcBef>
              <a:spcAft>
                <a:spcPts val="600"/>
              </a:spcAft>
              <a:buNone/>
            </a:pPr>
            <a:r>
              <a:rPr sz="1300" b="1" i="0">
                <a:solidFill>
                  <a:srgbClr val="0E7C5E"/>
                </a:solidFill>
                <a:latin typeface="Calibri"/>
                <a:ea typeface="Calibri"/>
                <a:cs typeface="Calibri"/>
              </a:rPr>
              <a:t>Innovation</a:t>
            </a:r>
          </a:p>
          <a:p>
            <a:pPr algn="l">
              <a:spcBef>
                <a:spcPts val="0"/>
              </a:spcBef>
              <a:spcAft>
                <a:spcPts val="500"/>
              </a:spcAft>
              <a:buNone/>
            </a:pPr>
            <a:r>
              <a:rPr sz="1050" b="0" i="0">
                <a:solidFill>
                  <a:srgbClr val="63637E"/>
                </a:solidFill>
                <a:latin typeface="Calibri"/>
                <a:ea typeface="Calibri"/>
                <a:cs typeface="Calibri"/>
              </a:rPr>
              <a:t>SIIS-grounded generation with evidence checks</a:t>
            </a:r>
          </a:p>
          <a:p>
            <a:pPr algn="l">
              <a:spcBef>
                <a:spcPts val="0"/>
              </a:spcBef>
              <a:spcAft>
                <a:spcPts val="500"/>
              </a:spcAft>
              <a:buNone/>
            </a:pPr>
            <a:r>
              <a:rPr sz="1050" b="0" i="0">
                <a:solidFill>
                  <a:srgbClr val="63637E"/>
                </a:solidFill>
                <a:latin typeface="Calibri"/>
                <a:ea typeface="Calibri"/>
                <a:cs typeface="Calibri"/>
              </a:rPr>
              <a:t>Hybrid retrieval followed by deterministic compatibility filtering</a:t>
            </a:r>
          </a:p>
          <a:p>
            <a:pPr algn="l">
              <a:spcBef>
                <a:spcPts val="0"/>
              </a:spcBef>
              <a:spcAft>
                <a:spcPts val="500"/>
              </a:spcAft>
              <a:buNone/>
            </a:pPr>
            <a:r>
              <a:rPr sz="1050" b="0" i="0">
                <a:solidFill>
                  <a:srgbClr val="63637E"/>
                </a:solidFill>
                <a:latin typeface="Calibri"/>
                <a:ea typeface="Calibri"/>
                <a:cs typeface="Calibri"/>
              </a:rPr>
              <a:t>Multi-phrasing semantic cache with an ambiguity margin</a:t>
            </a:r>
          </a:p>
          <a:p>
            <a:pPr algn="l">
              <a:spcBef>
                <a:spcPts val="300"/>
              </a:spcBef>
              <a:spcAft>
                <a:spcPts val="0"/>
              </a:spcAft>
              <a:buNone/>
            </a:pPr>
            <a:r>
              <a:rPr sz="1000" b="0" i="1">
                <a:solidFill>
                  <a:srgbClr val="63637E"/>
                </a:solidFill>
                <a:latin typeface="Calibri"/>
                <a:ea typeface="Calibri"/>
                <a:cs typeface="Calibri"/>
              </a:rPr>
              <a:t>Cached plans are validated again before every read</a:t>
            </a:r>
          </a:p>
        </p:txBody>
      </p:sp>
      <p:sp>
        <p:nvSpPr>
          <p:cNvPr id="41" name="Rounded Rectangle 40"/>
          <p:cNvSpPr/>
          <p:nvPr/>
        </p:nvSpPr>
        <p:spPr>
          <a:xfrm>
            <a:off x="841248" y="5302106"/>
            <a:ext cx="10506456" cy="1097280"/>
          </a:xfrm>
          <a:prstGeom prst="roundRect">
            <a:avLst>
              <a:gd name="adj" fmla="val 10000"/>
            </a:avLst>
          </a:prstGeom>
          <a:solidFill>
            <a:srgbClr val="ECE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115568" y="5484986"/>
            <a:ext cx="9957816" cy="201168"/>
          </a:xfrm>
          <a:prstGeom prst="rect">
            <a:avLst/>
          </a:prstGeom>
          <a:noFill/>
        </p:spPr>
        <p:txBody>
          <a:bodyPr wrap="square" lIns="0" tIns="0" rIns="0" bIns="0" anchor="t">
            <a:spAutoFit/>
          </a:bodyPr>
          <a:lstStyle/>
          <a:p>
            <a:pPr algn="l">
              <a:spcBef>
                <a:spcPts val="0"/>
              </a:spcBef>
              <a:spcAft>
                <a:spcPts val="0"/>
              </a:spcAft>
            </a:pPr>
            <a:r>
              <a:rPr sz="900" b="1" i="0">
                <a:solidFill>
                  <a:srgbClr val="704EA6"/>
                </a:solidFill>
                <a:latin typeface="Calibri"/>
              </a:rPr>
              <a:t>AUTOMATED TEST SUITE</a:t>
            </a:r>
          </a:p>
        </p:txBody>
      </p:sp>
      <p:sp>
        <p:nvSpPr>
          <p:cNvPr id="43" name="TextBox 42"/>
          <p:cNvSpPr txBox="1"/>
          <p:nvPr/>
        </p:nvSpPr>
        <p:spPr>
          <a:xfrm>
            <a:off x="1115568" y="5777593"/>
            <a:ext cx="3136392"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136 collected</a:t>
            </a:r>
          </a:p>
        </p:txBody>
      </p:sp>
      <p:sp>
        <p:nvSpPr>
          <p:cNvPr id="44" name="TextBox 43"/>
          <p:cNvSpPr txBox="1"/>
          <p:nvPr/>
        </p:nvSpPr>
        <p:spPr>
          <a:xfrm>
            <a:off x="1115568" y="6024481"/>
            <a:ext cx="3136392" cy="265176"/>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Validation, retrieval, database, cache and API</a:t>
            </a:r>
          </a:p>
        </p:txBody>
      </p:sp>
      <p:sp>
        <p:nvSpPr>
          <p:cNvPr id="45" name="TextBox 44"/>
          <p:cNvSpPr txBox="1"/>
          <p:nvPr/>
        </p:nvSpPr>
        <p:spPr>
          <a:xfrm>
            <a:off x="4526280" y="5777593"/>
            <a:ext cx="3136392"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90 need no model call</a:t>
            </a:r>
          </a:p>
        </p:txBody>
      </p:sp>
      <p:sp>
        <p:nvSpPr>
          <p:cNvPr id="46" name="TextBox 45"/>
          <p:cNvSpPr txBox="1"/>
          <p:nvPr/>
        </p:nvSpPr>
        <p:spPr>
          <a:xfrm>
            <a:off x="4526280" y="6024481"/>
            <a:ext cx="3136392" cy="265176"/>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The deterministic half runs without API quota</a:t>
            </a:r>
          </a:p>
        </p:txBody>
      </p:sp>
      <p:sp>
        <p:nvSpPr>
          <p:cNvPr id="47" name="TextBox 46"/>
          <p:cNvSpPr txBox="1"/>
          <p:nvPr/>
        </p:nvSpPr>
        <p:spPr>
          <a:xfrm>
            <a:off x="7936992" y="5777593"/>
            <a:ext cx="3136392"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134 of 136 last full run</a:t>
            </a:r>
          </a:p>
        </p:txBody>
      </p:sp>
      <p:sp>
        <p:nvSpPr>
          <p:cNvPr id="48" name="TextBox 47"/>
          <p:cNvSpPr txBox="1"/>
          <p:nvPr/>
        </p:nvSpPr>
        <p:spPr>
          <a:xfrm>
            <a:off x="7936992" y="6024481"/>
            <a:ext cx="3136392" cy="265176"/>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Both failures were daily quota, not code</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buNone/>
            </a:pPr>
            <a:r>
              <a:rPr sz="2900" b="1">
                <a:solidFill>
                  <a:srgbClr val="704EA6"/>
                </a:solidFill>
                <a:latin typeface="Calibri"/>
                <a:ea typeface="Calibri"/>
                <a:cs typeface="Calibri"/>
              </a:rPr>
              <a:t>What’s Next</a:t>
            </a:r>
            <a:endParaRPr sz="4400" b="1">
              <a:solidFill>
                <a:srgbClr val="704EA6"/>
              </a:solidFill>
            </a:endParaRPr>
          </a:p>
        </p:txBody>
      </p:sp>
      <p:sp>
        <p:nvSpPr>
          <p:cNvPr id="3" name="Rounded Rectangle 2">
            <a:extLst>
              <a:ext uri="{FF2B5EF4-FFF2-40B4-BE49-F238E27FC236}">
                <a16:creationId xmlns:a16="http://schemas.microsoft.com/office/drawing/2014/main" id="{09F18EC6-C9BF-46AC-8199-C4D65B995D66}"/>
              </a:ext>
            </a:extLst>
          </p:cNvPr>
          <p:cNvSpPr>
            <a:spLocks noGrp="1"/>
          </p:cNvSpPr>
          <p:nvPr/>
        </p:nvSpPr>
        <p:spPr>
          <a:xfrm>
            <a:off x="841248" y="1461855"/>
            <a:ext cx="5152644" cy="1755648"/>
          </a:xfrm>
          <a:prstGeom prst="roundRect">
            <a:avLst>
              <a:gd name="adj" fmla="val 8000"/>
            </a:avLst>
          </a:prstGeom>
          <a:solidFill>
            <a:srgbClr val="F6F4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Oval 3">
            <a:extLst>
              <a:ext uri="{FF2B5EF4-FFF2-40B4-BE49-F238E27FC236}">
                <a16:creationId xmlns:a16="http://schemas.microsoft.com/office/drawing/2014/main" id="{3BC35D16-305F-47F4-A5B4-BA720351380A}"/>
              </a:ext>
            </a:extLst>
          </p:cNvPr>
          <p:cNvSpPr>
            <a:spLocks noGrp="1"/>
          </p:cNvSpPr>
          <p:nvPr/>
        </p:nvSpPr>
        <p:spPr>
          <a:xfrm>
            <a:off x="1078992" y="1681310"/>
            <a:ext cx="384048" cy="384048"/>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1200" b="1">
                <a:solidFill>
                  <a:srgbClr val="FFFFFF"/>
                </a:solidFill>
                <a:latin typeface="Calibri"/>
                <a:ea typeface="Calibri"/>
                <a:cs typeface="Calibri"/>
              </a:rPr>
              <a:t>1</a:t>
            </a:r>
          </a:p>
        </p:txBody>
      </p:sp>
      <p:sp>
        <p:nvSpPr>
          <p:cNvPr id="5" name="TextBox 4">
            <a:extLst>
              <a:ext uri="{FF2B5EF4-FFF2-40B4-BE49-F238E27FC236}">
                <a16:creationId xmlns:a16="http://schemas.microsoft.com/office/drawing/2014/main" id="{DD395186-B95A-4F16-9011-8264045AA2F8}"/>
              </a:ext>
            </a:extLst>
          </p:cNvPr>
          <p:cNvSpPr>
            <a:spLocks noGrp="1"/>
          </p:cNvSpPr>
          <p:nvPr/>
        </p:nvSpPr>
        <p:spPr>
          <a:xfrm>
            <a:off x="1609344" y="1717886"/>
            <a:ext cx="4146804" cy="329184"/>
          </a:xfrm>
          <a:prstGeom prst="rect">
            <a:avLst/>
          </a:prstGeom>
          <a:noFill/>
        </p:spPr>
        <p:txBody>
          <a:bodyPr wrap="square" lIns="0" tIns="0" rIns="0" bIns="0" anchor="t">
            <a:spAutoFit/>
          </a:bodyPr>
          <a:lstStyle/>
          <a:p>
            <a:pPr algn="l">
              <a:spcBef>
                <a:spcPts val="0"/>
              </a:spcBef>
              <a:spcAft>
                <a:spcPts val="0"/>
              </a:spcAft>
              <a:buNone/>
            </a:pPr>
            <a:r>
              <a:rPr sz="1300" b="1" i="0">
                <a:solidFill>
                  <a:srgbClr val="14142B"/>
                </a:solidFill>
                <a:latin typeface="Calibri"/>
                <a:ea typeface="Calibri"/>
                <a:cs typeface="Calibri"/>
              </a:rPr>
              <a:t>Reduce cold-path latency</a:t>
            </a:r>
          </a:p>
        </p:txBody>
      </p:sp>
      <p:sp>
        <p:nvSpPr>
          <p:cNvPr id="6" name="TextBox 5">
            <a:extLst>
              <a:ext uri="{FF2B5EF4-FFF2-40B4-BE49-F238E27FC236}">
                <a16:creationId xmlns:a16="http://schemas.microsoft.com/office/drawing/2014/main" id="{6494F62E-C75B-44BB-A7DA-5B14054AF581}"/>
              </a:ext>
            </a:extLst>
          </p:cNvPr>
          <p:cNvSpPr>
            <a:spLocks noGrp="1"/>
          </p:cNvSpPr>
          <p:nvPr/>
        </p:nvSpPr>
        <p:spPr>
          <a:xfrm>
            <a:off x="1078992" y="2266527"/>
            <a:ext cx="4677156" cy="841248"/>
          </a:xfrm>
          <a:prstGeom prst="rect">
            <a:avLst/>
          </a:prstGeom>
          <a:noFill/>
        </p:spPr>
        <p:txBody>
          <a:bodyPr wrap="square" lIns="0" tIns="0" rIns="0" bIns="0" anchor="t">
            <a:spAutoFit/>
          </a:bodyPr>
          <a:lstStyle/>
          <a:p>
            <a:pPr algn="l">
              <a:spcBef>
                <a:spcPts val="0"/>
              </a:spcBef>
              <a:spcAft>
                <a:spcPts val="0"/>
              </a:spcAft>
              <a:buNone/>
            </a:pPr>
            <a:r>
              <a:rPr sz="1100" b="0" i="0">
                <a:solidFill>
                  <a:srgbClr val="63637E"/>
                </a:solidFill>
                <a:latin typeface="Calibri"/>
                <a:ea typeface="Calibri"/>
                <a:cs typeface="Calibri"/>
              </a:rPr>
              <a:t>Profile the two sequential Gemini calls, test a lighter enrichment model, and evaluate whether one grounded call can replace both stages.</a:t>
            </a:r>
          </a:p>
        </p:txBody>
      </p:sp>
      <p:sp>
        <p:nvSpPr>
          <p:cNvPr id="7" name="Rounded Rectangle 6">
            <a:extLst>
              <a:ext uri="{FF2B5EF4-FFF2-40B4-BE49-F238E27FC236}">
                <a16:creationId xmlns:a16="http://schemas.microsoft.com/office/drawing/2014/main" id="{46CFE499-7279-41C3-B890-34730F114927}"/>
              </a:ext>
            </a:extLst>
          </p:cNvPr>
          <p:cNvSpPr>
            <a:spLocks noGrp="1"/>
          </p:cNvSpPr>
          <p:nvPr/>
        </p:nvSpPr>
        <p:spPr>
          <a:xfrm>
            <a:off x="6195059" y="1461855"/>
            <a:ext cx="5152644" cy="1755648"/>
          </a:xfrm>
          <a:prstGeom prst="roundRect">
            <a:avLst>
              <a:gd name="adj" fmla="val 8000"/>
            </a:avLst>
          </a:prstGeom>
          <a:solidFill>
            <a:srgbClr val="ECE9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Oval 7">
            <a:extLst>
              <a:ext uri="{FF2B5EF4-FFF2-40B4-BE49-F238E27FC236}">
                <a16:creationId xmlns:a16="http://schemas.microsoft.com/office/drawing/2014/main" id="{A07B37F1-AE09-4DEC-A395-B3CD64E9C052}"/>
              </a:ext>
            </a:extLst>
          </p:cNvPr>
          <p:cNvSpPr>
            <a:spLocks noGrp="1"/>
          </p:cNvSpPr>
          <p:nvPr/>
        </p:nvSpPr>
        <p:spPr>
          <a:xfrm>
            <a:off x="6432803" y="1681310"/>
            <a:ext cx="384048" cy="384048"/>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1200" b="1">
                <a:solidFill>
                  <a:srgbClr val="FFFFFF"/>
                </a:solidFill>
                <a:latin typeface="Calibri"/>
                <a:ea typeface="Calibri"/>
                <a:cs typeface="Calibri"/>
              </a:rPr>
              <a:t>2</a:t>
            </a:r>
          </a:p>
        </p:txBody>
      </p:sp>
      <p:sp>
        <p:nvSpPr>
          <p:cNvPr id="9" name="TextBox 8">
            <a:extLst>
              <a:ext uri="{FF2B5EF4-FFF2-40B4-BE49-F238E27FC236}">
                <a16:creationId xmlns:a16="http://schemas.microsoft.com/office/drawing/2014/main" id="{BF8C1627-2CE7-4117-A926-B25179791994}"/>
              </a:ext>
            </a:extLst>
          </p:cNvPr>
          <p:cNvSpPr>
            <a:spLocks noGrp="1"/>
          </p:cNvSpPr>
          <p:nvPr/>
        </p:nvSpPr>
        <p:spPr>
          <a:xfrm>
            <a:off x="6963155" y="1717886"/>
            <a:ext cx="4146804" cy="329184"/>
          </a:xfrm>
          <a:prstGeom prst="rect">
            <a:avLst/>
          </a:prstGeom>
          <a:noFill/>
        </p:spPr>
        <p:txBody>
          <a:bodyPr wrap="square" lIns="0" tIns="0" rIns="0" bIns="0" anchor="t">
            <a:spAutoFit/>
          </a:bodyPr>
          <a:lstStyle/>
          <a:p>
            <a:pPr algn="l">
              <a:spcBef>
                <a:spcPts val="0"/>
              </a:spcBef>
              <a:spcAft>
                <a:spcPts val="0"/>
              </a:spcAft>
              <a:buNone/>
            </a:pPr>
            <a:r>
              <a:rPr sz="1300" b="1" i="0">
                <a:solidFill>
                  <a:srgbClr val="14142B"/>
                </a:solidFill>
                <a:latin typeface="Calibri"/>
                <a:ea typeface="Calibri"/>
                <a:cs typeface="Calibri"/>
              </a:rPr>
              <a:t>Measure the real model path</a:t>
            </a:r>
          </a:p>
        </p:txBody>
      </p:sp>
      <p:sp>
        <p:nvSpPr>
          <p:cNvPr id="10" name="TextBox 9">
            <a:extLst>
              <a:ext uri="{FF2B5EF4-FFF2-40B4-BE49-F238E27FC236}">
                <a16:creationId xmlns:a16="http://schemas.microsoft.com/office/drawing/2014/main" id="{D1371564-EC11-45CF-9DD1-1D3FF35D2D16}"/>
              </a:ext>
            </a:extLst>
          </p:cNvPr>
          <p:cNvSpPr>
            <a:spLocks noGrp="1"/>
          </p:cNvSpPr>
          <p:nvPr/>
        </p:nvSpPr>
        <p:spPr>
          <a:xfrm>
            <a:off x="6432803" y="2266527"/>
            <a:ext cx="4677156" cy="841248"/>
          </a:xfrm>
          <a:prstGeom prst="rect">
            <a:avLst/>
          </a:prstGeom>
          <a:noFill/>
        </p:spPr>
        <p:txBody>
          <a:bodyPr wrap="square" lIns="0" tIns="0" rIns="0" bIns="0" anchor="t">
            <a:spAutoFit/>
          </a:bodyPr>
          <a:lstStyle/>
          <a:p>
            <a:pPr algn="l">
              <a:spcBef>
                <a:spcPts val="0"/>
              </a:spcBef>
              <a:spcAft>
                <a:spcPts val="0"/>
              </a:spcAft>
              <a:buNone/>
            </a:pPr>
            <a:r>
              <a:rPr sz="1100" b="0" i="0">
                <a:solidFill>
                  <a:srgbClr val="63637E"/>
                </a:solidFill>
                <a:latin typeface="Calibri"/>
                <a:ea typeface="Calibri"/>
                <a:cs typeface="Calibri"/>
              </a:rPr>
              <a:t>Record prompt tokens, completion tokens and paid inference cost. Regenerate metrics.md against the current RealPipeline and label the model path explicitly.</a:t>
            </a:r>
          </a:p>
        </p:txBody>
      </p:sp>
      <p:sp>
        <p:nvSpPr>
          <p:cNvPr id="11" name="Rounded Rectangle 10">
            <a:extLst>
              <a:ext uri="{FF2B5EF4-FFF2-40B4-BE49-F238E27FC236}">
                <a16:creationId xmlns:a16="http://schemas.microsoft.com/office/drawing/2014/main" id="{B76E2524-3314-407A-9BAD-706C78EB82B2}"/>
              </a:ext>
            </a:extLst>
          </p:cNvPr>
          <p:cNvSpPr>
            <a:spLocks noGrp="1"/>
          </p:cNvSpPr>
          <p:nvPr/>
        </p:nvSpPr>
        <p:spPr>
          <a:xfrm>
            <a:off x="841248" y="3436959"/>
            <a:ext cx="5152644" cy="1755648"/>
          </a:xfrm>
          <a:prstGeom prst="roundRect">
            <a:avLst>
              <a:gd name="adj" fmla="val 8000"/>
            </a:avLst>
          </a:prstGeom>
          <a:solidFill>
            <a:srgbClr val="F6F4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Oval 11">
            <a:extLst>
              <a:ext uri="{FF2B5EF4-FFF2-40B4-BE49-F238E27FC236}">
                <a16:creationId xmlns:a16="http://schemas.microsoft.com/office/drawing/2014/main" id="{47B70F04-42A2-451C-B5E8-E023F414081C}"/>
              </a:ext>
            </a:extLst>
          </p:cNvPr>
          <p:cNvSpPr>
            <a:spLocks noGrp="1"/>
          </p:cNvSpPr>
          <p:nvPr/>
        </p:nvSpPr>
        <p:spPr>
          <a:xfrm>
            <a:off x="1078992" y="3656415"/>
            <a:ext cx="384048" cy="384048"/>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1200" b="1">
                <a:solidFill>
                  <a:srgbClr val="FFFFFF"/>
                </a:solidFill>
                <a:latin typeface="Calibri"/>
                <a:ea typeface="Calibri"/>
                <a:cs typeface="Calibri"/>
              </a:rPr>
              <a:t>3</a:t>
            </a:r>
          </a:p>
        </p:txBody>
      </p:sp>
      <p:sp>
        <p:nvSpPr>
          <p:cNvPr id="13" name="TextBox 12">
            <a:extLst>
              <a:ext uri="{FF2B5EF4-FFF2-40B4-BE49-F238E27FC236}">
                <a16:creationId xmlns:a16="http://schemas.microsoft.com/office/drawing/2014/main" id="{82A337BC-C453-48E4-AF18-BF071C444208}"/>
              </a:ext>
            </a:extLst>
          </p:cNvPr>
          <p:cNvSpPr>
            <a:spLocks noGrp="1"/>
          </p:cNvSpPr>
          <p:nvPr/>
        </p:nvSpPr>
        <p:spPr>
          <a:xfrm>
            <a:off x="1609344" y="3692991"/>
            <a:ext cx="4146804" cy="329184"/>
          </a:xfrm>
          <a:prstGeom prst="rect">
            <a:avLst/>
          </a:prstGeom>
          <a:noFill/>
        </p:spPr>
        <p:txBody>
          <a:bodyPr wrap="square" lIns="0" tIns="0" rIns="0" bIns="0" anchor="t">
            <a:spAutoFit/>
          </a:bodyPr>
          <a:lstStyle/>
          <a:p>
            <a:pPr algn="l">
              <a:spcBef>
                <a:spcPts val="0"/>
              </a:spcBef>
              <a:spcAft>
                <a:spcPts val="0"/>
              </a:spcAft>
              <a:buNone/>
            </a:pPr>
            <a:r>
              <a:rPr sz="1300" b="1" i="0">
                <a:solidFill>
                  <a:srgbClr val="14142B"/>
                </a:solidFill>
                <a:latin typeface="Calibri"/>
                <a:ea typeface="Calibri"/>
                <a:cs typeface="Calibri"/>
              </a:rPr>
              <a:t>Add human-scored references</a:t>
            </a:r>
          </a:p>
        </p:txBody>
      </p:sp>
      <p:sp>
        <p:nvSpPr>
          <p:cNvPr id="14" name="TextBox 13">
            <a:extLst>
              <a:ext uri="{FF2B5EF4-FFF2-40B4-BE49-F238E27FC236}">
                <a16:creationId xmlns:a16="http://schemas.microsoft.com/office/drawing/2014/main" id="{6DF23584-F477-44B9-B801-77E25ECC5E8F}"/>
              </a:ext>
            </a:extLst>
          </p:cNvPr>
          <p:cNvSpPr>
            <a:spLocks noGrp="1"/>
          </p:cNvSpPr>
          <p:nvPr/>
        </p:nvSpPr>
        <p:spPr>
          <a:xfrm>
            <a:off x="1078992" y="4241631"/>
            <a:ext cx="4677156" cy="841248"/>
          </a:xfrm>
          <a:prstGeom prst="rect">
            <a:avLst/>
          </a:prstGeom>
          <a:noFill/>
        </p:spPr>
        <p:txBody>
          <a:bodyPr wrap="square" lIns="0" tIns="0" rIns="0" bIns="0" anchor="t">
            <a:spAutoFit/>
          </a:bodyPr>
          <a:lstStyle/>
          <a:p>
            <a:pPr algn="l">
              <a:spcBef>
                <a:spcPts val="0"/>
              </a:spcBef>
              <a:spcAft>
                <a:spcPts val="0"/>
              </a:spcAft>
              <a:buNone/>
            </a:pPr>
            <a:r>
              <a:rPr sz="1100" b="0" i="0">
                <a:solidFill>
                  <a:srgbClr val="63637E"/>
                </a:solidFill>
                <a:latin typeface="Calibri"/>
                <a:ea typeface="Calibri"/>
                <a:cs typeface="Calibri"/>
              </a:rPr>
              <a:t>Create reference plans and reviewer rubrics for step correctness, ordering and deeplink relevance. Use them for regression tests and threshold tuning.</a:t>
            </a:r>
          </a:p>
        </p:txBody>
      </p:sp>
      <p:sp>
        <p:nvSpPr>
          <p:cNvPr id="15" name="Rounded Rectangle 14">
            <a:extLst>
              <a:ext uri="{FF2B5EF4-FFF2-40B4-BE49-F238E27FC236}">
                <a16:creationId xmlns:a16="http://schemas.microsoft.com/office/drawing/2014/main" id="{792CB056-4DF3-46A6-802E-1039DD21ACD1}"/>
              </a:ext>
            </a:extLst>
          </p:cNvPr>
          <p:cNvSpPr>
            <a:spLocks noGrp="1"/>
          </p:cNvSpPr>
          <p:nvPr/>
        </p:nvSpPr>
        <p:spPr>
          <a:xfrm>
            <a:off x="6195059" y="3436959"/>
            <a:ext cx="5152644" cy="1755648"/>
          </a:xfrm>
          <a:prstGeom prst="roundRect">
            <a:avLst>
              <a:gd name="adj" fmla="val 8000"/>
            </a:avLst>
          </a:prstGeom>
          <a:solidFill>
            <a:srgbClr val="ECE9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Oval 15">
            <a:extLst>
              <a:ext uri="{FF2B5EF4-FFF2-40B4-BE49-F238E27FC236}">
                <a16:creationId xmlns:a16="http://schemas.microsoft.com/office/drawing/2014/main" id="{1FB87673-FE03-4832-BCF0-A65FDBD1FB94}"/>
              </a:ext>
            </a:extLst>
          </p:cNvPr>
          <p:cNvSpPr>
            <a:spLocks noGrp="1"/>
          </p:cNvSpPr>
          <p:nvPr/>
        </p:nvSpPr>
        <p:spPr>
          <a:xfrm>
            <a:off x="6432803" y="3656415"/>
            <a:ext cx="384048" cy="384048"/>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1200" b="1">
                <a:solidFill>
                  <a:srgbClr val="FFFFFF"/>
                </a:solidFill>
                <a:latin typeface="Calibri"/>
                <a:ea typeface="Calibri"/>
                <a:cs typeface="Calibri"/>
              </a:rPr>
              <a:t>4</a:t>
            </a:r>
          </a:p>
        </p:txBody>
      </p:sp>
      <p:sp>
        <p:nvSpPr>
          <p:cNvPr id="17" name="TextBox 16">
            <a:extLst>
              <a:ext uri="{FF2B5EF4-FFF2-40B4-BE49-F238E27FC236}">
                <a16:creationId xmlns:a16="http://schemas.microsoft.com/office/drawing/2014/main" id="{C2C4A9F9-7DEB-46DE-B0EE-09F550B191B2}"/>
              </a:ext>
            </a:extLst>
          </p:cNvPr>
          <p:cNvSpPr>
            <a:spLocks noGrp="1"/>
          </p:cNvSpPr>
          <p:nvPr/>
        </p:nvSpPr>
        <p:spPr>
          <a:xfrm>
            <a:off x="6963155" y="3692991"/>
            <a:ext cx="4146804" cy="329184"/>
          </a:xfrm>
          <a:prstGeom prst="rect">
            <a:avLst/>
          </a:prstGeom>
          <a:noFill/>
        </p:spPr>
        <p:txBody>
          <a:bodyPr wrap="square" lIns="0" tIns="0" rIns="0" bIns="0" anchor="t">
            <a:spAutoFit/>
          </a:bodyPr>
          <a:lstStyle/>
          <a:p>
            <a:pPr algn="l">
              <a:spcBef>
                <a:spcPts val="0"/>
              </a:spcBef>
              <a:spcAft>
                <a:spcPts val="0"/>
              </a:spcAft>
              <a:buNone/>
            </a:pPr>
            <a:r>
              <a:rPr sz="1300" b="1" i="0">
                <a:solidFill>
                  <a:srgbClr val="14142B"/>
                </a:solidFill>
                <a:latin typeface="Calibri"/>
                <a:ea typeface="Calibri"/>
                <a:cs typeface="Calibri"/>
              </a:rPr>
              <a:t>Harden for production</a:t>
            </a:r>
          </a:p>
        </p:txBody>
      </p:sp>
      <p:sp>
        <p:nvSpPr>
          <p:cNvPr id="18" name="TextBox 17">
            <a:extLst>
              <a:ext uri="{FF2B5EF4-FFF2-40B4-BE49-F238E27FC236}">
                <a16:creationId xmlns:a16="http://schemas.microsoft.com/office/drawing/2014/main" id="{3B164D8E-8893-4A3E-94EE-A914D4297BF0}"/>
              </a:ext>
            </a:extLst>
          </p:cNvPr>
          <p:cNvSpPr>
            <a:spLocks noGrp="1"/>
          </p:cNvSpPr>
          <p:nvPr/>
        </p:nvSpPr>
        <p:spPr>
          <a:xfrm>
            <a:off x="6432803" y="4241631"/>
            <a:ext cx="4677156" cy="841248"/>
          </a:xfrm>
          <a:prstGeom prst="rect">
            <a:avLst/>
          </a:prstGeom>
          <a:noFill/>
        </p:spPr>
        <p:txBody>
          <a:bodyPr wrap="square" lIns="0" tIns="0" rIns="0" bIns="0" anchor="t">
            <a:spAutoFit/>
          </a:bodyPr>
          <a:lstStyle/>
          <a:p>
            <a:pPr algn="l">
              <a:spcBef>
                <a:spcPts val="0"/>
              </a:spcBef>
              <a:spcAft>
                <a:spcPts val="0"/>
              </a:spcAft>
              <a:buNone/>
            </a:pPr>
            <a:r>
              <a:rPr sz="1100" b="0" i="0">
                <a:solidFill>
                  <a:srgbClr val="63637E"/>
                </a:solidFill>
                <a:latin typeface="Calibri"/>
                <a:ea typeface="Calibri"/>
                <a:cs typeface="Calibri"/>
              </a:rPr>
              <a:t>Split multi-intent complaints, tune the ambiguity margin on real traffic, add load tests and deploy with managed secrets, monitoring and backup procedures.</a:t>
            </a:r>
          </a:p>
        </p:txBody>
      </p:sp>
      <p:sp>
        <p:nvSpPr>
          <p:cNvPr id="19" name="Rounded Rectangle 18"/>
          <p:cNvSpPr/>
          <p:nvPr/>
        </p:nvSpPr>
        <p:spPr>
          <a:xfrm>
            <a:off x="841248" y="5229183"/>
            <a:ext cx="10506456" cy="1280160"/>
          </a:xfrm>
          <a:prstGeom prst="roundRect">
            <a:avLst>
              <a:gd name="adj" fmla="val 10000"/>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15568" y="5412063"/>
            <a:ext cx="9957816" cy="201168"/>
          </a:xfrm>
          <a:prstGeom prst="rect">
            <a:avLst/>
          </a:prstGeom>
          <a:noFill/>
        </p:spPr>
        <p:txBody>
          <a:bodyPr wrap="square" lIns="0" tIns="0" rIns="0" bIns="0" anchor="t">
            <a:spAutoFit/>
          </a:bodyPr>
          <a:lstStyle/>
          <a:p>
            <a:pPr algn="l">
              <a:spcBef>
                <a:spcPts val="0"/>
              </a:spcBef>
              <a:spcAft>
                <a:spcPts val="0"/>
              </a:spcAft>
            </a:pPr>
            <a:r>
              <a:rPr sz="900" b="1" i="0">
                <a:solidFill>
                  <a:srgbClr val="A14B0A"/>
                </a:solidFill>
                <a:latin typeface="Calibri"/>
              </a:rPr>
              <a:t>OPEN DEFECT, IDENTIFIED AND SCOPED</a:t>
            </a:r>
          </a:p>
        </p:txBody>
      </p:sp>
      <p:sp>
        <p:nvSpPr>
          <p:cNvPr id="21" name="TextBox 20"/>
          <p:cNvSpPr txBox="1"/>
          <p:nvPr/>
        </p:nvSpPr>
        <p:spPr>
          <a:xfrm>
            <a:off x="1115568" y="5704670"/>
            <a:ext cx="4841748" cy="237744"/>
          </a:xfrm>
          <a:prstGeom prst="rect">
            <a:avLst/>
          </a:prstGeom>
          <a:noFill/>
        </p:spPr>
        <p:txBody>
          <a:bodyPr wrap="square" lIns="0" tIns="0" rIns="0" bIns="0" anchor="t">
            <a:spAutoFit/>
          </a:bodyPr>
          <a:lstStyle/>
          <a:p>
            <a:pPr algn="l">
              <a:spcBef>
                <a:spcPts val="0"/>
              </a:spcBef>
              <a:spcAft>
                <a:spcPts val="0"/>
              </a:spcAft>
            </a:pPr>
            <a:r>
              <a:rPr sz="1300" b="1" i="0">
                <a:solidFill>
                  <a:srgbClr val="A14B0A"/>
                </a:solidFill>
                <a:latin typeface="Calibri"/>
              </a:rPr>
              <a:t>Symptom: ties at 1.0000, margin 0.0000</a:t>
            </a:r>
          </a:p>
        </p:txBody>
      </p:sp>
      <p:sp>
        <p:nvSpPr>
          <p:cNvPr id="22" name="TextBox 21"/>
          <p:cNvSpPr txBox="1"/>
          <p:nvPr/>
        </p:nvSpPr>
        <p:spPr>
          <a:xfrm>
            <a:off x="1115568" y="5951558"/>
            <a:ext cx="4841748" cy="448056"/>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Repeated wording can end up indexed under more than one plan. A later exact repeat then matches both equally, and the ambiguity gate correctly refuses to choose between them, so that complaint stops hitting the cache.</a:t>
            </a:r>
          </a:p>
        </p:txBody>
      </p:sp>
      <p:sp>
        <p:nvSpPr>
          <p:cNvPr id="23" name="TextBox 22"/>
          <p:cNvSpPr txBox="1"/>
          <p:nvPr/>
        </p:nvSpPr>
        <p:spPr>
          <a:xfrm>
            <a:off x="6231636" y="5704670"/>
            <a:ext cx="4841748" cy="237744"/>
          </a:xfrm>
          <a:prstGeom prst="rect">
            <a:avLst/>
          </a:prstGeom>
          <a:noFill/>
        </p:spPr>
        <p:txBody>
          <a:bodyPr wrap="square" lIns="0" tIns="0" rIns="0" bIns="0" anchor="t">
            <a:spAutoFit/>
          </a:bodyPr>
          <a:lstStyle/>
          <a:p>
            <a:pPr algn="l">
              <a:spcBef>
                <a:spcPts val="0"/>
              </a:spcBef>
              <a:spcAft>
                <a:spcPts val="0"/>
              </a:spcAft>
            </a:pPr>
            <a:r>
              <a:rPr sz="1300" b="1" i="0">
                <a:solidFill>
                  <a:srgbClr val="A14B0A"/>
                </a:solidFill>
                <a:latin typeface="Calibri"/>
              </a:rPr>
              <a:t>Fix: one phrasing per plan, per cache version</a:t>
            </a:r>
          </a:p>
        </p:txBody>
      </p:sp>
      <p:sp>
        <p:nvSpPr>
          <p:cNvPr id="24" name="TextBox 23"/>
          <p:cNvSpPr txBox="1"/>
          <p:nvPr/>
        </p:nvSpPr>
        <p:spPr>
          <a:xfrm>
            <a:off x="6231636" y="5951558"/>
            <a:ext cx="4841748" cy="448056"/>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Enforced when the plan is written, which keeps the gate deciding between genuinely different plans. Found by driving the live client rather than by a test.</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buNone/>
            </a:pPr>
            <a:r>
              <a:rPr sz="2900" b="1">
                <a:solidFill>
                  <a:srgbClr val="704EA6"/>
                </a:solidFill>
                <a:latin typeface="Calibri"/>
                <a:ea typeface="Calibri"/>
                <a:cs typeface="Calibri"/>
              </a:rPr>
              <a:t>Concrete Differentiators</a:t>
            </a:r>
            <a:endParaRPr sz="4400" b="1">
              <a:solidFill>
                <a:srgbClr val="704EA6"/>
              </a:solidFill>
            </a:endParaRPr>
          </a:p>
        </p:txBody>
      </p:sp>
      <p:sp>
        <p:nvSpPr>
          <p:cNvPr id="3" name="Rounded Rectangle 2">
            <a:extLst>
              <a:ext uri="{FF2B5EF4-FFF2-40B4-BE49-F238E27FC236}">
                <a16:creationId xmlns:a16="http://schemas.microsoft.com/office/drawing/2014/main" id="{85EF3C21-AF11-4A16-A12D-ACB0FD2DC155}"/>
              </a:ext>
            </a:extLst>
          </p:cNvPr>
          <p:cNvSpPr>
            <a:spLocks noGrp="1"/>
          </p:cNvSpPr>
          <p:nvPr/>
        </p:nvSpPr>
        <p:spPr>
          <a:xfrm>
            <a:off x="841248" y="1497038"/>
            <a:ext cx="5152644" cy="1609344"/>
          </a:xfrm>
          <a:prstGeom prst="roundRect">
            <a:avLst>
              <a:gd name="adj" fmla="val 8000"/>
            </a:avLst>
          </a:prstGeom>
          <a:solidFill>
            <a:srgbClr val="E8F6F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7A6C0B7-4952-41DB-BC9A-CCEFD8125BF9}"/>
              </a:ext>
            </a:extLst>
          </p:cNvPr>
          <p:cNvSpPr>
            <a:spLocks noGrp="1"/>
          </p:cNvSpPr>
          <p:nvPr/>
        </p:nvSpPr>
        <p:spPr>
          <a:xfrm>
            <a:off x="1097280" y="1698206"/>
            <a:ext cx="4640579" cy="329184"/>
          </a:xfrm>
          <a:prstGeom prst="rect">
            <a:avLst/>
          </a:prstGeom>
          <a:noFill/>
        </p:spPr>
        <p:txBody>
          <a:bodyPr wrap="square" lIns="0" tIns="0" rIns="0" bIns="0" anchor="t">
            <a:spAutoFit/>
          </a:bodyPr>
          <a:lstStyle/>
          <a:p>
            <a:pPr algn="l">
              <a:spcBef>
                <a:spcPts val="0"/>
              </a:spcBef>
              <a:spcAft>
                <a:spcPts val="0"/>
              </a:spcAft>
              <a:buNone/>
            </a:pPr>
            <a:r>
              <a:rPr sz="1300" b="1" i="0">
                <a:solidFill>
                  <a:srgbClr val="0E7C5E"/>
                </a:solidFill>
                <a:latin typeface="Calibri"/>
                <a:ea typeface="Calibri"/>
                <a:cs typeface="Calibri"/>
              </a:rPr>
              <a:t>Grounding before generation</a:t>
            </a:r>
          </a:p>
        </p:txBody>
      </p:sp>
      <p:sp>
        <p:nvSpPr>
          <p:cNvPr id="5" name="TextBox 4">
            <a:extLst>
              <a:ext uri="{FF2B5EF4-FFF2-40B4-BE49-F238E27FC236}">
                <a16:creationId xmlns:a16="http://schemas.microsoft.com/office/drawing/2014/main" id="{CE31032F-8D10-456D-BD64-4EC67499C44A}"/>
              </a:ext>
            </a:extLst>
          </p:cNvPr>
          <p:cNvSpPr>
            <a:spLocks noGrp="1"/>
          </p:cNvSpPr>
          <p:nvPr/>
        </p:nvSpPr>
        <p:spPr>
          <a:xfrm>
            <a:off x="1097280" y="2082254"/>
            <a:ext cx="4640579" cy="932688"/>
          </a:xfrm>
          <a:prstGeom prst="rect">
            <a:avLst/>
          </a:prstGeom>
          <a:noFill/>
        </p:spPr>
        <p:txBody>
          <a:bodyPr wrap="square" lIns="0" tIns="0" rIns="0" bIns="0" anchor="t">
            <a:spAutoFit/>
          </a:bodyPr>
          <a:lstStyle/>
          <a:p>
            <a:pPr algn="l">
              <a:spcBef>
                <a:spcPts val="0"/>
              </a:spcBef>
              <a:spcAft>
                <a:spcPts val="0"/>
              </a:spcAft>
              <a:buNone/>
            </a:pPr>
            <a:r>
              <a:rPr sz="1100" b="0" i="0">
                <a:solidFill>
                  <a:srgbClr val="63637E"/>
                </a:solidFill>
                <a:latin typeface="Calibri"/>
                <a:ea typeface="Calibri"/>
                <a:cs typeface="Calibri"/>
              </a:rPr>
              <a:t>Gemini extracts actions only from supplied SIIS text. Each internal source passage must pass an exact or conservative token-coverage check before the plan continues.</a:t>
            </a:r>
          </a:p>
        </p:txBody>
      </p:sp>
      <p:sp>
        <p:nvSpPr>
          <p:cNvPr id="6" name="Rounded Rectangle 5">
            <a:extLst>
              <a:ext uri="{FF2B5EF4-FFF2-40B4-BE49-F238E27FC236}">
                <a16:creationId xmlns:a16="http://schemas.microsoft.com/office/drawing/2014/main" id="{81822C1A-6A8D-490F-B1B1-C059796A17B4}"/>
              </a:ext>
            </a:extLst>
          </p:cNvPr>
          <p:cNvSpPr>
            <a:spLocks noGrp="1"/>
          </p:cNvSpPr>
          <p:nvPr/>
        </p:nvSpPr>
        <p:spPr>
          <a:xfrm>
            <a:off x="6195059" y="1497038"/>
            <a:ext cx="5152644" cy="1609344"/>
          </a:xfrm>
          <a:prstGeom prst="roundRect">
            <a:avLst>
              <a:gd name="adj" fmla="val 8000"/>
            </a:avLst>
          </a:prstGeom>
          <a:solidFill>
            <a:srgbClr val="F6F4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DB0DDDA-EE39-4D21-8CB1-23AD41F17207}"/>
              </a:ext>
            </a:extLst>
          </p:cNvPr>
          <p:cNvSpPr>
            <a:spLocks noGrp="1"/>
          </p:cNvSpPr>
          <p:nvPr/>
        </p:nvSpPr>
        <p:spPr>
          <a:xfrm>
            <a:off x="6451092" y="1698206"/>
            <a:ext cx="4640579" cy="329184"/>
          </a:xfrm>
          <a:prstGeom prst="rect">
            <a:avLst/>
          </a:prstGeom>
          <a:noFill/>
        </p:spPr>
        <p:txBody>
          <a:bodyPr wrap="square" lIns="0" tIns="0" rIns="0" bIns="0" anchor="t">
            <a:spAutoFit/>
          </a:bodyPr>
          <a:lstStyle/>
          <a:p>
            <a:pPr algn="l">
              <a:spcBef>
                <a:spcPts val="0"/>
              </a:spcBef>
              <a:spcAft>
                <a:spcPts val="0"/>
              </a:spcAft>
              <a:buNone/>
            </a:pPr>
            <a:r>
              <a:rPr sz="1300" b="1" i="0">
                <a:solidFill>
                  <a:srgbClr val="6D28D9"/>
                </a:solidFill>
                <a:latin typeface="Calibri"/>
                <a:ea typeface="Calibri"/>
                <a:cs typeface="Calibri"/>
              </a:rPr>
              <a:t>Retrieval proposes, code verifies</a:t>
            </a:r>
          </a:p>
        </p:txBody>
      </p:sp>
      <p:sp>
        <p:nvSpPr>
          <p:cNvPr id="8" name="TextBox 7">
            <a:extLst>
              <a:ext uri="{FF2B5EF4-FFF2-40B4-BE49-F238E27FC236}">
                <a16:creationId xmlns:a16="http://schemas.microsoft.com/office/drawing/2014/main" id="{BE6E6124-91B4-48C5-BE70-B453BA07BE90}"/>
              </a:ext>
            </a:extLst>
          </p:cNvPr>
          <p:cNvSpPr>
            <a:spLocks noGrp="1"/>
          </p:cNvSpPr>
          <p:nvPr/>
        </p:nvSpPr>
        <p:spPr>
          <a:xfrm>
            <a:off x="6451092" y="2082254"/>
            <a:ext cx="4640579" cy="932688"/>
          </a:xfrm>
          <a:prstGeom prst="rect">
            <a:avLst/>
          </a:prstGeom>
          <a:noFill/>
        </p:spPr>
        <p:txBody>
          <a:bodyPr wrap="square" lIns="0" tIns="0" rIns="0" bIns="0" anchor="t">
            <a:spAutoFit/>
          </a:bodyPr>
          <a:lstStyle/>
          <a:p>
            <a:pPr algn="l">
              <a:spcBef>
                <a:spcPts val="0"/>
              </a:spcBef>
              <a:spcAft>
                <a:spcPts val="0"/>
              </a:spcAft>
              <a:buNone/>
            </a:pPr>
            <a:r>
              <a:rPr sz="1100" b="0" i="0">
                <a:solidFill>
                  <a:srgbClr val="63637E"/>
                </a:solidFill>
                <a:latin typeface="Calibri"/>
                <a:ea typeface="Calibri"/>
                <a:cs typeface="Calibri"/>
              </a:rPr>
              <a:t>Dense plus BM25 retrieval produces candidate screens. A deterministic feature-token compatibility check decides whether any catalog URI is safe to attach.</a:t>
            </a:r>
          </a:p>
        </p:txBody>
      </p:sp>
      <p:sp>
        <p:nvSpPr>
          <p:cNvPr id="9" name="Rounded Rectangle 8">
            <a:extLst>
              <a:ext uri="{FF2B5EF4-FFF2-40B4-BE49-F238E27FC236}">
                <a16:creationId xmlns:a16="http://schemas.microsoft.com/office/drawing/2014/main" id="{7642341F-FDD9-4E85-AA1E-0BB2B9936609}"/>
              </a:ext>
            </a:extLst>
          </p:cNvPr>
          <p:cNvSpPr>
            <a:spLocks noGrp="1"/>
          </p:cNvSpPr>
          <p:nvPr/>
        </p:nvSpPr>
        <p:spPr>
          <a:xfrm>
            <a:off x="841248" y="3325838"/>
            <a:ext cx="5152644" cy="1609344"/>
          </a:xfrm>
          <a:prstGeom prst="roundRect">
            <a:avLst>
              <a:gd name="adj" fmla="val 8000"/>
            </a:avLst>
          </a:prstGeom>
          <a:solidFill>
            <a:srgbClr val="ECE9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9A549532-D40C-4B0B-A119-42A2720902D5}"/>
              </a:ext>
            </a:extLst>
          </p:cNvPr>
          <p:cNvSpPr>
            <a:spLocks noGrp="1"/>
          </p:cNvSpPr>
          <p:nvPr/>
        </p:nvSpPr>
        <p:spPr>
          <a:xfrm>
            <a:off x="1097280" y="3527006"/>
            <a:ext cx="4640579" cy="329184"/>
          </a:xfrm>
          <a:prstGeom prst="rect">
            <a:avLst/>
          </a:prstGeom>
          <a:noFill/>
        </p:spPr>
        <p:txBody>
          <a:bodyPr wrap="square" lIns="0" tIns="0" rIns="0" bIns="0" anchor="t">
            <a:spAutoFit/>
          </a:bodyPr>
          <a:lstStyle/>
          <a:p>
            <a:pPr algn="l">
              <a:spcBef>
                <a:spcPts val="0"/>
              </a:spcBef>
              <a:spcAft>
                <a:spcPts val="0"/>
              </a:spcAft>
              <a:buNone/>
            </a:pPr>
            <a:r>
              <a:rPr sz="1300" b="1" i="0">
                <a:solidFill>
                  <a:srgbClr val="6D28D9"/>
                </a:solidFill>
                <a:latin typeface="Calibri"/>
                <a:ea typeface="Calibri"/>
                <a:cs typeface="Calibri"/>
              </a:rPr>
              <a:t>Cache ambiguity is explicit</a:t>
            </a:r>
          </a:p>
        </p:txBody>
      </p:sp>
      <p:sp>
        <p:nvSpPr>
          <p:cNvPr id="11" name="TextBox 10">
            <a:extLst>
              <a:ext uri="{FF2B5EF4-FFF2-40B4-BE49-F238E27FC236}">
                <a16:creationId xmlns:a16="http://schemas.microsoft.com/office/drawing/2014/main" id="{81ED69F0-B070-46C2-BC18-A621360F4BD2}"/>
              </a:ext>
            </a:extLst>
          </p:cNvPr>
          <p:cNvSpPr>
            <a:spLocks noGrp="1"/>
          </p:cNvSpPr>
          <p:nvPr/>
        </p:nvSpPr>
        <p:spPr>
          <a:xfrm>
            <a:off x="1097280" y="3911054"/>
            <a:ext cx="4640579" cy="932688"/>
          </a:xfrm>
          <a:prstGeom prst="rect">
            <a:avLst/>
          </a:prstGeom>
          <a:noFill/>
        </p:spPr>
        <p:txBody>
          <a:bodyPr wrap="square" lIns="0" tIns="0" rIns="0" bIns="0" anchor="t">
            <a:spAutoFit/>
          </a:bodyPr>
          <a:lstStyle/>
          <a:p>
            <a:pPr algn="l">
              <a:spcBef>
                <a:spcPts val="0"/>
              </a:spcBef>
              <a:spcAft>
                <a:spcPts val="0"/>
              </a:spcAft>
              <a:buNone/>
            </a:pPr>
            <a:r>
              <a:rPr sz="1100" b="0" i="0">
                <a:solidFill>
                  <a:srgbClr val="63637E"/>
                </a:solidFill>
                <a:latin typeface="Calibri"/>
                <a:ea typeface="Calibri"/>
                <a:cs typeface="Calibri"/>
              </a:rPr>
              <a:t>A cache hit needs both 0.78 similarity and a 0.05 lead over the runner-up plan. Near-ties fall back to the grounded pipeline instead of choosing arbitrarily.</a:t>
            </a:r>
          </a:p>
        </p:txBody>
      </p:sp>
      <p:sp>
        <p:nvSpPr>
          <p:cNvPr id="12" name="Rounded Rectangle 11">
            <a:extLst>
              <a:ext uri="{FF2B5EF4-FFF2-40B4-BE49-F238E27FC236}">
                <a16:creationId xmlns:a16="http://schemas.microsoft.com/office/drawing/2014/main" id="{077FFA1B-441E-43A8-BCD5-890775BEF36E}"/>
              </a:ext>
            </a:extLst>
          </p:cNvPr>
          <p:cNvSpPr>
            <a:spLocks noGrp="1"/>
          </p:cNvSpPr>
          <p:nvPr/>
        </p:nvSpPr>
        <p:spPr>
          <a:xfrm>
            <a:off x="6195059" y="3325838"/>
            <a:ext cx="5152644" cy="1609344"/>
          </a:xfrm>
          <a:prstGeom prst="roundRect">
            <a:avLst>
              <a:gd name="adj" fmla="val 8000"/>
            </a:avLst>
          </a:prstGeom>
          <a:solidFill>
            <a:srgbClr val="F6F4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2321E02-11D3-4889-8403-120FDAC08927}"/>
              </a:ext>
            </a:extLst>
          </p:cNvPr>
          <p:cNvSpPr>
            <a:spLocks noGrp="1"/>
          </p:cNvSpPr>
          <p:nvPr/>
        </p:nvSpPr>
        <p:spPr>
          <a:xfrm>
            <a:off x="6451092" y="3527006"/>
            <a:ext cx="4640579" cy="329184"/>
          </a:xfrm>
          <a:prstGeom prst="rect">
            <a:avLst/>
          </a:prstGeom>
          <a:noFill/>
        </p:spPr>
        <p:txBody>
          <a:bodyPr wrap="square" lIns="0" tIns="0" rIns="0" bIns="0" anchor="t">
            <a:spAutoFit/>
          </a:bodyPr>
          <a:lstStyle/>
          <a:p>
            <a:pPr algn="l">
              <a:spcBef>
                <a:spcPts val="0"/>
              </a:spcBef>
              <a:spcAft>
                <a:spcPts val="0"/>
              </a:spcAft>
              <a:buNone/>
            </a:pPr>
            <a:r>
              <a:rPr sz="1300" b="1" i="0">
                <a:solidFill>
                  <a:srgbClr val="6D28D9"/>
                </a:solidFill>
                <a:latin typeface="Calibri"/>
                <a:ea typeface="Calibri"/>
                <a:cs typeface="Calibri"/>
              </a:rPr>
              <a:t>Validated plans stay verifiable</a:t>
            </a:r>
          </a:p>
        </p:txBody>
      </p:sp>
      <p:sp>
        <p:nvSpPr>
          <p:cNvPr id="14" name="TextBox 13">
            <a:extLst>
              <a:ext uri="{FF2B5EF4-FFF2-40B4-BE49-F238E27FC236}">
                <a16:creationId xmlns:a16="http://schemas.microsoft.com/office/drawing/2014/main" id="{EA30E758-232D-499C-BE55-7EB2EFE750AC}"/>
              </a:ext>
            </a:extLst>
          </p:cNvPr>
          <p:cNvSpPr>
            <a:spLocks noGrp="1"/>
          </p:cNvSpPr>
          <p:nvPr/>
        </p:nvSpPr>
        <p:spPr>
          <a:xfrm>
            <a:off x="6451092" y="3911054"/>
            <a:ext cx="4640579" cy="932688"/>
          </a:xfrm>
          <a:prstGeom prst="rect">
            <a:avLst/>
          </a:prstGeom>
          <a:noFill/>
        </p:spPr>
        <p:txBody>
          <a:bodyPr wrap="square" lIns="0" tIns="0" rIns="0" bIns="0" anchor="t">
            <a:spAutoFit/>
          </a:bodyPr>
          <a:lstStyle/>
          <a:p>
            <a:pPr algn="l">
              <a:spcBef>
                <a:spcPts val="0"/>
              </a:spcBef>
              <a:spcAft>
                <a:spcPts val="0"/>
              </a:spcAft>
              <a:buNone/>
            </a:pPr>
            <a:r>
              <a:rPr sz="1100" b="0" i="0">
                <a:solidFill>
                  <a:srgbClr val="63637E"/>
                </a:solidFill>
                <a:latin typeface="Calibri"/>
                <a:ea typeface="Calibri"/>
                <a:cs typeface="Calibri"/>
              </a:rPr>
              <a:t>Canonical text, original wording and generated variations are indexed separately. Every cache read rechecks the plan and every URI against the current catalog.</a:t>
            </a:r>
          </a:p>
        </p:txBody>
      </p:sp>
      <p:sp>
        <p:nvSpPr>
          <p:cNvPr id="15" name="Rounded Rectangle 14"/>
          <p:cNvSpPr/>
          <p:nvPr/>
        </p:nvSpPr>
        <p:spPr>
          <a:xfrm>
            <a:off x="841248" y="5099774"/>
            <a:ext cx="10506456" cy="1280160"/>
          </a:xfrm>
          <a:prstGeom prst="roundRect">
            <a:avLst>
              <a:gd name="adj" fmla="val 10000"/>
            </a:avLst>
          </a:prstGeom>
          <a:solidFill>
            <a:srgbClr val="F6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15568" y="5282654"/>
            <a:ext cx="9957816" cy="201168"/>
          </a:xfrm>
          <a:prstGeom prst="rect">
            <a:avLst/>
          </a:prstGeom>
          <a:noFill/>
        </p:spPr>
        <p:txBody>
          <a:bodyPr wrap="square" lIns="0" tIns="0" rIns="0" bIns="0" anchor="t">
            <a:spAutoFit/>
          </a:bodyPr>
          <a:lstStyle/>
          <a:p>
            <a:pPr algn="l">
              <a:spcBef>
                <a:spcPts val="0"/>
              </a:spcBef>
              <a:spcAft>
                <a:spcPts val="0"/>
              </a:spcAft>
            </a:pPr>
            <a:r>
              <a:rPr sz="900" b="1" i="0">
                <a:solidFill>
                  <a:srgbClr val="704EA6"/>
                </a:solidFill>
                <a:latin typeface="Calibri"/>
              </a:rPr>
              <a:t>THE CONSTANTS THESE GUARANTEES ARE BUILT ON</a:t>
            </a:r>
          </a:p>
        </p:txBody>
      </p:sp>
      <p:sp>
        <p:nvSpPr>
          <p:cNvPr id="17" name="TextBox 16"/>
          <p:cNvSpPr txBox="1"/>
          <p:nvPr/>
        </p:nvSpPr>
        <p:spPr>
          <a:xfrm>
            <a:off x="1115568" y="5575261"/>
            <a:ext cx="2283714"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0.78</a:t>
            </a:r>
          </a:p>
        </p:txBody>
      </p:sp>
      <p:sp>
        <p:nvSpPr>
          <p:cNvPr id="18" name="TextBox 17"/>
          <p:cNvSpPr txBox="1"/>
          <p:nvPr/>
        </p:nvSpPr>
        <p:spPr>
          <a:xfrm>
            <a:off x="1115568" y="5822149"/>
            <a:ext cx="2283714" cy="448056"/>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Cosine similarity floor before a cached plan may be reused</a:t>
            </a:r>
          </a:p>
        </p:txBody>
      </p:sp>
      <p:sp>
        <p:nvSpPr>
          <p:cNvPr id="19" name="TextBox 18"/>
          <p:cNvSpPr txBox="1"/>
          <p:nvPr/>
        </p:nvSpPr>
        <p:spPr>
          <a:xfrm>
            <a:off x="3673602" y="5575261"/>
            <a:ext cx="2283714"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0.05</a:t>
            </a:r>
          </a:p>
        </p:txBody>
      </p:sp>
      <p:sp>
        <p:nvSpPr>
          <p:cNvPr id="20" name="TextBox 19"/>
          <p:cNvSpPr txBox="1"/>
          <p:nvPr/>
        </p:nvSpPr>
        <p:spPr>
          <a:xfrm>
            <a:off x="3673602" y="5822149"/>
            <a:ext cx="2283714" cy="448056"/>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Lead the best plan must hold over the runner-up</a:t>
            </a:r>
          </a:p>
        </p:txBody>
      </p:sp>
      <p:sp>
        <p:nvSpPr>
          <p:cNvPr id="21" name="TextBox 20"/>
          <p:cNvSpPr txBox="1"/>
          <p:nvPr/>
        </p:nvSpPr>
        <p:spPr>
          <a:xfrm>
            <a:off x="6231636" y="5575261"/>
            <a:ext cx="2283714"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384</a:t>
            </a:r>
          </a:p>
        </p:txBody>
      </p:sp>
      <p:sp>
        <p:nvSpPr>
          <p:cNvPr id="22" name="TextBox 21"/>
          <p:cNvSpPr txBox="1"/>
          <p:nvPr/>
        </p:nvSpPr>
        <p:spPr>
          <a:xfrm>
            <a:off x="6231636" y="5822149"/>
            <a:ext cx="2283714" cy="448056"/>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Embedding dimensions, ONNX Runtime, no GPU required</a:t>
            </a:r>
          </a:p>
        </p:txBody>
      </p:sp>
      <p:sp>
        <p:nvSpPr>
          <p:cNvPr id="23" name="TextBox 22"/>
          <p:cNvSpPr txBox="1"/>
          <p:nvPr/>
        </p:nvSpPr>
        <p:spPr>
          <a:xfrm>
            <a:off x="8789670" y="5575261"/>
            <a:ext cx="2283714" cy="237744"/>
          </a:xfrm>
          <a:prstGeom prst="rect">
            <a:avLst/>
          </a:prstGeom>
          <a:noFill/>
        </p:spPr>
        <p:txBody>
          <a:bodyPr wrap="square" lIns="0" tIns="0" rIns="0" bIns="0" anchor="t">
            <a:spAutoFit/>
          </a:bodyPr>
          <a:lstStyle/>
          <a:p>
            <a:pPr algn="l">
              <a:spcBef>
                <a:spcPts val="0"/>
              </a:spcBef>
              <a:spcAft>
                <a:spcPts val="0"/>
              </a:spcAft>
            </a:pPr>
            <a:r>
              <a:rPr sz="1300" b="1" i="0">
                <a:solidFill>
                  <a:srgbClr val="14142B"/>
                </a:solidFill>
                <a:latin typeface="Calibri"/>
              </a:rPr>
              <a:t>2–3 words</a:t>
            </a:r>
          </a:p>
        </p:txBody>
      </p:sp>
      <p:sp>
        <p:nvSpPr>
          <p:cNvPr id="24" name="TextBox 23"/>
          <p:cNvSpPr txBox="1"/>
          <p:nvPr/>
        </p:nvSpPr>
        <p:spPr>
          <a:xfrm>
            <a:off x="8789670" y="5822149"/>
            <a:ext cx="2283714" cy="448056"/>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Title length enforced on every plan before it is served</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sz="2900" b="1">
                <a:solidFill>
                  <a:srgbClr val="704EA6"/>
                </a:solidFill>
                <a:latin typeface="Calibri"/>
                <a:ea typeface="Calibri"/>
                <a:cs typeface="Calibri"/>
              </a:rPr>
              <a:t>Checklist — Updated on Public GitHub</a:t>
            </a:r>
          </a:p>
        </p:txBody>
      </p:sp>
      <p:sp>
        <p:nvSpPr>
          <p:cNvPr id="3" name="check-row-1">
            <a:extLst>
              <a:ext uri="{FF2B5EF4-FFF2-40B4-BE49-F238E27FC236}">
                <a16:creationId xmlns:a16="http://schemas.microsoft.com/office/drawing/2014/main" id="{239F4DD3-86E8-423B-A0B5-F9754E2CDB1E}"/>
              </a:ext>
            </a:extLst>
          </p:cNvPr>
          <p:cNvSpPr>
            <a:spLocks noGrp="1"/>
          </p:cNvSpPr>
          <p:nvPr/>
        </p:nvSpPr>
        <p:spPr>
          <a:xfrm>
            <a:off x="819150" y="1619250"/>
            <a:ext cx="10553700" cy="647700"/>
          </a:xfrm>
          <a:prstGeom prst="roundRect">
            <a:avLst>
              <a:gd name="adj" fmla="val 17647"/>
            </a:avLst>
          </a:prstGeom>
          <a:solidFill>
            <a:srgbClr val="F2EDFF"/>
          </a:solidFill>
          <a:ln w="9525">
            <a:solidFill>
              <a:srgbClr val="DED1FA"/>
            </a:solidFill>
          </a:ln>
        </p:spPr>
      </p:sp>
      <p:sp>
        <p:nvSpPr>
          <p:cNvPr id="4" name="check-status-1">
            <a:extLst>
              <a:ext uri="{FF2B5EF4-FFF2-40B4-BE49-F238E27FC236}">
                <a16:creationId xmlns:a16="http://schemas.microsoft.com/office/drawing/2014/main" id="{9C795F83-8105-4F39-8C6E-5971DA16CF33}"/>
              </a:ext>
            </a:extLst>
          </p:cNvPr>
          <p:cNvSpPr>
            <a:spLocks noGrp="1"/>
          </p:cNvSpPr>
          <p:nvPr/>
        </p:nvSpPr>
        <p:spPr>
          <a:xfrm>
            <a:off x="990600" y="1733550"/>
            <a:ext cx="609600" cy="400050"/>
          </a:xfrm>
          <a:prstGeom prst="roundRect">
            <a:avLst>
              <a:gd name="adj" fmla="val 19048"/>
            </a:avLst>
          </a:prstGeom>
          <a:solidFill>
            <a:srgbClr val="238B72"/>
          </a:solidFill>
          <a:ln w="9525">
            <a:solidFill>
              <a:srgbClr val="238B72"/>
            </a:solidFill>
          </a:ln>
        </p:spPr>
        <p:txBody>
          <a:bodyPr anchor="ctr">
            <a:normAutofit/>
          </a:bodyPr>
          <a:lstStyle/>
          <a:p>
            <a:pPr algn="ctr">
              <a:defRPr sz="1050" b="1">
                <a:solidFill>
                  <a:srgbClr val="FFFFFF"/>
                </a:solidFill>
                <a:latin typeface="Calibri"/>
                <a:ea typeface="Calibri"/>
                <a:cs typeface="Calibri"/>
              </a:defRPr>
            </a:pPr>
            <a:r>
              <a:rPr sz="1050" b="1">
                <a:solidFill>
                  <a:srgbClr val="FFFFFF"/>
                </a:solidFill>
                <a:latin typeface="Calibri"/>
                <a:ea typeface="Calibri"/>
                <a:cs typeface="Calibri"/>
              </a:rPr>
              <a:t>YES</a:t>
            </a:r>
          </a:p>
        </p:txBody>
      </p:sp>
      <p:sp>
        <p:nvSpPr>
          <p:cNvPr id="5" name="check-label-1">
            <a:extLst>
              <a:ext uri="{FF2B5EF4-FFF2-40B4-BE49-F238E27FC236}">
                <a16:creationId xmlns:a16="http://schemas.microsoft.com/office/drawing/2014/main" id="{9B6A55CE-072A-4C8C-A145-9E79E2CB8A34}"/>
              </a:ext>
            </a:extLst>
          </p:cNvPr>
          <p:cNvSpPr>
            <a:spLocks noGrp="1"/>
          </p:cNvSpPr>
          <p:nvPr/>
        </p:nvSpPr>
        <p:spPr>
          <a:xfrm>
            <a:off x="1790700" y="1676400"/>
            <a:ext cx="4000500" cy="266700"/>
          </a:xfrm>
          <a:prstGeom prst="rect">
            <a:avLst/>
          </a:prstGeom>
          <a:noFill/>
          <a:ln w="0">
            <a:noFill/>
          </a:ln>
        </p:spPr>
        <p:txBody>
          <a:bodyPr anchor="ctr">
            <a:normAutofit fontScale="85185"/>
          </a:bodyPr>
          <a:lstStyle/>
          <a:p>
            <a:pPr algn="l">
              <a:defRPr sz="1350" b="1">
                <a:solidFill>
                  <a:srgbClr val="28223A"/>
                </a:solidFill>
                <a:latin typeface="Calibri"/>
                <a:ea typeface="Calibri"/>
                <a:cs typeface="Calibri"/>
              </a:defRPr>
            </a:pPr>
            <a:r>
              <a:rPr sz="1350" b="1">
                <a:solidFill>
                  <a:srgbClr val="28223A"/>
                </a:solidFill>
                <a:latin typeface="Calibri"/>
                <a:ea typeface="Calibri"/>
                <a:cs typeface="Calibri"/>
              </a:rPr>
              <a:t>Working prototype code</a:t>
            </a:r>
          </a:p>
        </p:txBody>
      </p:sp>
      <p:sp>
        <p:nvSpPr>
          <p:cNvPr id="6" name="check-evidence-1">
            <a:extLst>
              <a:ext uri="{FF2B5EF4-FFF2-40B4-BE49-F238E27FC236}">
                <a16:creationId xmlns:a16="http://schemas.microsoft.com/office/drawing/2014/main" id="{108542F7-F91E-4D8B-A460-61BC77DD0085}"/>
              </a:ext>
            </a:extLst>
          </p:cNvPr>
          <p:cNvSpPr>
            <a:spLocks noGrp="1"/>
          </p:cNvSpPr>
          <p:nvPr/>
        </p:nvSpPr>
        <p:spPr>
          <a:xfrm>
            <a:off x="1790700" y="1933575"/>
            <a:ext cx="9334500" cy="257175"/>
          </a:xfrm>
          <a:prstGeom prst="rect">
            <a:avLst/>
          </a:prstGeom>
          <a:noFill/>
          <a:ln w="0">
            <a:noFill/>
          </a:ln>
        </p:spPr>
        <p:txBody>
          <a:bodyPr anchor="ctr">
            <a:normAutofit/>
          </a:bodyPr>
          <a:lstStyle/>
          <a:p>
            <a:pPr algn="l">
              <a:defRPr sz="1050" b="0">
                <a:solidFill>
                  <a:srgbClr val="625A75"/>
                </a:solidFill>
                <a:latin typeface="Calibri"/>
                <a:ea typeface="Calibri"/>
                <a:cs typeface="Calibri"/>
              </a:defRPr>
            </a:pPr>
            <a:r>
              <a:rPr sz="1050" b="0">
                <a:solidFill>
                  <a:srgbClr val="625A75"/>
                </a:solidFill>
                <a:latin typeface="Calibri"/>
                <a:ea typeface="Calibri"/>
                <a:cs typeface="Calibri"/>
              </a:rPr>
              <a:t>Local web UI, FastAPI service, real Gemini wiring and PostgreSQL integration</a:t>
            </a:r>
          </a:p>
        </p:txBody>
      </p:sp>
      <p:sp>
        <p:nvSpPr>
          <p:cNvPr id="7" name="check-row-2">
            <a:extLst>
              <a:ext uri="{FF2B5EF4-FFF2-40B4-BE49-F238E27FC236}">
                <a16:creationId xmlns:a16="http://schemas.microsoft.com/office/drawing/2014/main" id="{8F9700EC-59FF-4B0E-BB25-2F3986C8542A}"/>
              </a:ext>
            </a:extLst>
          </p:cNvPr>
          <p:cNvSpPr>
            <a:spLocks noGrp="1"/>
          </p:cNvSpPr>
          <p:nvPr/>
        </p:nvSpPr>
        <p:spPr>
          <a:xfrm>
            <a:off x="819150" y="2400300"/>
            <a:ext cx="10553700" cy="647700"/>
          </a:xfrm>
          <a:prstGeom prst="roundRect">
            <a:avLst>
              <a:gd name="adj" fmla="val 17647"/>
            </a:avLst>
          </a:prstGeom>
          <a:solidFill>
            <a:srgbClr val="F2EDFF"/>
          </a:solidFill>
          <a:ln w="9525">
            <a:solidFill>
              <a:srgbClr val="DED1FA"/>
            </a:solidFill>
          </a:ln>
        </p:spPr>
      </p:sp>
      <p:sp>
        <p:nvSpPr>
          <p:cNvPr id="8" name="check-status-2">
            <a:extLst>
              <a:ext uri="{FF2B5EF4-FFF2-40B4-BE49-F238E27FC236}">
                <a16:creationId xmlns:a16="http://schemas.microsoft.com/office/drawing/2014/main" id="{CE869AE9-A384-447D-B7DF-83EB9B81CB2E}"/>
              </a:ext>
            </a:extLst>
          </p:cNvPr>
          <p:cNvSpPr>
            <a:spLocks noGrp="1"/>
          </p:cNvSpPr>
          <p:nvPr/>
        </p:nvSpPr>
        <p:spPr>
          <a:xfrm>
            <a:off x="990600" y="2514600"/>
            <a:ext cx="609600" cy="400050"/>
          </a:xfrm>
          <a:prstGeom prst="roundRect">
            <a:avLst>
              <a:gd name="adj" fmla="val 19048"/>
            </a:avLst>
          </a:prstGeom>
          <a:solidFill>
            <a:srgbClr val="238B72"/>
          </a:solidFill>
          <a:ln w="9525">
            <a:solidFill>
              <a:srgbClr val="238B72"/>
            </a:solidFill>
          </a:ln>
        </p:spPr>
        <p:txBody>
          <a:bodyPr anchor="ctr">
            <a:normAutofit/>
          </a:bodyPr>
          <a:lstStyle/>
          <a:p>
            <a:pPr algn="ctr">
              <a:defRPr sz="1050" b="1">
                <a:solidFill>
                  <a:srgbClr val="FFFFFF"/>
                </a:solidFill>
                <a:latin typeface="Calibri"/>
                <a:ea typeface="Calibri"/>
                <a:cs typeface="Calibri"/>
              </a:defRPr>
            </a:pPr>
            <a:r>
              <a:rPr sz="1050" b="1">
                <a:solidFill>
                  <a:srgbClr val="FFFFFF"/>
                </a:solidFill>
                <a:latin typeface="Calibri"/>
                <a:ea typeface="Calibri"/>
                <a:cs typeface="Calibri"/>
              </a:rPr>
              <a:t>YES</a:t>
            </a:r>
          </a:p>
        </p:txBody>
      </p:sp>
      <p:sp>
        <p:nvSpPr>
          <p:cNvPr id="9" name="check-label-2">
            <a:extLst>
              <a:ext uri="{FF2B5EF4-FFF2-40B4-BE49-F238E27FC236}">
                <a16:creationId xmlns:a16="http://schemas.microsoft.com/office/drawing/2014/main" id="{CD6E14FB-3279-44DF-8A80-505884E3944D}"/>
              </a:ext>
            </a:extLst>
          </p:cNvPr>
          <p:cNvSpPr>
            <a:spLocks noGrp="1"/>
          </p:cNvSpPr>
          <p:nvPr/>
        </p:nvSpPr>
        <p:spPr>
          <a:xfrm>
            <a:off x="1790700" y="2457450"/>
            <a:ext cx="4000500" cy="266700"/>
          </a:xfrm>
          <a:prstGeom prst="rect">
            <a:avLst/>
          </a:prstGeom>
          <a:noFill/>
          <a:ln w="0">
            <a:noFill/>
          </a:ln>
        </p:spPr>
        <p:txBody>
          <a:bodyPr anchor="ctr">
            <a:normAutofit fontScale="85185"/>
          </a:bodyPr>
          <a:lstStyle/>
          <a:p>
            <a:pPr algn="l">
              <a:defRPr sz="1350" b="1">
                <a:solidFill>
                  <a:srgbClr val="28223A"/>
                </a:solidFill>
                <a:latin typeface="Calibri"/>
                <a:ea typeface="Calibri"/>
                <a:cs typeface="Calibri"/>
              </a:defRPr>
            </a:pPr>
            <a:r>
              <a:rPr sz="1350" b="1">
                <a:solidFill>
                  <a:srgbClr val="28223A"/>
                </a:solidFill>
                <a:latin typeface="Calibri"/>
                <a:ea typeface="Calibri"/>
                <a:cs typeface="Calibri"/>
              </a:rPr>
              <a:t>README with reproducible setup</a:t>
            </a:r>
          </a:p>
        </p:txBody>
      </p:sp>
      <p:sp>
        <p:nvSpPr>
          <p:cNvPr id="10" name="check-evidence-2">
            <a:extLst>
              <a:ext uri="{FF2B5EF4-FFF2-40B4-BE49-F238E27FC236}">
                <a16:creationId xmlns:a16="http://schemas.microsoft.com/office/drawing/2014/main" id="{3CB2A1BB-E3B5-46CE-BA63-DF2DBC02E211}"/>
              </a:ext>
            </a:extLst>
          </p:cNvPr>
          <p:cNvSpPr>
            <a:spLocks noGrp="1"/>
          </p:cNvSpPr>
          <p:nvPr/>
        </p:nvSpPr>
        <p:spPr>
          <a:xfrm>
            <a:off x="1790700" y="2714625"/>
            <a:ext cx="9334500" cy="257175"/>
          </a:xfrm>
          <a:prstGeom prst="rect">
            <a:avLst/>
          </a:prstGeom>
          <a:noFill/>
          <a:ln w="0">
            <a:noFill/>
          </a:ln>
        </p:spPr>
        <p:txBody>
          <a:bodyPr anchor="ctr">
            <a:normAutofit/>
          </a:bodyPr>
          <a:lstStyle/>
          <a:p>
            <a:pPr algn="l">
              <a:defRPr sz="1050" b="0">
                <a:solidFill>
                  <a:srgbClr val="625A75"/>
                </a:solidFill>
                <a:latin typeface="Calibri"/>
                <a:ea typeface="Calibri"/>
                <a:cs typeface="Calibri"/>
              </a:defRPr>
            </a:pPr>
            <a:r>
              <a:rPr sz="1050" b="0">
                <a:solidFill>
                  <a:srgbClr val="625A75"/>
                </a:solidFill>
                <a:latin typeface="Calibri"/>
                <a:ea typeface="Calibri"/>
                <a:cs typeface="Calibri"/>
              </a:rPr>
              <a:t>Docker, migrations, catalog build, cache prewarm and API startup are documented</a:t>
            </a:r>
          </a:p>
        </p:txBody>
      </p:sp>
      <p:sp>
        <p:nvSpPr>
          <p:cNvPr id="11" name="check-row-3">
            <a:extLst>
              <a:ext uri="{FF2B5EF4-FFF2-40B4-BE49-F238E27FC236}">
                <a16:creationId xmlns:a16="http://schemas.microsoft.com/office/drawing/2014/main" id="{8981DB4F-9AB4-4EEE-86E4-45971D074A76}"/>
              </a:ext>
            </a:extLst>
          </p:cNvPr>
          <p:cNvSpPr>
            <a:spLocks noGrp="1"/>
          </p:cNvSpPr>
          <p:nvPr/>
        </p:nvSpPr>
        <p:spPr>
          <a:xfrm>
            <a:off x="819150" y="3181350"/>
            <a:ext cx="10553700" cy="647700"/>
          </a:xfrm>
          <a:prstGeom prst="roundRect">
            <a:avLst>
              <a:gd name="adj" fmla="val 17647"/>
            </a:avLst>
          </a:prstGeom>
          <a:solidFill>
            <a:srgbClr val="F2EDFF"/>
          </a:solidFill>
          <a:ln w="9525">
            <a:solidFill>
              <a:srgbClr val="DED1FA"/>
            </a:solidFill>
          </a:ln>
        </p:spPr>
      </p:sp>
      <p:sp>
        <p:nvSpPr>
          <p:cNvPr id="12" name="check-status-3">
            <a:extLst>
              <a:ext uri="{FF2B5EF4-FFF2-40B4-BE49-F238E27FC236}">
                <a16:creationId xmlns:a16="http://schemas.microsoft.com/office/drawing/2014/main" id="{59E944D8-61BF-483F-9A11-978476577875}"/>
              </a:ext>
            </a:extLst>
          </p:cNvPr>
          <p:cNvSpPr>
            <a:spLocks noGrp="1"/>
          </p:cNvSpPr>
          <p:nvPr/>
        </p:nvSpPr>
        <p:spPr>
          <a:xfrm>
            <a:off x="990600" y="3295650"/>
            <a:ext cx="609600" cy="400050"/>
          </a:xfrm>
          <a:prstGeom prst="roundRect">
            <a:avLst>
              <a:gd name="adj" fmla="val 19048"/>
            </a:avLst>
          </a:prstGeom>
          <a:solidFill>
            <a:srgbClr val="238B72"/>
          </a:solidFill>
          <a:ln w="9525">
            <a:solidFill>
              <a:srgbClr val="238B72"/>
            </a:solidFill>
          </a:ln>
        </p:spPr>
        <p:txBody>
          <a:bodyPr anchor="ctr">
            <a:normAutofit/>
          </a:bodyPr>
          <a:lstStyle/>
          <a:p>
            <a:pPr algn="ctr">
              <a:defRPr sz="1050" b="1">
                <a:solidFill>
                  <a:srgbClr val="FFFFFF"/>
                </a:solidFill>
                <a:latin typeface="Calibri"/>
                <a:ea typeface="Calibri"/>
                <a:cs typeface="Calibri"/>
              </a:defRPr>
            </a:pPr>
            <a:r>
              <a:rPr lang="en-US" sz="1050" b="1" dirty="0">
                <a:solidFill>
                  <a:srgbClr val="FFFFFF"/>
                </a:solidFill>
                <a:latin typeface="Calibri"/>
                <a:ea typeface="Calibri"/>
                <a:cs typeface="Calibri"/>
              </a:rPr>
              <a:t>YES</a:t>
            </a:r>
            <a:endParaRPr sz="1050" b="1" dirty="0">
              <a:solidFill>
                <a:srgbClr val="FFFFFF"/>
              </a:solidFill>
              <a:latin typeface="Calibri"/>
              <a:ea typeface="Calibri"/>
              <a:cs typeface="Calibri"/>
            </a:endParaRPr>
          </a:p>
        </p:txBody>
      </p:sp>
      <p:sp>
        <p:nvSpPr>
          <p:cNvPr id="13" name="check-label-3">
            <a:extLst>
              <a:ext uri="{FF2B5EF4-FFF2-40B4-BE49-F238E27FC236}">
                <a16:creationId xmlns:a16="http://schemas.microsoft.com/office/drawing/2014/main" id="{B67EFABB-5147-4AF2-8AA0-A0D9BF47A2BF}"/>
              </a:ext>
            </a:extLst>
          </p:cNvPr>
          <p:cNvSpPr>
            <a:spLocks noGrp="1"/>
          </p:cNvSpPr>
          <p:nvPr/>
        </p:nvSpPr>
        <p:spPr>
          <a:xfrm>
            <a:off x="1790700" y="3238500"/>
            <a:ext cx="4000500" cy="266700"/>
          </a:xfrm>
          <a:prstGeom prst="rect">
            <a:avLst/>
          </a:prstGeom>
          <a:noFill/>
          <a:ln w="0">
            <a:noFill/>
          </a:ln>
        </p:spPr>
        <p:txBody>
          <a:bodyPr anchor="ctr">
            <a:normAutofit fontScale="85185"/>
          </a:bodyPr>
          <a:lstStyle/>
          <a:p>
            <a:pPr algn="l">
              <a:defRPr sz="1350" b="1">
                <a:solidFill>
                  <a:srgbClr val="28223A"/>
                </a:solidFill>
                <a:latin typeface="Calibri"/>
                <a:ea typeface="Calibri"/>
                <a:cs typeface="Calibri"/>
              </a:defRPr>
            </a:pPr>
            <a:r>
              <a:rPr sz="1350" b="1">
                <a:solidFill>
                  <a:srgbClr val="28223A"/>
                </a:solidFill>
                <a:latin typeface="Calibri"/>
                <a:ea typeface="Calibri"/>
                <a:cs typeface="Calibri"/>
              </a:rPr>
              <a:t>Demo video, maximum 5 minutes</a:t>
            </a:r>
          </a:p>
        </p:txBody>
      </p:sp>
      <p:sp>
        <p:nvSpPr>
          <p:cNvPr id="14" name="check-evidence-3">
            <a:extLst>
              <a:ext uri="{FF2B5EF4-FFF2-40B4-BE49-F238E27FC236}">
                <a16:creationId xmlns:a16="http://schemas.microsoft.com/office/drawing/2014/main" id="{7894B90B-5E3D-44B3-8F51-198BB5E51F58}"/>
              </a:ext>
            </a:extLst>
          </p:cNvPr>
          <p:cNvSpPr>
            <a:spLocks noGrp="1"/>
          </p:cNvSpPr>
          <p:nvPr/>
        </p:nvSpPr>
        <p:spPr>
          <a:xfrm>
            <a:off x="1790700" y="3495675"/>
            <a:ext cx="9334500" cy="257175"/>
          </a:xfrm>
          <a:prstGeom prst="rect">
            <a:avLst/>
          </a:prstGeom>
          <a:noFill/>
          <a:ln w="0">
            <a:noFill/>
          </a:ln>
        </p:spPr>
        <p:txBody>
          <a:bodyPr anchor="ctr">
            <a:normAutofit/>
          </a:bodyPr>
          <a:lstStyle/>
          <a:p>
            <a:pPr>
              <a:defRPr sz="1050" b="0">
                <a:solidFill>
                  <a:srgbClr val="625A75"/>
                </a:solidFill>
                <a:latin typeface="Calibri"/>
                <a:ea typeface="Calibri"/>
                <a:cs typeface="Calibri"/>
              </a:defRPr>
            </a:pPr>
            <a:r>
              <a:rPr lang="en-IN" sz="1050" dirty="0">
                <a:solidFill>
                  <a:srgbClr val="625A75"/>
                </a:solidFill>
                <a:latin typeface="Calibri"/>
                <a:ea typeface="Calibri"/>
                <a:cs typeface="Calibri"/>
              </a:rPr>
              <a:t>https://drive.google.com/file/d/1tVMslTQtBKIP-qObZXfjxNKbqdIfXCeE/view?usp=sharing</a:t>
            </a:r>
            <a:endParaRPr sz="1050" b="0" dirty="0">
              <a:solidFill>
                <a:srgbClr val="625A75"/>
              </a:solidFill>
              <a:latin typeface="Calibri"/>
              <a:ea typeface="Calibri"/>
              <a:cs typeface="Calibri"/>
            </a:endParaRPr>
          </a:p>
        </p:txBody>
      </p:sp>
      <p:sp>
        <p:nvSpPr>
          <p:cNvPr id="15" name="check-row-4">
            <a:extLst>
              <a:ext uri="{FF2B5EF4-FFF2-40B4-BE49-F238E27FC236}">
                <a16:creationId xmlns:a16="http://schemas.microsoft.com/office/drawing/2014/main" id="{550F9253-D962-4AB6-905C-09C83AABBCB6}"/>
              </a:ext>
            </a:extLst>
          </p:cNvPr>
          <p:cNvSpPr>
            <a:spLocks noGrp="1"/>
          </p:cNvSpPr>
          <p:nvPr/>
        </p:nvSpPr>
        <p:spPr>
          <a:xfrm>
            <a:off x="819150" y="3962400"/>
            <a:ext cx="10553700" cy="647700"/>
          </a:xfrm>
          <a:prstGeom prst="roundRect">
            <a:avLst>
              <a:gd name="adj" fmla="val 17647"/>
            </a:avLst>
          </a:prstGeom>
          <a:solidFill>
            <a:srgbClr val="F2EDFF"/>
          </a:solidFill>
          <a:ln w="9525">
            <a:solidFill>
              <a:srgbClr val="DED1FA"/>
            </a:solidFill>
          </a:ln>
        </p:spPr>
      </p:sp>
      <p:sp>
        <p:nvSpPr>
          <p:cNvPr id="16" name="check-status-4">
            <a:extLst>
              <a:ext uri="{FF2B5EF4-FFF2-40B4-BE49-F238E27FC236}">
                <a16:creationId xmlns:a16="http://schemas.microsoft.com/office/drawing/2014/main" id="{836D1E1C-C439-4C82-8ED2-6FF7F7CA2D0E}"/>
              </a:ext>
            </a:extLst>
          </p:cNvPr>
          <p:cNvSpPr>
            <a:spLocks noGrp="1"/>
          </p:cNvSpPr>
          <p:nvPr/>
        </p:nvSpPr>
        <p:spPr>
          <a:xfrm>
            <a:off x="990600" y="4076700"/>
            <a:ext cx="609600" cy="400050"/>
          </a:xfrm>
          <a:prstGeom prst="roundRect">
            <a:avLst>
              <a:gd name="adj" fmla="val 19048"/>
            </a:avLst>
          </a:prstGeom>
          <a:solidFill>
            <a:srgbClr val="238B72"/>
          </a:solidFill>
          <a:ln w="9525">
            <a:solidFill>
              <a:srgbClr val="238B72"/>
            </a:solidFill>
          </a:ln>
        </p:spPr>
        <p:txBody>
          <a:bodyPr anchor="ctr">
            <a:normAutofit/>
          </a:bodyPr>
          <a:lstStyle/>
          <a:p>
            <a:pPr algn="ctr">
              <a:defRPr sz="1050" b="1">
                <a:solidFill>
                  <a:srgbClr val="FFFFFF"/>
                </a:solidFill>
                <a:latin typeface="Calibri"/>
                <a:ea typeface="Calibri"/>
                <a:cs typeface="Calibri"/>
              </a:defRPr>
            </a:pPr>
            <a:r>
              <a:rPr sz="1050" b="1">
                <a:solidFill>
                  <a:srgbClr val="FFFFFF"/>
                </a:solidFill>
                <a:latin typeface="Calibri"/>
                <a:ea typeface="Calibri"/>
                <a:cs typeface="Calibri"/>
              </a:rPr>
              <a:t>YES</a:t>
            </a:r>
          </a:p>
        </p:txBody>
      </p:sp>
      <p:sp>
        <p:nvSpPr>
          <p:cNvPr id="17" name="check-label-4">
            <a:extLst>
              <a:ext uri="{FF2B5EF4-FFF2-40B4-BE49-F238E27FC236}">
                <a16:creationId xmlns:a16="http://schemas.microsoft.com/office/drawing/2014/main" id="{FEE9DB69-26FF-4CAA-BC07-48DCC493C56E}"/>
              </a:ext>
            </a:extLst>
          </p:cNvPr>
          <p:cNvSpPr>
            <a:spLocks noGrp="1"/>
          </p:cNvSpPr>
          <p:nvPr/>
        </p:nvSpPr>
        <p:spPr>
          <a:xfrm>
            <a:off x="1790700" y="4019550"/>
            <a:ext cx="4000500" cy="266700"/>
          </a:xfrm>
          <a:prstGeom prst="rect">
            <a:avLst/>
          </a:prstGeom>
          <a:noFill/>
          <a:ln w="0">
            <a:noFill/>
          </a:ln>
        </p:spPr>
        <p:txBody>
          <a:bodyPr anchor="ctr">
            <a:normAutofit fontScale="85185"/>
          </a:bodyPr>
          <a:lstStyle/>
          <a:p>
            <a:pPr algn="l">
              <a:defRPr sz="1350" b="1">
                <a:solidFill>
                  <a:srgbClr val="28223A"/>
                </a:solidFill>
                <a:latin typeface="Calibri"/>
                <a:ea typeface="Calibri"/>
                <a:cs typeface="Calibri"/>
              </a:defRPr>
            </a:pPr>
            <a:r>
              <a:rPr sz="1350" b="1">
                <a:solidFill>
                  <a:srgbClr val="28223A"/>
                </a:solidFill>
                <a:latin typeface="Calibri"/>
                <a:ea typeface="Calibri"/>
                <a:cs typeface="Calibri"/>
              </a:rPr>
              <a:t>Presentation file</a:t>
            </a:r>
          </a:p>
        </p:txBody>
      </p:sp>
      <p:sp>
        <p:nvSpPr>
          <p:cNvPr id="18" name="check-evidence-4">
            <a:extLst>
              <a:ext uri="{FF2B5EF4-FFF2-40B4-BE49-F238E27FC236}">
                <a16:creationId xmlns:a16="http://schemas.microsoft.com/office/drawing/2014/main" id="{B02962C7-8A29-4AFB-9781-8ADDFF9007D3}"/>
              </a:ext>
            </a:extLst>
          </p:cNvPr>
          <p:cNvSpPr>
            <a:spLocks noGrp="1"/>
          </p:cNvSpPr>
          <p:nvPr/>
        </p:nvSpPr>
        <p:spPr>
          <a:xfrm>
            <a:off x="1790700" y="4276725"/>
            <a:ext cx="9334500" cy="257175"/>
          </a:xfrm>
          <a:prstGeom prst="rect">
            <a:avLst/>
          </a:prstGeom>
          <a:noFill/>
          <a:ln w="0">
            <a:noFill/>
          </a:ln>
        </p:spPr>
        <p:txBody>
          <a:bodyPr anchor="ctr">
            <a:normAutofit/>
          </a:bodyPr>
          <a:lstStyle/>
          <a:p>
            <a:pPr algn="l">
              <a:defRPr sz="1050" b="0">
                <a:solidFill>
                  <a:srgbClr val="625A75"/>
                </a:solidFill>
                <a:latin typeface="Calibri"/>
                <a:ea typeface="Calibri"/>
                <a:cs typeface="Calibri"/>
              </a:defRPr>
            </a:pPr>
            <a:r>
              <a:rPr sz="1050" b="0">
                <a:solidFill>
                  <a:srgbClr val="625A75"/>
                </a:solidFill>
                <a:latin typeface="Calibri"/>
                <a:ea typeface="Calibri"/>
                <a:cs typeface="Calibri"/>
              </a:rPr>
              <a:t>This final 12-slide deck uses the official template</a:t>
            </a:r>
          </a:p>
        </p:txBody>
      </p:sp>
      <p:sp>
        <p:nvSpPr>
          <p:cNvPr id="19" name="check-row-5">
            <a:extLst>
              <a:ext uri="{FF2B5EF4-FFF2-40B4-BE49-F238E27FC236}">
                <a16:creationId xmlns:a16="http://schemas.microsoft.com/office/drawing/2014/main" id="{7E546EB7-8643-408C-822B-B82055B48809}"/>
              </a:ext>
            </a:extLst>
          </p:cNvPr>
          <p:cNvSpPr>
            <a:spLocks noGrp="1"/>
          </p:cNvSpPr>
          <p:nvPr/>
        </p:nvSpPr>
        <p:spPr>
          <a:xfrm>
            <a:off x="819150" y="4743450"/>
            <a:ext cx="10553700" cy="647700"/>
          </a:xfrm>
          <a:prstGeom prst="roundRect">
            <a:avLst>
              <a:gd name="adj" fmla="val 17647"/>
            </a:avLst>
          </a:prstGeom>
          <a:solidFill>
            <a:srgbClr val="F2EDFF"/>
          </a:solidFill>
          <a:ln w="9525">
            <a:solidFill>
              <a:srgbClr val="DED1FA"/>
            </a:solidFill>
          </a:ln>
        </p:spPr>
      </p:sp>
      <p:sp>
        <p:nvSpPr>
          <p:cNvPr id="20" name="check-status-5">
            <a:extLst>
              <a:ext uri="{FF2B5EF4-FFF2-40B4-BE49-F238E27FC236}">
                <a16:creationId xmlns:a16="http://schemas.microsoft.com/office/drawing/2014/main" id="{632DEB06-2F7C-405E-96F1-62C43E8BF9C5}"/>
              </a:ext>
            </a:extLst>
          </p:cNvPr>
          <p:cNvSpPr>
            <a:spLocks noGrp="1"/>
          </p:cNvSpPr>
          <p:nvPr/>
        </p:nvSpPr>
        <p:spPr>
          <a:xfrm>
            <a:off x="990600" y="4857750"/>
            <a:ext cx="609600" cy="400050"/>
          </a:xfrm>
          <a:prstGeom prst="roundRect">
            <a:avLst>
              <a:gd name="adj" fmla="val 19048"/>
            </a:avLst>
          </a:prstGeom>
          <a:solidFill>
            <a:srgbClr val="238B72"/>
          </a:solidFill>
          <a:ln w="9525">
            <a:solidFill>
              <a:srgbClr val="238B72"/>
            </a:solidFill>
          </a:ln>
        </p:spPr>
        <p:txBody>
          <a:bodyPr anchor="ctr">
            <a:normAutofit/>
          </a:bodyPr>
          <a:lstStyle/>
          <a:p>
            <a:pPr algn="ctr">
              <a:defRPr sz="1050" b="1">
                <a:solidFill>
                  <a:srgbClr val="FFFFFF"/>
                </a:solidFill>
                <a:latin typeface="Calibri"/>
                <a:ea typeface="Calibri"/>
                <a:cs typeface="Calibri"/>
              </a:defRPr>
            </a:pPr>
            <a:r>
              <a:rPr sz="1050" b="1">
                <a:solidFill>
                  <a:srgbClr val="FFFFFF"/>
                </a:solidFill>
                <a:latin typeface="Calibri"/>
                <a:ea typeface="Calibri"/>
                <a:cs typeface="Calibri"/>
              </a:rPr>
              <a:t>YES</a:t>
            </a:r>
          </a:p>
        </p:txBody>
      </p:sp>
      <p:sp>
        <p:nvSpPr>
          <p:cNvPr id="21" name="check-label-5">
            <a:extLst>
              <a:ext uri="{FF2B5EF4-FFF2-40B4-BE49-F238E27FC236}">
                <a16:creationId xmlns:a16="http://schemas.microsoft.com/office/drawing/2014/main" id="{1614E621-A762-44E6-9D61-9D22F24CB39F}"/>
              </a:ext>
            </a:extLst>
          </p:cNvPr>
          <p:cNvSpPr>
            <a:spLocks noGrp="1"/>
          </p:cNvSpPr>
          <p:nvPr/>
        </p:nvSpPr>
        <p:spPr>
          <a:xfrm>
            <a:off x="1790700" y="4800600"/>
            <a:ext cx="4000500" cy="266700"/>
          </a:xfrm>
          <a:prstGeom prst="rect">
            <a:avLst/>
          </a:prstGeom>
          <a:noFill/>
          <a:ln w="0">
            <a:noFill/>
          </a:ln>
        </p:spPr>
        <p:txBody>
          <a:bodyPr anchor="ctr">
            <a:normAutofit fontScale="85185"/>
          </a:bodyPr>
          <a:lstStyle/>
          <a:p>
            <a:pPr algn="l">
              <a:defRPr sz="1350" b="1">
                <a:solidFill>
                  <a:srgbClr val="28223A"/>
                </a:solidFill>
                <a:latin typeface="Calibri"/>
                <a:ea typeface="Calibri"/>
                <a:cs typeface="Calibri"/>
              </a:defRPr>
            </a:pPr>
            <a:r>
              <a:rPr sz="1350" b="1">
                <a:solidFill>
                  <a:srgbClr val="28223A"/>
                </a:solidFill>
                <a:latin typeface="Calibri"/>
                <a:ea typeface="Calibri"/>
                <a:cs typeface="Calibri"/>
              </a:rPr>
              <a:t>Public GitHub repository</a:t>
            </a:r>
          </a:p>
        </p:txBody>
      </p:sp>
      <p:sp>
        <p:nvSpPr>
          <p:cNvPr id="22" name="check-evidence-5">
            <a:extLst>
              <a:ext uri="{FF2B5EF4-FFF2-40B4-BE49-F238E27FC236}">
                <a16:creationId xmlns:a16="http://schemas.microsoft.com/office/drawing/2014/main" id="{F14DD086-65DB-4EEC-B0F8-F48E221E789A}"/>
              </a:ext>
            </a:extLst>
          </p:cNvPr>
          <p:cNvSpPr>
            <a:spLocks noGrp="1"/>
          </p:cNvSpPr>
          <p:nvPr/>
        </p:nvSpPr>
        <p:spPr>
          <a:xfrm>
            <a:off x="1790700" y="5057775"/>
            <a:ext cx="9334500" cy="257175"/>
          </a:xfrm>
          <a:prstGeom prst="rect">
            <a:avLst/>
          </a:prstGeom>
          <a:noFill/>
          <a:ln w="0">
            <a:noFill/>
          </a:ln>
        </p:spPr>
        <p:txBody>
          <a:bodyPr anchor="ctr">
            <a:normAutofit/>
          </a:bodyPr>
          <a:lstStyle/>
          <a:p>
            <a:pPr algn="l">
              <a:defRPr sz="1050" b="0">
                <a:solidFill>
                  <a:srgbClr val="625A75"/>
                </a:solidFill>
                <a:latin typeface="Calibri"/>
                <a:ea typeface="Calibri"/>
                <a:cs typeface="Calibri"/>
              </a:defRPr>
            </a:pPr>
            <a:r>
              <a:rPr sz="1050" b="0" dirty="0">
                <a:solidFill>
                  <a:srgbClr val="625A75"/>
                </a:solidFill>
                <a:latin typeface="Calibri"/>
                <a:ea typeface="Calibri"/>
                <a:cs typeface="Calibri"/>
              </a:rPr>
              <a:t>github.com/Dhanush-</a:t>
            </a:r>
            <a:r>
              <a:rPr sz="1050" b="0" dirty="0" err="1">
                <a:solidFill>
                  <a:srgbClr val="625A75"/>
                </a:solidFill>
                <a:latin typeface="Calibri"/>
                <a:ea typeface="Calibri"/>
                <a:cs typeface="Calibri"/>
              </a:rPr>
              <a:t>Poduval</a:t>
            </a:r>
            <a:r>
              <a:rPr sz="1050" b="0" dirty="0">
                <a:solidFill>
                  <a:srgbClr val="625A75"/>
                </a:solidFill>
                <a:latin typeface="Calibri"/>
                <a:ea typeface="Calibri"/>
                <a:cs typeface="Calibri"/>
              </a:rPr>
              <a:t>/</a:t>
            </a:r>
            <a:r>
              <a:rPr sz="1050" b="0" dirty="0" err="1">
                <a:solidFill>
                  <a:srgbClr val="625A75"/>
                </a:solidFill>
                <a:latin typeface="Calibri"/>
                <a:ea typeface="Calibri"/>
                <a:cs typeface="Calibri"/>
              </a:rPr>
              <a:t>Guarded_Troubleshooting</a:t>
            </a:r>
            <a:r>
              <a:rPr sz="1050" b="0" dirty="0">
                <a:solidFill>
                  <a:srgbClr val="625A75"/>
                </a:solidFill>
                <a:latin typeface="Calibri"/>
                <a:ea typeface="Calibri"/>
                <a:cs typeface="Calibri"/>
              </a:rPr>
              <a:t>/</a:t>
            </a:r>
          </a:p>
        </p:txBody>
      </p:sp>
      <p:sp>
        <p:nvSpPr>
          <p:cNvPr id="25" name="check-row-5">
            <a:extLst>
              <a:ext uri="{FF2B5EF4-FFF2-40B4-BE49-F238E27FC236}">
                <a16:creationId xmlns:a16="http://schemas.microsoft.com/office/drawing/2014/main" id="{2FBBE3E9-F559-3DEB-7480-008D1B153D29}"/>
              </a:ext>
            </a:extLst>
          </p:cNvPr>
          <p:cNvSpPr>
            <a:spLocks noGrp="1"/>
          </p:cNvSpPr>
          <p:nvPr/>
        </p:nvSpPr>
        <p:spPr>
          <a:xfrm>
            <a:off x="819150" y="5524500"/>
            <a:ext cx="10553700" cy="647700"/>
          </a:xfrm>
          <a:prstGeom prst="roundRect">
            <a:avLst>
              <a:gd name="adj" fmla="val 17647"/>
            </a:avLst>
          </a:prstGeom>
          <a:solidFill>
            <a:srgbClr val="F2EDFF"/>
          </a:solidFill>
          <a:ln w="9525">
            <a:solidFill>
              <a:srgbClr val="DED1FA"/>
            </a:solidFill>
          </a:ln>
        </p:spPr>
      </p:sp>
      <p:sp>
        <p:nvSpPr>
          <p:cNvPr id="27" name="check-status-5">
            <a:extLst>
              <a:ext uri="{FF2B5EF4-FFF2-40B4-BE49-F238E27FC236}">
                <a16:creationId xmlns:a16="http://schemas.microsoft.com/office/drawing/2014/main" id="{9546C694-3191-7196-FDBA-28138414E5E4}"/>
              </a:ext>
            </a:extLst>
          </p:cNvPr>
          <p:cNvSpPr>
            <a:spLocks noGrp="1"/>
          </p:cNvSpPr>
          <p:nvPr/>
        </p:nvSpPr>
        <p:spPr>
          <a:xfrm>
            <a:off x="990600" y="5638800"/>
            <a:ext cx="609600" cy="400050"/>
          </a:xfrm>
          <a:prstGeom prst="roundRect">
            <a:avLst>
              <a:gd name="adj" fmla="val 19048"/>
            </a:avLst>
          </a:prstGeom>
          <a:solidFill>
            <a:srgbClr val="238B72"/>
          </a:solidFill>
          <a:ln w="9525">
            <a:solidFill>
              <a:srgbClr val="238B72"/>
            </a:solidFill>
          </a:ln>
        </p:spPr>
        <p:txBody>
          <a:bodyPr anchor="ctr">
            <a:normAutofit/>
          </a:bodyPr>
          <a:lstStyle/>
          <a:p>
            <a:pPr algn="ctr">
              <a:defRPr sz="1050" b="1">
                <a:solidFill>
                  <a:srgbClr val="FFFFFF"/>
                </a:solidFill>
                <a:latin typeface="Calibri"/>
                <a:ea typeface="Calibri"/>
                <a:cs typeface="Calibri"/>
              </a:defRPr>
            </a:pPr>
            <a:r>
              <a:rPr sz="1050" b="1">
                <a:solidFill>
                  <a:srgbClr val="FFFFFF"/>
                </a:solidFill>
                <a:latin typeface="Calibri"/>
                <a:ea typeface="Calibri"/>
                <a:cs typeface="Calibri"/>
              </a:rPr>
              <a:t>YES</a:t>
            </a:r>
          </a:p>
        </p:txBody>
      </p:sp>
      <p:sp>
        <p:nvSpPr>
          <p:cNvPr id="29" name="check-label-5">
            <a:extLst>
              <a:ext uri="{FF2B5EF4-FFF2-40B4-BE49-F238E27FC236}">
                <a16:creationId xmlns:a16="http://schemas.microsoft.com/office/drawing/2014/main" id="{2999C21D-7113-C3CA-5FE0-366934D2A0B7}"/>
              </a:ext>
            </a:extLst>
          </p:cNvPr>
          <p:cNvSpPr>
            <a:spLocks noGrp="1"/>
          </p:cNvSpPr>
          <p:nvPr/>
        </p:nvSpPr>
        <p:spPr>
          <a:xfrm>
            <a:off x="1790700" y="5581650"/>
            <a:ext cx="4000500" cy="266700"/>
          </a:xfrm>
          <a:prstGeom prst="rect">
            <a:avLst/>
          </a:prstGeom>
          <a:noFill/>
          <a:ln w="0">
            <a:noFill/>
          </a:ln>
        </p:spPr>
        <p:txBody>
          <a:bodyPr anchor="ctr">
            <a:normAutofit fontScale="85185"/>
          </a:bodyPr>
          <a:lstStyle/>
          <a:p>
            <a:pPr>
              <a:defRPr sz="1350" b="1">
                <a:solidFill>
                  <a:srgbClr val="28223A"/>
                </a:solidFill>
                <a:latin typeface="Calibri"/>
                <a:ea typeface="Calibri"/>
                <a:cs typeface="Calibri"/>
              </a:defRPr>
            </a:pPr>
            <a:r>
              <a:rPr lang="en-IN" sz="1350" b="1" dirty="0">
                <a:solidFill>
                  <a:srgbClr val="28223A"/>
                </a:solidFill>
                <a:latin typeface="Calibri"/>
                <a:ea typeface="Calibri"/>
                <a:cs typeface="Calibri"/>
              </a:rPr>
              <a:t>LangAI3.0_AI_Disclosure.docx</a:t>
            </a:r>
            <a:endParaRPr sz="1350" b="1" dirty="0">
              <a:solidFill>
                <a:srgbClr val="28223A"/>
              </a:solidFill>
              <a:latin typeface="Calibri"/>
              <a:ea typeface="Calibri"/>
              <a:cs typeface="Calibri"/>
            </a:endParaRPr>
          </a:p>
        </p:txBody>
      </p:sp>
      <p:sp>
        <p:nvSpPr>
          <p:cNvPr id="31" name="check-evidence-5">
            <a:extLst>
              <a:ext uri="{FF2B5EF4-FFF2-40B4-BE49-F238E27FC236}">
                <a16:creationId xmlns:a16="http://schemas.microsoft.com/office/drawing/2014/main" id="{A823FA17-C3A2-9B19-460B-9FF41FBD0234}"/>
              </a:ext>
            </a:extLst>
          </p:cNvPr>
          <p:cNvSpPr>
            <a:spLocks noGrp="1"/>
          </p:cNvSpPr>
          <p:nvPr/>
        </p:nvSpPr>
        <p:spPr>
          <a:xfrm>
            <a:off x="1790700" y="5838825"/>
            <a:ext cx="9334500" cy="257175"/>
          </a:xfrm>
          <a:prstGeom prst="rect">
            <a:avLst/>
          </a:prstGeom>
          <a:noFill/>
          <a:ln w="0">
            <a:noFill/>
          </a:ln>
        </p:spPr>
        <p:txBody>
          <a:bodyPr anchor="ctr">
            <a:normAutofit/>
          </a:bodyPr>
          <a:lstStyle/>
          <a:p>
            <a:pPr algn="l">
              <a:defRPr sz="1050" b="0">
                <a:solidFill>
                  <a:srgbClr val="625A75"/>
                </a:solidFill>
                <a:latin typeface="Calibri"/>
                <a:ea typeface="Calibri"/>
                <a:cs typeface="Calibri"/>
              </a:defRPr>
            </a:pPr>
            <a:r>
              <a:rPr lang="en-US" sz="1050" b="0" dirty="0">
                <a:solidFill>
                  <a:srgbClr val="625A75"/>
                </a:solidFill>
                <a:latin typeface="Calibri"/>
                <a:ea typeface="Calibri"/>
                <a:cs typeface="Calibri"/>
              </a:rPr>
              <a:t>AI Disclosure</a:t>
            </a:r>
            <a:endParaRPr sz="1050" b="0" dirty="0">
              <a:solidFill>
                <a:srgbClr val="625A75"/>
              </a:solidFill>
              <a:latin typeface="Calibri"/>
              <a:ea typeface="Calibri"/>
              <a:cs typeface="Calibri"/>
            </a:endParaRP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0959FCD-23F4-479B-B685-0C6BC5816D85}"/>
              </a:ext>
            </a:extLst>
          </p:cNvPr>
          <p:cNvSpPr>
            <a:spLocks noGrp="1"/>
          </p:cNvSpPr>
          <p:nvPr/>
        </p:nvSpPr>
        <p:spPr>
          <a:xfrm>
            <a:off x="1046181" y="3730214"/>
            <a:ext cx="6766560" cy="868680"/>
          </a:xfrm>
          <a:prstGeom prst="rect">
            <a:avLst/>
          </a:prstGeom>
          <a:noFill/>
        </p:spPr>
        <p:txBody>
          <a:bodyPr wrap="square" lIns="0" tIns="0" rIns="0" bIns="0" anchor="ctr"/>
          <a:lstStyle/>
          <a:p>
            <a:pPr marL="0" indent="0">
              <a:buNone/>
            </a:pPr>
            <a:r>
              <a:rPr sz="4600" b="1">
                <a:solidFill>
                  <a:srgbClr val="14142B"/>
                </a:solidFill>
                <a:latin typeface="Arial"/>
                <a:ea typeface="Arial"/>
                <a:cs typeface="Arial"/>
              </a:rPr>
              <a:t>Thank you</a:t>
            </a:r>
            <a:endParaRPr sz="4600"/>
          </a:p>
        </p:txBody>
      </p:sp>
      <p:sp>
        <p:nvSpPr>
          <p:cNvPr id="28" name="Text 25">
            <a:extLst>
              <a:ext uri="{FF2B5EF4-FFF2-40B4-BE49-F238E27FC236}">
                <a16:creationId xmlns:a16="http://schemas.microsoft.com/office/drawing/2014/main" id="{60971165-F14C-4C74-8CDC-CB97CF3B0F8A}"/>
              </a:ext>
            </a:extLst>
          </p:cNvPr>
          <p:cNvSpPr>
            <a:spLocks noGrp="1"/>
          </p:cNvSpPr>
          <p:nvPr/>
        </p:nvSpPr>
        <p:spPr>
          <a:xfrm>
            <a:off x="777240" y="5897880"/>
            <a:ext cx="10607040" cy="292608"/>
          </a:xfrm>
          <a:prstGeom prst="rect">
            <a:avLst/>
          </a:prstGeom>
          <a:noFill/>
        </p:spPr>
        <p:txBody>
          <a:bodyPr wrap="square" lIns="0" tIns="0" rIns="0" bIns="0" anchor="ctr"/>
          <a:lstStyle/>
          <a:p>
            <a:pPr marL="0" indent="0">
              <a:buNone/>
            </a:pPr>
            <a:r>
              <a:rPr sz="1100">
                <a:solidFill>
                  <a:srgbClr val="63637E"/>
                </a:solidFill>
                <a:latin typeface="Calibri"/>
                <a:ea typeface="Calibri"/>
                <a:cs typeface="Calibri"/>
              </a:rPr>
              <a:t>Organised by the Language AI Team and the PRISM Team, Samsung R&amp;D Institute India</a:t>
            </a:r>
            <a:endParaRPr sz="1100"/>
          </a:p>
        </p:txBody>
      </p:sp>
      <p:sp>
        <p:nvSpPr>
          <p:cNvPr id="29" name="thanks-project">
            <a:extLst>
              <a:ext uri="{FF2B5EF4-FFF2-40B4-BE49-F238E27FC236}">
                <a16:creationId xmlns:a16="http://schemas.microsoft.com/office/drawing/2014/main" id="{5B2B2364-D679-48AB-A71C-B5F210B9C0B7}"/>
              </a:ext>
            </a:extLst>
          </p:cNvPr>
          <p:cNvSpPr>
            <a:spLocks noGrp="1"/>
          </p:cNvSpPr>
          <p:nvPr/>
        </p:nvSpPr>
        <p:spPr>
          <a:xfrm>
            <a:off x="1047750" y="1952625"/>
            <a:ext cx="7620000" cy="514350"/>
          </a:xfrm>
          <a:prstGeom prst="rect">
            <a:avLst/>
          </a:prstGeom>
          <a:noFill/>
          <a:ln w="0">
            <a:noFill/>
          </a:ln>
        </p:spPr>
        <p:txBody>
          <a:bodyPr anchor="ctr">
            <a:normAutofit/>
          </a:bodyPr>
          <a:lstStyle/>
          <a:p>
            <a:pPr algn="l">
              <a:defRPr sz="2250" b="1">
                <a:solidFill>
                  <a:srgbClr val="6D3FC3"/>
                </a:solidFill>
                <a:latin typeface="Calibri"/>
                <a:ea typeface="Calibri"/>
                <a:cs typeface="Calibri"/>
              </a:defRPr>
            </a:pPr>
            <a:r>
              <a:rPr sz="2250" b="1">
                <a:solidFill>
                  <a:srgbClr val="6D3FC3"/>
                </a:solidFill>
                <a:latin typeface="Calibri"/>
                <a:ea typeface="Calibri"/>
                <a:cs typeface="Calibri"/>
              </a:rPr>
              <a:t>Smart Guided Troubleshooting Engine</a:t>
            </a:r>
          </a:p>
        </p:txBody>
      </p:sp>
      <p:sp>
        <p:nvSpPr>
          <p:cNvPr id="30" name="thanks-team">
            <a:extLst>
              <a:ext uri="{FF2B5EF4-FFF2-40B4-BE49-F238E27FC236}">
                <a16:creationId xmlns:a16="http://schemas.microsoft.com/office/drawing/2014/main" id="{78DB4D6F-D170-4D30-A495-9320A01FB656}"/>
              </a:ext>
            </a:extLst>
          </p:cNvPr>
          <p:cNvSpPr>
            <a:spLocks noGrp="1"/>
          </p:cNvSpPr>
          <p:nvPr/>
        </p:nvSpPr>
        <p:spPr>
          <a:xfrm>
            <a:off x="1047750" y="2590800"/>
            <a:ext cx="8191500" cy="876300"/>
          </a:xfrm>
          <a:prstGeom prst="rect">
            <a:avLst/>
          </a:prstGeom>
          <a:noFill/>
          <a:ln w="0">
            <a:noFill/>
          </a:ln>
        </p:spPr>
        <p:txBody>
          <a:bodyPr anchor="ctr">
            <a:normAutofit/>
          </a:bodyPr>
          <a:lstStyle/>
          <a:p>
            <a:pPr algn="l">
              <a:defRPr sz="1500" b="0">
                <a:solidFill>
                  <a:srgbClr val="3B354B"/>
                </a:solidFill>
                <a:latin typeface="Calibri"/>
                <a:ea typeface="Calibri"/>
                <a:cs typeface="Calibri"/>
              </a:defRPr>
            </a:pPr>
            <a:r>
              <a:rPr sz="1500" b="0">
                <a:solidFill>
                  <a:srgbClr val="3B354B"/>
                </a:solidFill>
                <a:latin typeface="Calibri"/>
                <a:ea typeface="Calibri"/>
                <a:cs typeface="Calibri"/>
              </a:rPr>
              <a:t>Arpit Rath · arpitrath00@gmail.com</a:t>
            </a:r>
          </a:p>
          <a:p>
            <a:pPr algn="l">
              <a:defRPr sz="1500" b="0">
                <a:solidFill>
                  <a:srgbClr val="3B354B"/>
                </a:solidFill>
                <a:latin typeface="Calibri"/>
                <a:ea typeface="Calibri"/>
                <a:cs typeface="Calibri"/>
              </a:defRPr>
            </a:pPr>
            <a:r>
              <a:rPr sz="1500" b="0">
                <a:solidFill>
                  <a:srgbClr val="3B354B"/>
                </a:solidFill>
                <a:latin typeface="Calibri"/>
                <a:ea typeface="Calibri"/>
                <a:cs typeface="Calibri"/>
              </a:rPr>
              <a:t>Dhanush Poduval · dhanushpoduval@gmail.com</a:t>
            </a:r>
          </a:p>
        </p:txBody>
      </p:sp>
      <p:sp>
        <p:nvSpPr>
          <p:cNvPr id="31" name="thanks-repo">
            <a:extLst>
              <a:ext uri="{FF2B5EF4-FFF2-40B4-BE49-F238E27FC236}">
                <a16:creationId xmlns:a16="http://schemas.microsoft.com/office/drawing/2014/main" id="{E1C6525F-3EA5-4328-AC21-6DA13CEA7890}"/>
              </a:ext>
            </a:extLst>
          </p:cNvPr>
          <p:cNvSpPr>
            <a:spLocks noGrp="1"/>
          </p:cNvSpPr>
          <p:nvPr/>
        </p:nvSpPr>
        <p:spPr>
          <a:xfrm>
            <a:off x="1047750" y="4762500"/>
            <a:ext cx="9334500" cy="361950"/>
          </a:xfrm>
          <a:prstGeom prst="rect">
            <a:avLst/>
          </a:prstGeom>
          <a:noFill/>
          <a:ln w="0">
            <a:noFill/>
          </a:ln>
        </p:spPr>
        <p:txBody>
          <a:bodyPr anchor="ctr">
            <a:normAutofit/>
          </a:bodyPr>
          <a:lstStyle/>
          <a:p>
            <a:pPr algn="l">
              <a:defRPr sz="1275" b="0">
                <a:solidFill>
                  <a:srgbClr val="5C3CB1"/>
                </a:solidFill>
                <a:latin typeface="Calibri"/>
                <a:ea typeface="Calibri"/>
                <a:cs typeface="Calibri"/>
              </a:defRPr>
            </a:pPr>
            <a:r>
              <a:rPr sz="1275" b="0">
                <a:solidFill>
                  <a:srgbClr val="5C3CB1"/>
                </a:solidFill>
                <a:latin typeface="Calibri"/>
                <a:ea typeface="Calibri"/>
                <a:cs typeface="Calibri"/>
              </a:rPr>
              <a:t>github.com/Dhanush-Poduval/Guarded_Troubleshooting</a:t>
            </a:r>
          </a:p>
        </p:txBody>
      </p:sp>
      <p:sp>
        <p:nvSpPr>
          <p:cNvPr id="32" name="Rounded Rectangle 31"/>
          <p:cNvSpPr/>
          <p:nvPr/>
        </p:nvSpPr>
        <p:spPr>
          <a:xfrm>
            <a:off x="6903720" y="1956816"/>
            <a:ext cx="4443984" cy="3154680"/>
          </a:xfrm>
          <a:prstGeom prst="roundRect">
            <a:avLst>
              <a:gd name="adj" fmla="val 10000"/>
            </a:avLst>
          </a:prstGeom>
          <a:solidFill>
            <a:srgbClr val="F6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14616" y="2231136"/>
            <a:ext cx="3822192" cy="219456"/>
          </a:xfrm>
          <a:prstGeom prst="rect">
            <a:avLst/>
          </a:prstGeom>
          <a:noFill/>
        </p:spPr>
        <p:txBody>
          <a:bodyPr wrap="square" lIns="0" tIns="0" rIns="0" bIns="0" anchor="t">
            <a:spAutoFit/>
          </a:bodyPr>
          <a:lstStyle/>
          <a:p>
            <a:pPr algn="l">
              <a:spcBef>
                <a:spcPts val="0"/>
              </a:spcBef>
              <a:spcAft>
                <a:spcPts val="0"/>
              </a:spcAft>
            </a:pPr>
            <a:r>
              <a:rPr sz="900" b="1" i="0">
                <a:solidFill>
                  <a:srgbClr val="704EA6"/>
                </a:solidFill>
                <a:latin typeface="Calibri"/>
              </a:rPr>
              <a:t>AT A GLANCE</a:t>
            </a:r>
          </a:p>
        </p:txBody>
      </p:sp>
      <p:sp>
        <p:nvSpPr>
          <p:cNvPr id="34" name="TextBox 33"/>
          <p:cNvSpPr txBox="1"/>
          <p:nvPr/>
        </p:nvSpPr>
        <p:spPr>
          <a:xfrm>
            <a:off x="7214616" y="2578608"/>
            <a:ext cx="3822192" cy="219456"/>
          </a:xfrm>
          <a:prstGeom prst="rect">
            <a:avLst/>
          </a:prstGeom>
          <a:noFill/>
        </p:spPr>
        <p:txBody>
          <a:bodyPr wrap="square" lIns="0" tIns="0" rIns="0" bIns="0" anchor="t">
            <a:spAutoFit/>
          </a:bodyPr>
          <a:lstStyle/>
          <a:p>
            <a:pPr algn="l">
              <a:spcBef>
                <a:spcPts val="0"/>
              </a:spcBef>
              <a:spcAft>
                <a:spcPts val="0"/>
              </a:spcAft>
            </a:pPr>
            <a:r>
              <a:rPr sz="1250" b="1" i="0">
                <a:solidFill>
                  <a:srgbClr val="14142B"/>
                </a:solidFill>
                <a:latin typeface="Calibri"/>
              </a:rPr>
              <a:t>Theme 2</a:t>
            </a:r>
          </a:p>
        </p:txBody>
      </p:sp>
      <p:sp>
        <p:nvSpPr>
          <p:cNvPr id="35" name="TextBox 34"/>
          <p:cNvSpPr txBox="1"/>
          <p:nvPr/>
        </p:nvSpPr>
        <p:spPr>
          <a:xfrm>
            <a:off x="7214616" y="2798064"/>
            <a:ext cx="3822192" cy="292608"/>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Smart Guided Troubleshooting Engine</a:t>
            </a:r>
          </a:p>
        </p:txBody>
      </p:sp>
      <p:sp>
        <p:nvSpPr>
          <p:cNvPr id="36" name="TextBox 35"/>
          <p:cNvSpPr txBox="1"/>
          <p:nvPr/>
        </p:nvSpPr>
        <p:spPr>
          <a:xfrm>
            <a:off x="7214616" y="3090672"/>
            <a:ext cx="3822192" cy="219456"/>
          </a:xfrm>
          <a:prstGeom prst="rect">
            <a:avLst/>
          </a:prstGeom>
          <a:noFill/>
        </p:spPr>
        <p:txBody>
          <a:bodyPr wrap="square" lIns="0" tIns="0" rIns="0" bIns="0" anchor="t">
            <a:spAutoFit/>
          </a:bodyPr>
          <a:lstStyle/>
          <a:p>
            <a:pPr algn="l">
              <a:spcBef>
                <a:spcPts val="0"/>
              </a:spcBef>
              <a:spcAft>
                <a:spcPts val="0"/>
              </a:spcAft>
            </a:pPr>
            <a:r>
              <a:rPr sz="1250" b="1" i="0">
                <a:solidFill>
                  <a:srgbClr val="14142B"/>
                </a:solidFill>
                <a:latin typeface="Calibri"/>
              </a:rPr>
              <a:t>578 · 20</a:t>
            </a:r>
          </a:p>
        </p:txBody>
      </p:sp>
      <p:sp>
        <p:nvSpPr>
          <p:cNvPr id="37" name="TextBox 36"/>
          <p:cNvSpPr txBox="1"/>
          <p:nvPr/>
        </p:nvSpPr>
        <p:spPr>
          <a:xfrm>
            <a:off x="7214616" y="3310128"/>
            <a:ext cx="3822192" cy="292608"/>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Catalog deeplinks and official complaints</a:t>
            </a:r>
          </a:p>
        </p:txBody>
      </p:sp>
      <p:sp>
        <p:nvSpPr>
          <p:cNvPr id="38" name="TextBox 37"/>
          <p:cNvSpPr txBox="1"/>
          <p:nvPr/>
        </p:nvSpPr>
        <p:spPr>
          <a:xfrm>
            <a:off x="7214616" y="3602736"/>
            <a:ext cx="3822192" cy="219456"/>
          </a:xfrm>
          <a:prstGeom prst="rect">
            <a:avLst/>
          </a:prstGeom>
          <a:noFill/>
        </p:spPr>
        <p:txBody>
          <a:bodyPr wrap="square" lIns="0" tIns="0" rIns="0" bIns="0" anchor="t">
            <a:spAutoFit/>
          </a:bodyPr>
          <a:lstStyle/>
          <a:p>
            <a:pPr algn="l">
              <a:spcBef>
                <a:spcPts val="0"/>
              </a:spcBef>
              <a:spcAft>
                <a:spcPts val="0"/>
              </a:spcAft>
            </a:pPr>
            <a:r>
              <a:rPr sz="1250" b="1" i="0">
                <a:solidFill>
                  <a:srgbClr val="14142B"/>
                </a:solidFill>
                <a:latin typeface="Calibri"/>
              </a:rPr>
              <a:t>0.78 + 0.05</a:t>
            </a:r>
          </a:p>
        </p:txBody>
      </p:sp>
      <p:sp>
        <p:nvSpPr>
          <p:cNvPr id="39" name="TextBox 38"/>
          <p:cNvSpPr txBox="1"/>
          <p:nvPr/>
        </p:nvSpPr>
        <p:spPr>
          <a:xfrm>
            <a:off x="7214616" y="3822192"/>
            <a:ext cx="3822192" cy="292608"/>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Similarity floor and runner-up margin</a:t>
            </a:r>
          </a:p>
        </p:txBody>
      </p:sp>
      <p:sp>
        <p:nvSpPr>
          <p:cNvPr id="40" name="TextBox 39"/>
          <p:cNvSpPr txBox="1"/>
          <p:nvPr/>
        </p:nvSpPr>
        <p:spPr>
          <a:xfrm>
            <a:off x="7214616" y="4114800"/>
            <a:ext cx="3822192" cy="219456"/>
          </a:xfrm>
          <a:prstGeom prst="rect">
            <a:avLst/>
          </a:prstGeom>
          <a:noFill/>
        </p:spPr>
        <p:txBody>
          <a:bodyPr wrap="square" lIns="0" tIns="0" rIns="0" bIns="0" anchor="t">
            <a:spAutoFit/>
          </a:bodyPr>
          <a:lstStyle/>
          <a:p>
            <a:pPr algn="l">
              <a:spcBef>
                <a:spcPts val="0"/>
              </a:spcBef>
              <a:spcAft>
                <a:spcPts val="0"/>
              </a:spcAft>
            </a:pPr>
            <a:r>
              <a:rPr sz="1250" b="1" i="0">
                <a:solidFill>
                  <a:srgbClr val="14142B"/>
                </a:solidFill>
                <a:latin typeface="Calibri"/>
              </a:rPr>
              <a:t>136</a:t>
            </a:r>
          </a:p>
        </p:txBody>
      </p:sp>
      <p:sp>
        <p:nvSpPr>
          <p:cNvPr id="41" name="TextBox 40"/>
          <p:cNvSpPr txBox="1"/>
          <p:nvPr/>
        </p:nvSpPr>
        <p:spPr>
          <a:xfrm>
            <a:off x="7214616" y="4334256"/>
            <a:ext cx="3822192" cy="292608"/>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Automated tests across the service</a:t>
            </a:r>
          </a:p>
        </p:txBody>
      </p:sp>
      <p:sp>
        <p:nvSpPr>
          <p:cNvPr id="42" name="TextBox 41"/>
          <p:cNvSpPr txBox="1"/>
          <p:nvPr/>
        </p:nvSpPr>
        <p:spPr>
          <a:xfrm>
            <a:off x="7214616" y="4626864"/>
            <a:ext cx="3822192" cy="192360"/>
          </a:xfrm>
          <a:prstGeom prst="rect">
            <a:avLst/>
          </a:prstGeom>
          <a:noFill/>
        </p:spPr>
        <p:txBody>
          <a:bodyPr wrap="square" lIns="0" tIns="0" rIns="0" bIns="0" anchor="t">
            <a:spAutoFit/>
          </a:bodyPr>
          <a:lstStyle/>
          <a:p>
            <a:pPr algn="l">
              <a:spcBef>
                <a:spcPts val="0"/>
              </a:spcBef>
              <a:spcAft>
                <a:spcPts val="0"/>
              </a:spcAft>
            </a:pPr>
            <a:r>
              <a:rPr lang="en-US" sz="1250" b="1" i="0" dirty="0">
                <a:solidFill>
                  <a:srgbClr val="14142B"/>
                </a:solidFill>
                <a:latin typeface="Calibri"/>
              </a:rPr>
              <a:t>₹</a:t>
            </a:r>
            <a:r>
              <a:rPr sz="1250" b="1" i="0" dirty="0">
                <a:solidFill>
                  <a:srgbClr val="14142B"/>
                </a:solidFill>
                <a:latin typeface="Calibri"/>
              </a:rPr>
              <a:t>0.00</a:t>
            </a:r>
          </a:p>
        </p:txBody>
      </p:sp>
      <p:sp>
        <p:nvSpPr>
          <p:cNvPr id="43" name="TextBox 42"/>
          <p:cNvSpPr txBox="1"/>
          <p:nvPr/>
        </p:nvSpPr>
        <p:spPr>
          <a:xfrm>
            <a:off x="7214616" y="4846320"/>
            <a:ext cx="3822192" cy="292608"/>
          </a:xfrm>
          <a:prstGeom prst="rect">
            <a:avLst/>
          </a:prstGeom>
          <a:noFill/>
        </p:spPr>
        <p:txBody>
          <a:bodyPr wrap="square" lIns="0" tIns="0" rIns="0" bIns="0" anchor="t">
            <a:spAutoFit/>
          </a:bodyPr>
          <a:lstStyle/>
          <a:p>
            <a:pPr algn="l">
              <a:spcBef>
                <a:spcPts val="0"/>
              </a:spcBef>
              <a:spcAft>
                <a:spcPts val="0"/>
              </a:spcAft>
            </a:pPr>
            <a:r>
              <a:rPr sz="950" b="0" i="0">
                <a:solidFill>
                  <a:srgbClr val="63637E"/>
                </a:solidFill>
                <a:latin typeface="Calibri"/>
              </a:rPr>
              <a:t>A cache hit calls no model, and is re-validated on read</a:t>
            </a:r>
          </a:p>
        </p:txBody>
      </p:sp>
    </p:spTree>
    <p:extLst>
      <p:ext uri="{BB962C8B-B14F-4D97-AF65-F5344CB8AC3E}">
        <p14:creationId xmlns:p14="http://schemas.microsoft.com/office/powerpoint/2010/main" val="11011098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2890</Words>
  <Application>Microsoft Office PowerPoint</Application>
  <DocSecurity>0</DocSecurity>
  <PresentationFormat>Widescreen</PresentationFormat>
  <Paragraphs>290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 2 - Smart Guided Troubleshooting Engine</vt:lpstr>
      <vt:lpstr>Existing Solutions &amp; Gaps</vt:lpstr>
      <vt:lpstr>Our Solution &amp; Architecture</vt:lpstr>
      <vt:lpstr>Demo &amp; Product Walkthrough</vt:lpstr>
      <vt:lpstr>Tools and Tech Stack Used</vt:lpstr>
      <vt:lpstr>Impact &amp; Use Case</vt:lpstr>
      <vt:lpstr>Innovation, Results &amp; Limitations</vt:lpstr>
      <vt:lpstr>What’s Next</vt:lpstr>
      <vt:lpstr>Concrete Differentiators</vt:lpstr>
      <vt:lpstr>Checklist —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Arpit Rath</cp:lastModifiedBy>
  <cp:revision>3</cp:revision>
  <dcterms:created xsi:type="dcterms:W3CDTF">2026-09-30T15:06:57Z</dcterms:created>
  <dcterms:modified xsi:type="dcterms:W3CDTF">2026-09-30T17:25:04Z</dcterms:modified>
</cp:coreProperties>
</file>